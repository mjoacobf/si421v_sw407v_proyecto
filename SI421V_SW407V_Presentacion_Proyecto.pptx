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6" r:id="rId2"/>
    <p:sldId id="313" r:id="rId3"/>
    <p:sldId id="314"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266" r:id="rId2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3737"/>
    <a:srgbClr val="D038B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notesViewPr>
    <p:cSldViewPr snapToGrid="0">
      <p:cViewPr varScale="1">
        <p:scale>
          <a:sx n="86" d="100"/>
          <a:sy n="86" d="100"/>
        </p:scale>
        <p:origin x="301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quín B" userId="3faa7ee38a323782" providerId="LiveId" clId="{0194D097-A0ED-4CEF-B4A7-561526D244B4}"/>
    <pc:docChg chg="undo custSel addSld delSld modSld">
      <pc:chgData name="Joaquín B" userId="3faa7ee38a323782" providerId="LiveId" clId="{0194D097-A0ED-4CEF-B4A7-561526D244B4}" dt="2026-09-28T19:13:22.655" v="1770" actId="20577"/>
      <pc:docMkLst>
        <pc:docMk/>
      </pc:docMkLst>
      <pc:sldChg chg="modSp mod">
        <pc:chgData name="Joaquín B" userId="3faa7ee38a323782" providerId="LiveId" clId="{0194D097-A0ED-4CEF-B4A7-561526D244B4}" dt="2026-09-27T01:34:23.292" v="421" actId="20577"/>
        <pc:sldMkLst>
          <pc:docMk/>
          <pc:sldMk cId="0" sldId="256"/>
        </pc:sldMkLst>
        <pc:spChg chg="mod">
          <ac:chgData name="Joaquín B" userId="3faa7ee38a323782" providerId="LiveId" clId="{0194D097-A0ED-4CEF-B4A7-561526D244B4}" dt="2026-09-27T01:32:46.979" v="63" actId="20577"/>
          <ac:spMkLst>
            <pc:docMk/>
            <pc:sldMk cId="0" sldId="256"/>
            <ac:spMk id="2" creationId="{00000000-0000-0000-0000-000000000000}"/>
          </ac:spMkLst>
        </pc:spChg>
        <pc:spChg chg="mod">
          <ac:chgData name="Joaquín B" userId="3faa7ee38a323782" providerId="LiveId" clId="{0194D097-A0ED-4CEF-B4A7-561526D244B4}" dt="2026-09-27T01:34:23.292" v="421" actId="20577"/>
          <ac:spMkLst>
            <pc:docMk/>
            <pc:sldMk cId="0" sldId="256"/>
            <ac:spMk id="8" creationId="{00000000-0000-0000-0000-000000000000}"/>
          </ac:spMkLst>
        </pc:spChg>
      </pc:sldChg>
      <pc:sldChg chg="modSp mod">
        <pc:chgData name="Joaquín B" userId="3faa7ee38a323782" providerId="LiveId" clId="{0194D097-A0ED-4CEF-B4A7-561526D244B4}" dt="2026-09-27T02:23:15.647" v="428" actId="114"/>
        <pc:sldMkLst>
          <pc:docMk/>
          <pc:sldMk cId="0" sldId="257"/>
        </pc:sldMkLst>
        <pc:spChg chg="mod">
          <ac:chgData name="Joaquín B" userId="3faa7ee38a323782" providerId="LiveId" clId="{0194D097-A0ED-4CEF-B4A7-561526D244B4}" dt="2026-09-27T02:23:15.647" v="428" actId="114"/>
          <ac:spMkLst>
            <pc:docMk/>
            <pc:sldMk cId="0" sldId="257"/>
            <ac:spMk id="3" creationId="{00000000-0000-0000-0000-000000000000}"/>
          </ac:spMkLst>
        </pc:spChg>
        <pc:picChg chg="mod">
          <ac:chgData name="Joaquín B" userId="3faa7ee38a323782" providerId="LiveId" clId="{0194D097-A0ED-4CEF-B4A7-561526D244B4}" dt="2026-09-27T02:23:07.030" v="425" actId="14100"/>
          <ac:picMkLst>
            <pc:docMk/>
            <pc:sldMk cId="0" sldId="257"/>
            <ac:picMk id="1026" creationId="{E0269930-D2D2-A3E4-48C7-2376C3A4FABA}"/>
          </ac:picMkLst>
        </pc:picChg>
      </pc:sldChg>
      <pc:sldChg chg="modSp mod">
        <pc:chgData name="Joaquín B" userId="3faa7ee38a323782" providerId="LiveId" clId="{0194D097-A0ED-4CEF-B4A7-561526D244B4}" dt="2026-09-27T02:24:32.616" v="468" actId="20577"/>
        <pc:sldMkLst>
          <pc:docMk/>
          <pc:sldMk cId="0" sldId="258"/>
        </pc:sldMkLst>
        <pc:spChg chg="mod">
          <ac:chgData name="Joaquín B" userId="3faa7ee38a323782" providerId="LiveId" clId="{0194D097-A0ED-4CEF-B4A7-561526D244B4}" dt="2026-09-27T02:24:04.156" v="461" actId="20577"/>
          <ac:spMkLst>
            <pc:docMk/>
            <pc:sldMk cId="0" sldId="258"/>
            <ac:spMk id="2" creationId="{00000000-0000-0000-0000-000000000000}"/>
          </ac:spMkLst>
        </pc:spChg>
        <pc:spChg chg="mod">
          <ac:chgData name="Joaquín B" userId="3faa7ee38a323782" providerId="LiveId" clId="{0194D097-A0ED-4CEF-B4A7-561526D244B4}" dt="2026-09-27T02:24:32.616" v="468" actId="20577"/>
          <ac:spMkLst>
            <pc:docMk/>
            <pc:sldMk cId="0" sldId="258"/>
            <ac:spMk id="3" creationId="{00000000-0000-0000-0000-000000000000}"/>
          </ac:spMkLst>
        </pc:spChg>
      </pc:sldChg>
      <pc:sldChg chg="delSp modSp mod">
        <pc:chgData name="Joaquín B" userId="3faa7ee38a323782" providerId="LiveId" clId="{0194D097-A0ED-4CEF-B4A7-561526D244B4}" dt="2026-09-27T02:27:18.010" v="633" actId="113"/>
        <pc:sldMkLst>
          <pc:docMk/>
          <pc:sldMk cId="0" sldId="259"/>
        </pc:sldMkLst>
        <pc:spChg chg="mod">
          <ac:chgData name="Joaquín B" userId="3faa7ee38a323782" providerId="LiveId" clId="{0194D097-A0ED-4CEF-B4A7-561526D244B4}" dt="2026-09-27T02:24:44.863" v="469"/>
          <ac:spMkLst>
            <pc:docMk/>
            <pc:sldMk cId="0" sldId="259"/>
            <ac:spMk id="2" creationId="{00000000-0000-0000-0000-000000000000}"/>
          </ac:spMkLst>
        </pc:spChg>
        <pc:spChg chg="mod">
          <ac:chgData name="Joaquín B" userId="3faa7ee38a323782" providerId="LiveId" clId="{0194D097-A0ED-4CEF-B4A7-561526D244B4}" dt="2026-09-27T02:27:18.010" v="633" actId="113"/>
          <ac:spMkLst>
            <pc:docMk/>
            <pc:sldMk cId="0" sldId="259"/>
            <ac:spMk id="3" creationId="{00000000-0000-0000-0000-000000000000}"/>
          </ac:spMkLst>
        </pc:spChg>
        <pc:picChg chg="del">
          <ac:chgData name="Joaquín B" userId="3faa7ee38a323782" providerId="LiveId" clId="{0194D097-A0ED-4CEF-B4A7-561526D244B4}" dt="2026-09-27T02:26:47.347" v="628" actId="478"/>
          <ac:picMkLst>
            <pc:docMk/>
            <pc:sldMk cId="0" sldId="259"/>
            <ac:picMk id="2050" creationId="{0B11130E-FCAE-0924-1058-2E3B1E6738F4}"/>
          </ac:picMkLst>
        </pc:picChg>
      </pc:sldChg>
      <pc:sldChg chg="del">
        <pc:chgData name="Joaquín B" userId="3faa7ee38a323782" providerId="LiveId" clId="{0194D097-A0ED-4CEF-B4A7-561526D244B4}" dt="2026-09-27T13:09:00.092" v="804" actId="47"/>
        <pc:sldMkLst>
          <pc:docMk/>
          <pc:sldMk cId="0" sldId="260"/>
        </pc:sldMkLst>
      </pc:sldChg>
      <pc:sldChg chg="modSp mod">
        <pc:chgData name="Joaquín B" userId="3faa7ee38a323782" providerId="LiveId" clId="{0194D097-A0ED-4CEF-B4A7-561526D244B4}" dt="2026-09-27T17:08:48.762" v="1256" actId="20577"/>
        <pc:sldMkLst>
          <pc:docMk/>
          <pc:sldMk cId="0" sldId="267"/>
        </pc:sldMkLst>
        <pc:spChg chg="mod">
          <ac:chgData name="Joaquín B" userId="3faa7ee38a323782" providerId="LiveId" clId="{0194D097-A0ED-4CEF-B4A7-561526D244B4}" dt="2026-09-27T17:08:48.762" v="1256" actId="20577"/>
          <ac:spMkLst>
            <pc:docMk/>
            <pc:sldMk cId="0" sldId="267"/>
            <ac:spMk id="3" creationId="{00000000-0000-0000-0000-000000000000}"/>
          </ac:spMkLst>
        </pc:spChg>
      </pc:sldChg>
      <pc:sldChg chg="del">
        <pc:chgData name="Joaquín B" userId="3faa7ee38a323782" providerId="LiveId" clId="{0194D097-A0ED-4CEF-B4A7-561526D244B4}" dt="2026-09-27T13:09:00.774" v="805" actId="47"/>
        <pc:sldMkLst>
          <pc:docMk/>
          <pc:sldMk cId="0" sldId="268"/>
        </pc:sldMkLst>
      </pc:sldChg>
      <pc:sldChg chg="del">
        <pc:chgData name="Joaquín B" userId="3faa7ee38a323782" providerId="LiveId" clId="{0194D097-A0ED-4CEF-B4A7-561526D244B4}" dt="2026-09-27T17:07:59.723" v="1173" actId="47"/>
        <pc:sldMkLst>
          <pc:docMk/>
          <pc:sldMk cId="0" sldId="269"/>
        </pc:sldMkLst>
      </pc:sldChg>
      <pc:sldChg chg="del">
        <pc:chgData name="Joaquín B" userId="3faa7ee38a323782" providerId="LiveId" clId="{0194D097-A0ED-4CEF-B4A7-561526D244B4}" dt="2026-09-27T17:08:01.288" v="1175" actId="47"/>
        <pc:sldMkLst>
          <pc:docMk/>
          <pc:sldMk cId="0" sldId="270"/>
        </pc:sldMkLst>
      </pc:sldChg>
      <pc:sldChg chg="del">
        <pc:chgData name="Joaquín B" userId="3faa7ee38a323782" providerId="LiveId" clId="{0194D097-A0ED-4CEF-B4A7-561526D244B4}" dt="2026-09-27T17:08:04.416" v="1177" actId="47"/>
        <pc:sldMkLst>
          <pc:docMk/>
          <pc:sldMk cId="0" sldId="271"/>
        </pc:sldMkLst>
      </pc:sldChg>
      <pc:sldChg chg="del">
        <pc:chgData name="Joaquín B" userId="3faa7ee38a323782" providerId="LiveId" clId="{0194D097-A0ED-4CEF-B4A7-561526D244B4}" dt="2026-09-27T17:08:05.973" v="1178" actId="47"/>
        <pc:sldMkLst>
          <pc:docMk/>
          <pc:sldMk cId="2814681328" sldId="272"/>
        </pc:sldMkLst>
      </pc:sldChg>
      <pc:sldChg chg="del">
        <pc:chgData name="Joaquín B" userId="3faa7ee38a323782" providerId="LiveId" clId="{0194D097-A0ED-4CEF-B4A7-561526D244B4}" dt="2026-09-27T17:08:06.579" v="1179" actId="47"/>
        <pc:sldMkLst>
          <pc:docMk/>
          <pc:sldMk cId="346006454" sldId="273"/>
        </pc:sldMkLst>
      </pc:sldChg>
      <pc:sldChg chg="del">
        <pc:chgData name="Joaquín B" userId="3faa7ee38a323782" providerId="LiveId" clId="{0194D097-A0ED-4CEF-B4A7-561526D244B4}" dt="2026-09-27T17:08:07.089" v="1180" actId="47"/>
        <pc:sldMkLst>
          <pc:docMk/>
          <pc:sldMk cId="2056901514" sldId="274"/>
        </pc:sldMkLst>
      </pc:sldChg>
      <pc:sldChg chg="del">
        <pc:chgData name="Joaquín B" userId="3faa7ee38a323782" providerId="LiveId" clId="{0194D097-A0ED-4CEF-B4A7-561526D244B4}" dt="2026-09-27T17:08:07.546" v="1181" actId="47"/>
        <pc:sldMkLst>
          <pc:docMk/>
          <pc:sldMk cId="3578228832" sldId="275"/>
        </pc:sldMkLst>
      </pc:sldChg>
      <pc:sldChg chg="modSp mod">
        <pc:chgData name="Joaquín B" userId="3faa7ee38a323782" providerId="LiveId" clId="{0194D097-A0ED-4CEF-B4A7-561526D244B4}" dt="2026-09-28T19:13:22.655" v="1770" actId="20577"/>
        <pc:sldMkLst>
          <pc:docMk/>
          <pc:sldMk cId="2034432285" sldId="276"/>
        </pc:sldMkLst>
        <pc:spChg chg="mod">
          <ac:chgData name="Joaquín B" userId="3faa7ee38a323782" providerId="LiveId" clId="{0194D097-A0ED-4CEF-B4A7-561526D244B4}" dt="2026-09-28T19:13:22.655" v="1770" actId="20577"/>
          <ac:spMkLst>
            <pc:docMk/>
            <pc:sldMk cId="2034432285" sldId="276"/>
            <ac:spMk id="3" creationId="{A18EEA2A-93AE-C6AE-F316-D290D98A68F6}"/>
          </ac:spMkLst>
        </pc:spChg>
      </pc:sldChg>
      <pc:sldChg chg="del">
        <pc:chgData name="Joaquín B" userId="3faa7ee38a323782" providerId="LiveId" clId="{0194D097-A0ED-4CEF-B4A7-561526D244B4}" dt="2026-09-27T02:23:36.226" v="429" actId="47"/>
        <pc:sldMkLst>
          <pc:docMk/>
          <pc:sldMk cId="2481288365" sldId="277"/>
        </pc:sldMkLst>
      </pc:sldChg>
      <pc:sldChg chg="del">
        <pc:chgData name="Joaquín B" userId="3faa7ee38a323782" providerId="LiveId" clId="{0194D097-A0ED-4CEF-B4A7-561526D244B4}" dt="2026-09-27T02:23:36.682" v="430" actId="47"/>
        <pc:sldMkLst>
          <pc:docMk/>
          <pc:sldMk cId="3755049064" sldId="278"/>
        </pc:sldMkLst>
      </pc:sldChg>
      <pc:sldChg chg="modSp mod">
        <pc:chgData name="Joaquín B" userId="3faa7ee38a323782" providerId="LiveId" clId="{0194D097-A0ED-4CEF-B4A7-561526D244B4}" dt="2026-09-27T17:04:25.058" v="1149" actId="14100"/>
        <pc:sldMkLst>
          <pc:docMk/>
          <pc:sldMk cId="1190859901" sldId="279"/>
        </pc:sldMkLst>
        <pc:spChg chg="mod">
          <ac:chgData name="Joaquín B" userId="3faa7ee38a323782" providerId="LiveId" clId="{0194D097-A0ED-4CEF-B4A7-561526D244B4}" dt="2026-09-27T17:04:09.659" v="1148" actId="14100"/>
          <ac:spMkLst>
            <pc:docMk/>
            <pc:sldMk cId="1190859901" sldId="279"/>
            <ac:spMk id="2" creationId="{DB76804D-038C-4BE3-BE71-46B037AFB1B1}"/>
          </ac:spMkLst>
        </pc:spChg>
        <pc:spChg chg="mod">
          <ac:chgData name="Joaquín B" userId="3faa7ee38a323782" providerId="LiveId" clId="{0194D097-A0ED-4CEF-B4A7-561526D244B4}" dt="2026-09-27T17:02:48.027" v="1141" actId="20577"/>
          <ac:spMkLst>
            <pc:docMk/>
            <pc:sldMk cId="1190859901" sldId="279"/>
            <ac:spMk id="3" creationId="{9504CEBD-AA79-B2EC-1D0D-F5EA8C617C02}"/>
          </ac:spMkLst>
        </pc:spChg>
        <pc:spChg chg="mod">
          <ac:chgData name="Joaquín B" userId="3faa7ee38a323782" providerId="LiveId" clId="{0194D097-A0ED-4CEF-B4A7-561526D244B4}" dt="2026-09-27T17:04:25.058" v="1149" actId="14100"/>
          <ac:spMkLst>
            <pc:docMk/>
            <pc:sldMk cId="1190859901" sldId="279"/>
            <ac:spMk id="6" creationId="{358F8E9F-FB8E-4CC7-B400-25E048014DF2}"/>
          </ac:spMkLst>
        </pc:spChg>
      </pc:sldChg>
      <pc:sldChg chg="del">
        <pc:chgData name="Joaquín B" userId="3faa7ee38a323782" providerId="LiveId" clId="{0194D097-A0ED-4CEF-B4A7-561526D244B4}" dt="2026-09-27T17:04:01.589" v="1145" actId="47"/>
        <pc:sldMkLst>
          <pc:docMk/>
          <pc:sldMk cId="2552144493" sldId="280"/>
        </pc:sldMkLst>
      </pc:sldChg>
      <pc:sldChg chg="del">
        <pc:chgData name="Joaquín B" userId="3faa7ee38a323782" providerId="LiveId" clId="{0194D097-A0ED-4CEF-B4A7-561526D244B4}" dt="2026-09-27T17:04:02.335" v="1146" actId="47"/>
        <pc:sldMkLst>
          <pc:docMk/>
          <pc:sldMk cId="1551537498" sldId="281"/>
        </pc:sldMkLst>
      </pc:sldChg>
      <pc:sldChg chg="del">
        <pc:chgData name="Joaquín B" userId="3faa7ee38a323782" providerId="LiveId" clId="{0194D097-A0ED-4CEF-B4A7-561526D244B4}" dt="2026-09-27T17:04:04.151" v="1147" actId="47"/>
        <pc:sldMkLst>
          <pc:docMk/>
          <pc:sldMk cId="3629749943" sldId="282"/>
        </pc:sldMkLst>
      </pc:sldChg>
      <pc:sldChg chg="del">
        <pc:chgData name="Joaquín B" userId="3faa7ee38a323782" providerId="LiveId" clId="{0194D097-A0ED-4CEF-B4A7-561526D244B4}" dt="2026-09-27T17:08:00.389" v="1174" actId="47"/>
        <pc:sldMkLst>
          <pc:docMk/>
          <pc:sldMk cId="1972322480" sldId="283"/>
        </pc:sldMkLst>
      </pc:sldChg>
      <pc:sldChg chg="del">
        <pc:chgData name="Joaquín B" userId="3faa7ee38a323782" providerId="LiveId" clId="{0194D097-A0ED-4CEF-B4A7-561526D244B4}" dt="2026-09-27T17:08:03.750" v="1176" actId="47"/>
        <pc:sldMkLst>
          <pc:docMk/>
          <pc:sldMk cId="3661192479" sldId="285"/>
        </pc:sldMkLst>
      </pc:sldChg>
      <pc:sldChg chg="modSp new mod">
        <pc:chgData name="Joaquín B" userId="3faa7ee38a323782" providerId="LiveId" clId="{0194D097-A0ED-4CEF-B4A7-561526D244B4}" dt="2026-09-27T01:34:12.368" v="420" actId="20577"/>
        <pc:sldMkLst>
          <pc:docMk/>
          <pc:sldMk cId="3231068491" sldId="286"/>
        </pc:sldMkLst>
        <pc:spChg chg="mod">
          <ac:chgData name="Joaquín B" userId="3faa7ee38a323782" providerId="LiveId" clId="{0194D097-A0ED-4CEF-B4A7-561526D244B4}" dt="2026-09-27T01:33:15.922" v="90" actId="20577"/>
          <ac:spMkLst>
            <pc:docMk/>
            <pc:sldMk cId="3231068491" sldId="286"/>
            <ac:spMk id="2" creationId="{5249CF30-DEE6-9ECE-362E-CD0214EA8EC9}"/>
          </ac:spMkLst>
        </pc:spChg>
        <pc:spChg chg="mod">
          <ac:chgData name="Joaquín B" userId="3faa7ee38a323782" providerId="LiveId" clId="{0194D097-A0ED-4CEF-B4A7-561526D244B4}" dt="2026-09-27T01:34:12.368" v="420" actId="20577"/>
          <ac:spMkLst>
            <pc:docMk/>
            <pc:sldMk cId="3231068491" sldId="286"/>
            <ac:spMk id="3" creationId="{96A645F4-3D38-2861-7548-2474505DDC31}"/>
          </ac:spMkLst>
        </pc:spChg>
      </pc:sldChg>
      <pc:sldChg chg="addSp modSp new mod">
        <pc:chgData name="Joaquín B" userId="3faa7ee38a323782" providerId="LiveId" clId="{0194D097-A0ED-4CEF-B4A7-561526D244B4}" dt="2026-09-27T13:22:20.541" v="822" actId="1076"/>
        <pc:sldMkLst>
          <pc:docMk/>
          <pc:sldMk cId="1730222463" sldId="287"/>
        </pc:sldMkLst>
        <pc:spChg chg="mod">
          <ac:chgData name="Joaquín B" userId="3faa7ee38a323782" providerId="LiveId" clId="{0194D097-A0ED-4CEF-B4A7-561526D244B4}" dt="2026-09-27T02:27:54.647" v="664" actId="20577"/>
          <ac:spMkLst>
            <pc:docMk/>
            <pc:sldMk cId="1730222463" sldId="287"/>
            <ac:spMk id="2" creationId="{919DBFF0-D4E5-8726-39A0-B11DA0778220}"/>
          </ac:spMkLst>
        </pc:spChg>
        <pc:spChg chg="mod">
          <ac:chgData name="Joaquín B" userId="3faa7ee38a323782" providerId="LiveId" clId="{0194D097-A0ED-4CEF-B4A7-561526D244B4}" dt="2026-09-27T13:02:08.943" v="738" actId="20577"/>
          <ac:spMkLst>
            <pc:docMk/>
            <pc:sldMk cId="1730222463" sldId="287"/>
            <ac:spMk id="3" creationId="{B883872B-C92D-A1A9-2178-A822A01963AA}"/>
          </ac:spMkLst>
        </pc:spChg>
        <pc:graphicFrameChg chg="add mod modGraphic">
          <ac:chgData name="Joaquín B" userId="3faa7ee38a323782" providerId="LiveId" clId="{0194D097-A0ED-4CEF-B4A7-561526D244B4}" dt="2026-09-27T13:22:20.541" v="822" actId="1076"/>
          <ac:graphicFrameMkLst>
            <pc:docMk/>
            <pc:sldMk cId="1730222463" sldId="287"/>
            <ac:graphicFrameMk id="6" creationId="{1415C5A4-ED8F-5C66-6A20-8022D35BCA5B}"/>
          </ac:graphicFrameMkLst>
        </pc:graphicFrameChg>
      </pc:sldChg>
      <pc:sldChg chg="addSp modSp new mod">
        <pc:chgData name="Joaquín B" userId="3faa7ee38a323782" providerId="LiveId" clId="{0194D097-A0ED-4CEF-B4A7-561526D244B4}" dt="2026-09-27T16:58:22.193" v="933"/>
        <pc:sldMkLst>
          <pc:docMk/>
          <pc:sldMk cId="1055638808" sldId="288"/>
        </pc:sldMkLst>
        <pc:spChg chg="mod">
          <ac:chgData name="Joaquín B" userId="3faa7ee38a323782" providerId="LiveId" clId="{0194D097-A0ED-4CEF-B4A7-561526D244B4}" dt="2026-09-27T13:02:27.647" v="783" actId="20577"/>
          <ac:spMkLst>
            <pc:docMk/>
            <pc:sldMk cId="1055638808" sldId="288"/>
            <ac:spMk id="2" creationId="{C8D7CD86-9FCC-E573-E31D-D3813B2945FC}"/>
          </ac:spMkLst>
        </pc:spChg>
        <pc:spChg chg="mod">
          <ac:chgData name="Joaquín B" userId="3faa7ee38a323782" providerId="LiveId" clId="{0194D097-A0ED-4CEF-B4A7-561526D244B4}" dt="2026-09-27T13:03:26.918" v="795" actId="14100"/>
          <ac:spMkLst>
            <pc:docMk/>
            <pc:sldMk cId="1055638808" sldId="288"/>
            <ac:spMk id="3" creationId="{AC39882E-298F-2892-A37A-14A79557ED85}"/>
          </ac:spMkLst>
        </pc:spChg>
        <pc:graphicFrameChg chg="add mod">
          <ac:chgData name="Joaquín B" userId="3faa7ee38a323782" providerId="LiveId" clId="{0194D097-A0ED-4CEF-B4A7-561526D244B4}" dt="2026-09-27T16:58:22.193" v="933"/>
          <ac:graphicFrameMkLst>
            <pc:docMk/>
            <pc:sldMk cId="1055638808" sldId="288"/>
            <ac:graphicFrameMk id="6" creationId="{22ECFD72-10E8-E684-9DC7-96D3EE5AA875}"/>
          </ac:graphicFrameMkLst>
        </pc:graphicFrameChg>
      </pc:sldChg>
      <pc:sldChg chg="addSp delSp modSp add mod">
        <pc:chgData name="Joaquín B" userId="3faa7ee38a323782" providerId="LiveId" clId="{0194D097-A0ED-4CEF-B4A7-561526D244B4}" dt="2026-09-27T16:58:41.058" v="936" actId="207"/>
        <pc:sldMkLst>
          <pc:docMk/>
          <pc:sldMk cId="1332915924" sldId="289"/>
        </pc:sldMkLst>
        <pc:spChg chg="mod">
          <ac:chgData name="Joaquín B" userId="3faa7ee38a323782" providerId="LiveId" clId="{0194D097-A0ED-4CEF-B4A7-561526D244B4}" dt="2026-09-27T16:53:30.163" v="850" actId="20577"/>
          <ac:spMkLst>
            <pc:docMk/>
            <pc:sldMk cId="1332915924" sldId="289"/>
            <ac:spMk id="2" creationId="{C8D7CD86-9FCC-E573-E31D-D3813B2945FC}"/>
          </ac:spMkLst>
        </pc:spChg>
        <pc:spChg chg="mod">
          <ac:chgData name="Joaquín B" userId="3faa7ee38a323782" providerId="LiveId" clId="{0194D097-A0ED-4CEF-B4A7-561526D244B4}" dt="2026-09-27T16:54:09.140" v="886" actId="20577"/>
          <ac:spMkLst>
            <pc:docMk/>
            <pc:sldMk cId="1332915924" sldId="289"/>
            <ac:spMk id="3" creationId="{AC39882E-298F-2892-A37A-14A79557ED85}"/>
          </ac:spMkLst>
        </pc:spChg>
        <pc:graphicFrameChg chg="del">
          <ac:chgData name="Joaquín B" userId="3faa7ee38a323782" providerId="LiveId" clId="{0194D097-A0ED-4CEF-B4A7-561526D244B4}" dt="2026-09-27T16:55:21.005" v="887" actId="478"/>
          <ac:graphicFrameMkLst>
            <pc:docMk/>
            <pc:sldMk cId="1332915924" sldId="289"/>
            <ac:graphicFrameMk id="6" creationId="{22ECFD72-10E8-E684-9DC7-96D3EE5AA875}"/>
          </ac:graphicFrameMkLst>
        </pc:graphicFrameChg>
        <pc:graphicFrameChg chg="add mod">
          <ac:chgData name="Joaquín B" userId="3faa7ee38a323782" providerId="LiveId" clId="{0194D097-A0ED-4CEF-B4A7-561526D244B4}" dt="2026-09-27T16:58:41.058" v="936" actId="207"/>
          <ac:graphicFrameMkLst>
            <pc:docMk/>
            <pc:sldMk cId="1332915924" sldId="289"/>
            <ac:graphicFrameMk id="7" creationId="{996FAF64-576C-BF88-4ED4-8A6F41CB9E6E}"/>
          </ac:graphicFrameMkLst>
        </pc:graphicFrameChg>
      </pc:sldChg>
      <pc:sldChg chg="addSp delSp modSp add mod">
        <pc:chgData name="Joaquín B" userId="3faa7ee38a323782" providerId="LiveId" clId="{0194D097-A0ED-4CEF-B4A7-561526D244B4}" dt="2026-09-27T16:59:57.165" v="989"/>
        <pc:sldMkLst>
          <pc:docMk/>
          <pc:sldMk cId="2489021942" sldId="290"/>
        </pc:sldMkLst>
        <pc:spChg chg="mod">
          <ac:chgData name="Joaquín B" userId="3faa7ee38a323782" providerId="LiveId" clId="{0194D097-A0ED-4CEF-B4A7-561526D244B4}" dt="2026-09-27T16:57:18.260" v="915" actId="20577"/>
          <ac:spMkLst>
            <pc:docMk/>
            <pc:sldMk cId="2489021942" sldId="290"/>
            <ac:spMk id="2" creationId="{C8D7CD86-9FCC-E573-E31D-D3813B2945FC}"/>
          </ac:spMkLst>
        </pc:spChg>
        <pc:spChg chg="mod">
          <ac:chgData name="Joaquín B" userId="3faa7ee38a323782" providerId="LiveId" clId="{0194D097-A0ED-4CEF-B4A7-561526D244B4}" dt="2026-09-27T16:57:51.152" v="927" actId="20577"/>
          <ac:spMkLst>
            <pc:docMk/>
            <pc:sldMk cId="2489021942" sldId="290"/>
            <ac:spMk id="3" creationId="{AC39882E-298F-2892-A37A-14A79557ED85}"/>
          </ac:spMkLst>
        </pc:spChg>
        <pc:graphicFrameChg chg="add mod">
          <ac:chgData name="Joaquín B" userId="3faa7ee38a323782" providerId="LiveId" clId="{0194D097-A0ED-4CEF-B4A7-561526D244B4}" dt="2026-09-27T16:59:57.165" v="989"/>
          <ac:graphicFrameMkLst>
            <pc:docMk/>
            <pc:sldMk cId="2489021942" sldId="290"/>
            <ac:graphicFrameMk id="6" creationId="{7A7F40B2-DC1A-4A88-66F7-16C641735395}"/>
          </ac:graphicFrameMkLst>
        </pc:graphicFrameChg>
        <pc:graphicFrameChg chg="del">
          <ac:chgData name="Joaquín B" userId="3faa7ee38a323782" providerId="LiveId" clId="{0194D097-A0ED-4CEF-B4A7-561526D244B4}" dt="2026-09-27T16:57:58.701" v="928" actId="478"/>
          <ac:graphicFrameMkLst>
            <pc:docMk/>
            <pc:sldMk cId="2489021942" sldId="290"/>
            <ac:graphicFrameMk id="7" creationId="{996FAF64-576C-BF88-4ED4-8A6F41CB9E6E}"/>
          </ac:graphicFrameMkLst>
        </pc:graphicFrameChg>
      </pc:sldChg>
      <pc:sldChg chg="addSp delSp modSp add mod">
        <pc:chgData name="Joaquín B" userId="3faa7ee38a323782" providerId="LiveId" clId="{0194D097-A0ED-4CEF-B4A7-561526D244B4}" dt="2026-09-27T17:00:27.376" v="996" actId="1076"/>
        <pc:sldMkLst>
          <pc:docMk/>
          <pc:sldMk cId="2659778720" sldId="291"/>
        </pc:sldMkLst>
        <pc:spChg chg="mod">
          <ac:chgData name="Joaquín B" userId="3faa7ee38a323782" providerId="LiveId" clId="{0194D097-A0ED-4CEF-B4A7-561526D244B4}" dt="2026-09-27T16:59:00.731" v="952" actId="20577"/>
          <ac:spMkLst>
            <pc:docMk/>
            <pc:sldMk cId="2659778720" sldId="291"/>
            <ac:spMk id="2" creationId="{C8D7CD86-9FCC-E573-E31D-D3813B2945FC}"/>
          </ac:spMkLst>
        </pc:spChg>
        <pc:spChg chg="mod">
          <ac:chgData name="Joaquín B" userId="3faa7ee38a323782" providerId="LiveId" clId="{0194D097-A0ED-4CEF-B4A7-561526D244B4}" dt="2026-09-27T16:59:39.547" v="984" actId="20577"/>
          <ac:spMkLst>
            <pc:docMk/>
            <pc:sldMk cId="2659778720" sldId="291"/>
            <ac:spMk id="3" creationId="{AC39882E-298F-2892-A37A-14A79557ED85}"/>
          </ac:spMkLst>
        </pc:spChg>
        <pc:graphicFrameChg chg="del">
          <ac:chgData name="Joaquín B" userId="3faa7ee38a323782" providerId="LiveId" clId="{0194D097-A0ED-4CEF-B4A7-561526D244B4}" dt="2026-09-27T16:59:43.010" v="985" actId="478"/>
          <ac:graphicFrameMkLst>
            <pc:docMk/>
            <pc:sldMk cId="2659778720" sldId="291"/>
            <ac:graphicFrameMk id="6" creationId="{7A7F40B2-DC1A-4A88-66F7-16C641735395}"/>
          </ac:graphicFrameMkLst>
        </pc:graphicFrameChg>
        <pc:graphicFrameChg chg="add mod">
          <ac:chgData name="Joaquín B" userId="3faa7ee38a323782" providerId="LiveId" clId="{0194D097-A0ED-4CEF-B4A7-561526D244B4}" dt="2026-09-27T17:00:27.376" v="996" actId="1076"/>
          <ac:graphicFrameMkLst>
            <pc:docMk/>
            <pc:sldMk cId="2659778720" sldId="291"/>
            <ac:graphicFrameMk id="7" creationId="{64124D1E-EB4D-4253-6BDB-77B9A805DB9C}"/>
          </ac:graphicFrameMkLst>
        </pc:graphicFrameChg>
      </pc:sldChg>
      <pc:sldChg chg="modSp add mod modTransition">
        <pc:chgData name="Joaquín B" userId="3faa7ee38a323782" providerId="LiveId" clId="{0194D097-A0ED-4CEF-B4A7-561526D244B4}" dt="2026-09-27T17:06:36.407" v="1172"/>
        <pc:sldMkLst>
          <pc:docMk/>
          <pc:sldMk cId="3462149425" sldId="292"/>
        </pc:sldMkLst>
        <pc:spChg chg="mod">
          <ac:chgData name="Joaquín B" userId="3faa7ee38a323782" providerId="LiveId" clId="{0194D097-A0ED-4CEF-B4A7-561526D244B4}" dt="2026-09-27T17:05:22.583" v="1153" actId="1076"/>
          <ac:spMkLst>
            <pc:docMk/>
            <pc:sldMk cId="3462149425" sldId="292"/>
            <ac:spMk id="6" creationId="{358F8E9F-FB8E-4CC7-B400-25E048014DF2}"/>
          </ac:spMkLst>
        </pc:spChg>
      </pc:sldChg>
      <pc:sldChg chg="modSp add mod modTransition">
        <pc:chgData name="Joaquín B" userId="3faa7ee38a323782" providerId="LiveId" clId="{0194D097-A0ED-4CEF-B4A7-561526D244B4}" dt="2026-09-27T17:06:36.407" v="1172"/>
        <pc:sldMkLst>
          <pc:docMk/>
          <pc:sldMk cId="3936418454" sldId="293"/>
        </pc:sldMkLst>
        <pc:spChg chg="mod">
          <ac:chgData name="Joaquín B" userId="3faa7ee38a323782" providerId="LiveId" clId="{0194D097-A0ED-4CEF-B4A7-561526D244B4}" dt="2026-09-27T17:05:34.895" v="1156" actId="1076"/>
          <ac:spMkLst>
            <pc:docMk/>
            <pc:sldMk cId="3936418454" sldId="293"/>
            <ac:spMk id="6" creationId="{358F8E9F-FB8E-4CC7-B400-25E048014DF2}"/>
          </ac:spMkLst>
        </pc:spChg>
      </pc:sldChg>
      <pc:sldChg chg="modSp add mod modTransition">
        <pc:chgData name="Joaquín B" userId="3faa7ee38a323782" providerId="LiveId" clId="{0194D097-A0ED-4CEF-B4A7-561526D244B4}" dt="2026-09-27T17:06:36.407" v="1172"/>
        <pc:sldMkLst>
          <pc:docMk/>
          <pc:sldMk cId="1549401027" sldId="294"/>
        </pc:sldMkLst>
        <pc:spChg chg="mod">
          <ac:chgData name="Joaquín B" userId="3faa7ee38a323782" providerId="LiveId" clId="{0194D097-A0ED-4CEF-B4A7-561526D244B4}" dt="2026-09-27T17:05:44.298" v="1159" actId="1076"/>
          <ac:spMkLst>
            <pc:docMk/>
            <pc:sldMk cId="1549401027" sldId="294"/>
            <ac:spMk id="6" creationId="{358F8E9F-FB8E-4CC7-B400-25E048014DF2}"/>
          </ac:spMkLst>
        </pc:spChg>
      </pc:sldChg>
      <pc:sldChg chg="modSp add mod modTransition">
        <pc:chgData name="Joaquín B" userId="3faa7ee38a323782" providerId="LiveId" clId="{0194D097-A0ED-4CEF-B4A7-561526D244B4}" dt="2026-09-27T17:06:36.407" v="1172"/>
        <pc:sldMkLst>
          <pc:docMk/>
          <pc:sldMk cId="2316629647" sldId="295"/>
        </pc:sldMkLst>
        <pc:spChg chg="mod">
          <ac:chgData name="Joaquín B" userId="3faa7ee38a323782" providerId="LiveId" clId="{0194D097-A0ED-4CEF-B4A7-561526D244B4}" dt="2026-09-27T17:06:01.404" v="1164" actId="1076"/>
          <ac:spMkLst>
            <pc:docMk/>
            <pc:sldMk cId="2316629647" sldId="295"/>
            <ac:spMk id="6" creationId="{358F8E9F-FB8E-4CC7-B400-25E048014DF2}"/>
          </ac:spMkLst>
        </pc:spChg>
      </pc:sldChg>
      <pc:sldChg chg="modSp add mod modTransition">
        <pc:chgData name="Joaquín B" userId="3faa7ee38a323782" providerId="LiveId" clId="{0194D097-A0ED-4CEF-B4A7-561526D244B4}" dt="2026-09-27T17:06:36.407" v="1172"/>
        <pc:sldMkLst>
          <pc:docMk/>
          <pc:sldMk cId="1097215809" sldId="296"/>
        </pc:sldMkLst>
        <pc:spChg chg="mod">
          <ac:chgData name="Joaquín B" userId="3faa7ee38a323782" providerId="LiveId" clId="{0194D097-A0ED-4CEF-B4A7-561526D244B4}" dt="2026-09-27T17:06:11.021" v="1167" actId="1076"/>
          <ac:spMkLst>
            <pc:docMk/>
            <pc:sldMk cId="1097215809" sldId="296"/>
            <ac:spMk id="6" creationId="{358F8E9F-FB8E-4CC7-B400-25E048014DF2}"/>
          </ac:spMkLst>
        </pc:spChg>
      </pc:sldChg>
      <pc:sldChg chg="modSp add mod modTransition">
        <pc:chgData name="Joaquín B" userId="3faa7ee38a323782" providerId="LiveId" clId="{0194D097-A0ED-4CEF-B4A7-561526D244B4}" dt="2026-09-27T17:06:36.407" v="1172"/>
        <pc:sldMkLst>
          <pc:docMk/>
          <pc:sldMk cId="2038704219" sldId="297"/>
        </pc:sldMkLst>
        <pc:spChg chg="mod">
          <ac:chgData name="Joaquín B" userId="3faa7ee38a323782" providerId="LiveId" clId="{0194D097-A0ED-4CEF-B4A7-561526D244B4}" dt="2026-09-27T17:06:21.199" v="1169" actId="1076"/>
          <ac:spMkLst>
            <pc:docMk/>
            <pc:sldMk cId="2038704219" sldId="297"/>
            <ac:spMk id="6" creationId="{358F8E9F-FB8E-4CC7-B400-25E048014DF2}"/>
          </ac:spMkLst>
        </pc:spChg>
      </pc:sldChg>
      <pc:sldChg chg="modSp add mod modTransition">
        <pc:chgData name="Joaquín B" userId="3faa7ee38a323782" providerId="LiveId" clId="{0194D097-A0ED-4CEF-B4A7-561526D244B4}" dt="2026-09-27T17:06:36.407" v="1172"/>
        <pc:sldMkLst>
          <pc:docMk/>
          <pc:sldMk cId="3015761043" sldId="298"/>
        </pc:sldMkLst>
        <pc:spChg chg="mod">
          <ac:chgData name="Joaquín B" userId="3faa7ee38a323782" providerId="LiveId" clId="{0194D097-A0ED-4CEF-B4A7-561526D244B4}" dt="2026-09-27T17:06:29.429" v="1171" actId="1076"/>
          <ac:spMkLst>
            <pc:docMk/>
            <pc:sldMk cId="3015761043" sldId="298"/>
            <ac:spMk id="6" creationId="{358F8E9F-FB8E-4CC7-B400-25E048014DF2}"/>
          </ac:spMkLst>
        </pc:spChg>
      </pc:sldChg>
      <pc:sldChg chg="addSp delSp modSp new mod">
        <pc:chgData name="Joaquín B" userId="3faa7ee38a323782" providerId="LiveId" clId="{0194D097-A0ED-4CEF-B4A7-561526D244B4}" dt="2026-09-28T18:52:57.556" v="1418" actId="1076"/>
        <pc:sldMkLst>
          <pc:docMk/>
          <pc:sldMk cId="1495892007" sldId="299"/>
        </pc:sldMkLst>
        <pc:spChg chg="mod">
          <ac:chgData name="Joaquín B" userId="3faa7ee38a323782" providerId="LiveId" clId="{0194D097-A0ED-4CEF-B4A7-561526D244B4}" dt="2026-09-27T17:35:16.303" v="1281" actId="5793"/>
          <ac:spMkLst>
            <pc:docMk/>
            <pc:sldMk cId="1495892007" sldId="299"/>
            <ac:spMk id="2" creationId="{9281E08F-3FBF-3723-2A98-829781585BB8}"/>
          </ac:spMkLst>
        </pc:spChg>
        <pc:spChg chg="del mod">
          <ac:chgData name="Joaquín B" userId="3faa7ee38a323782" providerId="LiveId" clId="{0194D097-A0ED-4CEF-B4A7-561526D244B4}" dt="2026-09-27T17:35:21.361" v="1283" actId="22"/>
          <ac:spMkLst>
            <pc:docMk/>
            <pc:sldMk cId="1495892007" sldId="299"/>
            <ac:spMk id="3" creationId="{90300ED2-1B1A-8643-DD33-1C4E749F78D6}"/>
          </ac:spMkLst>
        </pc:spChg>
        <pc:picChg chg="add mod">
          <ac:chgData name="Joaquín B" userId="3faa7ee38a323782" providerId="LiveId" clId="{0194D097-A0ED-4CEF-B4A7-561526D244B4}" dt="2026-09-28T18:52:57.556" v="1418" actId="1076"/>
          <ac:picMkLst>
            <pc:docMk/>
            <pc:sldMk cId="1495892007" sldId="299"/>
            <ac:picMk id="3" creationId="{DD87FF65-FE5A-E8BA-0A73-5C106533B452}"/>
          </ac:picMkLst>
        </pc:picChg>
        <pc:picChg chg="add mod ord">
          <ac:chgData name="Joaquín B" userId="3faa7ee38a323782" providerId="LiveId" clId="{0194D097-A0ED-4CEF-B4A7-561526D244B4}" dt="2026-09-28T18:52:54.843" v="1416" actId="1076"/>
          <ac:picMkLst>
            <pc:docMk/>
            <pc:sldMk cId="1495892007" sldId="299"/>
            <ac:picMk id="7" creationId="{FB28C180-422F-8A43-5666-4C935A64FB35}"/>
          </ac:picMkLst>
        </pc:picChg>
      </pc:sldChg>
      <pc:sldChg chg="addSp delSp modSp add mod">
        <pc:chgData name="Joaquín B" userId="3faa7ee38a323782" providerId="LiveId" clId="{0194D097-A0ED-4CEF-B4A7-561526D244B4}" dt="2026-09-28T18:53:29.040" v="1427" actId="1076"/>
        <pc:sldMkLst>
          <pc:docMk/>
          <pc:sldMk cId="1287716183" sldId="300"/>
        </pc:sldMkLst>
        <pc:spChg chg="mod">
          <ac:chgData name="Joaquín B" userId="3faa7ee38a323782" providerId="LiveId" clId="{0194D097-A0ED-4CEF-B4A7-561526D244B4}" dt="2026-09-27T17:35:35.499" v="1321" actId="20577"/>
          <ac:spMkLst>
            <pc:docMk/>
            <pc:sldMk cId="1287716183" sldId="300"/>
            <ac:spMk id="2" creationId="{9281E08F-3FBF-3723-2A98-829781585BB8}"/>
          </ac:spMkLst>
        </pc:spChg>
        <pc:spChg chg="add del mod">
          <ac:chgData name="Joaquín B" userId="3faa7ee38a323782" providerId="LiveId" clId="{0194D097-A0ED-4CEF-B4A7-561526D244B4}" dt="2026-09-27T17:35:44.970" v="1325"/>
          <ac:spMkLst>
            <pc:docMk/>
            <pc:sldMk cId="1287716183" sldId="300"/>
            <ac:spMk id="9" creationId="{0E81479F-8EE4-5BE2-4A9B-85E3FCC6F4A7}"/>
          </ac:spMkLst>
        </pc:spChg>
        <pc:picChg chg="add mod">
          <ac:chgData name="Joaquín B" userId="3faa7ee38a323782" providerId="LiveId" clId="{0194D097-A0ED-4CEF-B4A7-561526D244B4}" dt="2026-09-28T18:53:29.040" v="1427" actId="1076"/>
          <ac:picMkLst>
            <pc:docMk/>
            <pc:sldMk cId="1287716183" sldId="300"/>
            <ac:picMk id="3" creationId="{FA88AF7F-929C-6829-2276-DB1595B2F042}"/>
          </ac:picMkLst>
        </pc:picChg>
        <pc:picChg chg="add del">
          <ac:chgData name="Joaquín B" userId="3faa7ee38a323782" providerId="LiveId" clId="{0194D097-A0ED-4CEF-B4A7-561526D244B4}" dt="2026-09-27T17:35:44.118" v="1324" actId="21"/>
          <ac:picMkLst>
            <pc:docMk/>
            <pc:sldMk cId="1287716183" sldId="300"/>
            <ac:picMk id="6" creationId="{93838D75-39A0-0774-1A2C-831D00289B6D}"/>
          </ac:picMkLst>
        </pc:picChg>
        <pc:picChg chg="del">
          <ac:chgData name="Joaquín B" userId="3faa7ee38a323782" providerId="LiveId" clId="{0194D097-A0ED-4CEF-B4A7-561526D244B4}" dt="2026-09-27T17:35:42.114" v="1323" actId="478"/>
          <ac:picMkLst>
            <pc:docMk/>
            <pc:sldMk cId="1287716183" sldId="300"/>
            <ac:picMk id="7" creationId="{FB28C180-422F-8A43-5666-4C935A64FB35}"/>
          </ac:picMkLst>
        </pc:picChg>
        <pc:picChg chg="add mod">
          <ac:chgData name="Joaquín B" userId="3faa7ee38a323782" providerId="LiveId" clId="{0194D097-A0ED-4CEF-B4A7-561526D244B4}" dt="2026-09-28T18:53:21.836" v="1425" actId="1076"/>
          <ac:picMkLst>
            <pc:docMk/>
            <pc:sldMk cId="1287716183" sldId="300"/>
            <ac:picMk id="10" creationId="{BF7ABB7B-930E-8B5F-F4F7-2C13C7A7CED0}"/>
          </ac:picMkLst>
        </pc:picChg>
      </pc:sldChg>
      <pc:sldChg chg="addSp delSp modSp new mod">
        <pc:chgData name="Joaquín B" userId="3faa7ee38a323782" providerId="LiveId" clId="{0194D097-A0ED-4CEF-B4A7-561526D244B4}" dt="2026-09-28T18:50:56.689" v="1415" actId="20577"/>
        <pc:sldMkLst>
          <pc:docMk/>
          <pc:sldMk cId="1032266946" sldId="301"/>
        </pc:sldMkLst>
        <pc:spChg chg="mod">
          <ac:chgData name="Joaquín B" userId="3faa7ee38a323782" providerId="LiveId" clId="{0194D097-A0ED-4CEF-B4A7-561526D244B4}" dt="2026-09-28T18:48:27.161" v="1355" actId="20577"/>
          <ac:spMkLst>
            <pc:docMk/>
            <pc:sldMk cId="1032266946" sldId="301"/>
            <ac:spMk id="2" creationId="{A863480F-BD9D-5C1C-BD50-C96B788BB6AA}"/>
          </ac:spMkLst>
        </pc:spChg>
        <pc:spChg chg="del">
          <ac:chgData name="Joaquín B" userId="3faa7ee38a323782" providerId="LiveId" clId="{0194D097-A0ED-4CEF-B4A7-561526D244B4}" dt="2026-09-28T18:48:34.613" v="1356"/>
          <ac:spMkLst>
            <pc:docMk/>
            <pc:sldMk cId="1032266946" sldId="301"/>
            <ac:spMk id="3" creationId="{6F959FC3-0D45-E0B4-2456-6BD96A014CBA}"/>
          </ac:spMkLst>
        </pc:spChg>
        <pc:spChg chg="add mod">
          <ac:chgData name="Joaquín B" userId="3faa7ee38a323782" providerId="LiveId" clId="{0194D097-A0ED-4CEF-B4A7-561526D244B4}" dt="2026-09-28T18:50:43.767" v="1409" actId="1076"/>
          <ac:spMkLst>
            <pc:docMk/>
            <pc:sldMk cId="1032266946" sldId="301"/>
            <ac:spMk id="8" creationId="{221442A2-E2C7-94C9-85B3-C06DB2B51B77}"/>
          </ac:spMkLst>
        </pc:spChg>
        <pc:spChg chg="add mod">
          <ac:chgData name="Joaquín B" userId="3faa7ee38a323782" providerId="LiveId" clId="{0194D097-A0ED-4CEF-B4A7-561526D244B4}" dt="2026-09-28T18:50:56.689" v="1415" actId="20577"/>
          <ac:spMkLst>
            <pc:docMk/>
            <pc:sldMk cId="1032266946" sldId="301"/>
            <ac:spMk id="9" creationId="{095EFAF8-6594-BC31-7C87-6A089A2A5A01}"/>
          </ac:spMkLst>
        </pc:spChg>
        <pc:graphicFrameChg chg="add mod modGraphic">
          <ac:chgData name="Joaquín B" userId="3faa7ee38a323782" providerId="LiveId" clId="{0194D097-A0ED-4CEF-B4A7-561526D244B4}" dt="2026-09-28T18:49:24.221" v="1368" actId="1076"/>
          <ac:graphicFrameMkLst>
            <pc:docMk/>
            <pc:sldMk cId="1032266946" sldId="301"/>
            <ac:graphicFrameMk id="6" creationId="{B5C659BC-C057-F15F-6689-1C1CFFEEA6CD}"/>
          </ac:graphicFrameMkLst>
        </pc:graphicFrameChg>
        <pc:graphicFrameChg chg="add mod modGraphic">
          <ac:chgData name="Joaquín B" userId="3faa7ee38a323782" providerId="LiveId" clId="{0194D097-A0ED-4CEF-B4A7-561526D244B4}" dt="2026-09-28T18:50:15.171" v="1375" actId="404"/>
          <ac:graphicFrameMkLst>
            <pc:docMk/>
            <pc:sldMk cId="1032266946" sldId="301"/>
            <ac:graphicFrameMk id="7" creationId="{19C59FEB-D72F-5B6C-B6D2-A815853011E3}"/>
          </ac:graphicFrameMkLst>
        </pc:graphicFrameChg>
      </pc:sldChg>
      <pc:sldChg chg="addSp delSp modSp new mod">
        <pc:chgData name="Joaquín B" userId="3faa7ee38a323782" providerId="LiveId" clId="{0194D097-A0ED-4CEF-B4A7-561526D244B4}" dt="2026-09-28T18:59:37.374" v="1469" actId="20577"/>
        <pc:sldMkLst>
          <pc:docMk/>
          <pc:sldMk cId="670817646" sldId="302"/>
        </pc:sldMkLst>
        <pc:spChg chg="mod">
          <ac:chgData name="Joaquín B" userId="3faa7ee38a323782" providerId="LiveId" clId="{0194D097-A0ED-4CEF-B4A7-561526D244B4}" dt="2026-09-28T18:54:02.078" v="1438" actId="20577"/>
          <ac:spMkLst>
            <pc:docMk/>
            <pc:sldMk cId="670817646" sldId="302"/>
            <ac:spMk id="2" creationId="{7E2BE670-5E05-C7C7-B7EF-21E336C976B0}"/>
          </ac:spMkLst>
        </pc:spChg>
        <pc:spChg chg="del">
          <ac:chgData name="Joaquín B" userId="3faa7ee38a323782" providerId="LiveId" clId="{0194D097-A0ED-4CEF-B4A7-561526D244B4}" dt="2026-09-28T18:57:59.261" v="1439"/>
          <ac:spMkLst>
            <pc:docMk/>
            <pc:sldMk cId="670817646" sldId="302"/>
            <ac:spMk id="3" creationId="{96E3293F-47BB-1F91-9240-02E9477B954A}"/>
          </ac:spMkLst>
        </pc:spChg>
        <pc:spChg chg="add mod">
          <ac:chgData name="Joaquín B" userId="3faa7ee38a323782" providerId="LiveId" clId="{0194D097-A0ED-4CEF-B4A7-561526D244B4}" dt="2026-09-28T18:59:30.330" v="1461" actId="14100"/>
          <ac:spMkLst>
            <pc:docMk/>
            <pc:sldMk cId="670817646" sldId="302"/>
            <ac:spMk id="8" creationId="{28AF47F4-BA9B-8EE6-C7E5-F87C536D7299}"/>
          </ac:spMkLst>
        </pc:spChg>
        <pc:spChg chg="add mod">
          <ac:chgData name="Joaquín B" userId="3faa7ee38a323782" providerId="LiveId" clId="{0194D097-A0ED-4CEF-B4A7-561526D244B4}" dt="2026-09-28T18:59:37.374" v="1469" actId="20577"/>
          <ac:spMkLst>
            <pc:docMk/>
            <pc:sldMk cId="670817646" sldId="302"/>
            <ac:spMk id="9" creationId="{6547EAB1-B36B-2EB4-C366-277999D6F770}"/>
          </ac:spMkLst>
        </pc:spChg>
        <pc:graphicFrameChg chg="add mod modGraphic">
          <ac:chgData name="Joaquín B" userId="3faa7ee38a323782" providerId="LiveId" clId="{0194D097-A0ED-4CEF-B4A7-561526D244B4}" dt="2026-09-28T18:59:09.519" v="1457" actId="1076"/>
          <ac:graphicFrameMkLst>
            <pc:docMk/>
            <pc:sldMk cId="670817646" sldId="302"/>
            <ac:graphicFrameMk id="6" creationId="{6EE9D977-592A-BAD0-2B72-F8791B9ED08F}"/>
          </ac:graphicFrameMkLst>
        </pc:graphicFrameChg>
        <pc:graphicFrameChg chg="add mod modGraphic">
          <ac:chgData name="Joaquín B" userId="3faa7ee38a323782" providerId="LiveId" clId="{0194D097-A0ED-4CEF-B4A7-561526D244B4}" dt="2026-09-28T18:59:05.508" v="1456" actId="1076"/>
          <ac:graphicFrameMkLst>
            <pc:docMk/>
            <pc:sldMk cId="670817646" sldId="302"/>
            <ac:graphicFrameMk id="7" creationId="{94DB0A67-2C64-C962-2848-996B0FD19878}"/>
          </ac:graphicFrameMkLst>
        </pc:graphicFrameChg>
      </pc:sldChg>
      <pc:sldChg chg="modSp new mod">
        <pc:chgData name="Joaquín B" userId="3faa7ee38a323782" providerId="LiveId" clId="{0194D097-A0ED-4CEF-B4A7-561526D244B4}" dt="2026-09-28T19:12:22.712" v="1726" actId="113"/>
        <pc:sldMkLst>
          <pc:docMk/>
          <pc:sldMk cId="3043509307" sldId="303"/>
        </pc:sldMkLst>
        <pc:spChg chg="mod">
          <ac:chgData name="Joaquín B" userId="3faa7ee38a323782" providerId="LiveId" clId="{0194D097-A0ED-4CEF-B4A7-561526D244B4}" dt="2026-09-28T19:01:32.885" v="1570" actId="20577"/>
          <ac:spMkLst>
            <pc:docMk/>
            <pc:sldMk cId="3043509307" sldId="303"/>
            <ac:spMk id="2" creationId="{274B5EE4-D821-9354-03D9-B77F4A6BA241}"/>
          </ac:spMkLst>
        </pc:spChg>
        <pc:spChg chg="mod">
          <ac:chgData name="Joaquín B" userId="3faa7ee38a323782" providerId="LiveId" clId="{0194D097-A0ED-4CEF-B4A7-561526D244B4}" dt="2026-09-28T19:12:22.712" v="1726" actId="113"/>
          <ac:spMkLst>
            <pc:docMk/>
            <pc:sldMk cId="3043509307" sldId="303"/>
            <ac:spMk id="3" creationId="{CB5044C6-ABCB-562C-88CA-564B987EC8F7}"/>
          </ac:spMkLst>
        </pc:spChg>
      </pc:sldChg>
    </pc:docChg>
  </pc:docChgLst>
  <pc:docChgLst>
    <pc:chgData name="Joaquín B" userId="3faa7ee38a323782" providerId="LiveId" clId="{D45F27CD-55AF-4EF5-B612-780D17D9D7A6}"/>
    <pc:docChg chg="undo custSel addSld modSld sldOrd">
      <pc:chgData name="Joaquín B" userId="3faa7ee38a323782" providerId="LiveId" clId="{D45F27CD-55AF-4EF5-B612-780D17D9D7A6}" dt="2026-09-29T13:10:11.907" v="152" actId="1076"/>
      <pc:docMkLst>
        <pc:docMk/>
      </pc:docMkLst>
      <pc:sldChg chg="modSp add mod ord">
        <pc:chgData name="Joaquín B" userId="3faa7ee38a323782" providerId="LiveId" clId="{D45F27CD-55AF-4EF5-B612-780D17D9D7A6}" dt="2026-09-29T13:07:47.011" v="132" actId="20577"/>
        <pc:sldMkLst>
          <pc:docMk/>
          <pc:sldMk cId="3024933118" sldId="304"/>
        </pc:sldMkLst>
        <pc:spChg chg="mod">
          <ac:chgData name="Joaquín B" userId="3faa7ee38a323782" providerId="LiveId" clId="{D45F27CD-55AF-4EF5-B612-780D17D9D7A6}" dt="2026-09-29T13:05:53.556" v="104" actId="14100"/>
          <ac:spMkLst>
            <pc:docMk/>
            <pc:sldMk cId="3024933118" sldId="304"/>
            <ac:spMk id="2" creationId="{DB76804D-038C-4BE3-BE71-46B037AFB1B1}"/>
          </ac:spMkLst>
        </pc:spChg>
        <pc:spChg chg="mod">
          <ac:chgData name="Joaquín B" userId="3faa7ee38a323782" providerId="LiveId" clId="{D45F27CD-55AF-4EF5-B612-780D17D9D7A6}" dt="2026-09-29T13:07:07.430" v="128" actId="20577"/>
          <ac:spMkLst>
            <pc:docMk/>
            <pc:sldMk cId="3024933118" sldId="304"/>
            <ac:spMk id="3" creationId="{9504CEBD-AA79-B2EC-1D0D-F5EA8C617C02}"/>
          </ac:spMkLst>
        </pc:spChg>
        <pc:spChg chg="mod">
          <ac:chgData name="Joaquín B" userId="3faa7ee38a323782" providerId="LiveId" clId="{D45F27CD-55AF-4EF5-B612-780D17D9D7A6}" dt="2026-09-29T13:07:47.011" v="132" actId="20577"/>
          <ac:spMkLst>
            <pc:docMk/>
            <pc:sldMk cId="3024933118" sldId="304"/>
            <ac:spMk id="6" creationId="{358F8E9F-FB8E-4CC7-B400-25E048014DF2}"/>
          </ac:spMkLst>
        </pc:spChg>
      </pc:sldChg>
      <pc:sldChg chg="modSp add mod">
        <pc:chgData name="Joaquín B" userId="3faa7ee38a323782" providerId="LiveId" clId="{D45F27CD-55AF-4EF5-B612-780D17D9D7A6}" dt="2026-09-29T13:08:17.748" v="134" actId="1076"/>
        <pc:sldMkLst>
          <pc:docMk/>
          <pc:sldMk cId="2513032879" sldId="305"/>
        </pc:sldMkLst>
        <pc:spChg chg="mod">
          <ac:chgData name="Joaquín B" userId="3faa7ee38a323782" providerId="LiveId" clId="{D45F27CD-55AF-4EF5-B612-780D17D9D7A6}" dt="2026-09-29T13:08:17.748" v="134" actId="1076"/>
          <ac:spMkLst>
            <pc:docMk/>
            <pc:sldMk cId="2513032879" sldId="305"/>
            <ac:spMk id="6" creationId="{358F8E9F-FB8E-4CC7-B400-25E048014DF2}"/>
          </ac:spMkLst>
        </pc:spChg>
      </pc:sldChg>
      <pc:sldChg chg="modSp add mod">
        <pc:chgData name="Joaquín B" userId="3faa7ee38a323782" providerId="LiveId" clId="{D45F27CD-55AF-4EF5-B612-780D17D9D7A6}" dt="2026-09-29T13:08:37.281" v="137" actId="1076"/>
        <pc:sldMkLst>
          <pc:docMk/>
          <pc:sldMk cId="4042604503" sldId="306"/>
        </pc:sldMkLst>
        <pc:spChg chg="mod">
          <ac:chgData name="Joaquín B" userId="3faa7ee38a323782" providerId="LiveId" clId="{D45F27CD-55AF-4EF5-B612-780D17D9D7A6}" dt="2026-09-29T13:08:37.281" v="137" actId="1076"/>
          <ac:spMkLst>
            <pc:docMk/>
            <pc:sldMk cId="4042604503" sldId="306"/>
            <ac:spMk id="6" creationId="{358F8E9F-FB8E-4CC7-B400-25E048014DF2}"/>
          </ac:spMkLst>
        </pc:spChg>
      </pc:sldChg>
      <pc:sldChg chg="modSp add mod">
        <pc:chgData name="Joaquín B" userId="3faa7ee38a323782" providerId="LiveId" clId="{D45F27CD-55AF-4EF5-B612-780D17D9D7A6}" dt="2026-09-29T13:08:52.084" v="140" actId="1076"/>
        <pc:sldMkLst>
          <pc:docMk/>
          <pc:sldMk cId="1435916594" sldId="307"/>
        </pc:sldMkLst>
        <pc:spChg chg="mod">
          <ac:chgData name="Joaquín B" userId="3faa7ee38a323782" providerId="LiveId" clId="{D45F27CD-55AF-4EF5-B612-780D17D9D7A6}" dt="2026-09-29T13:08:52.084" v="140" actId="1076"/>
          <ac:spMkLst>
            <pc:docMk/>
            <pc:sldMk cId="1435916594" sldId="307"/>
            <ac:spMk id="6" creationId="{358F8E9F-FB8E-4CC7-B400-25E048014DF2}"/>
          </ac:spMkLst>
        </pc:spChg>
      </pc:sldChg>
      <pc:sldChg chg="modSp add mod">
        <pc:chgData name="Joaquín B" userId="3faa7ee38a323782" providerId="LiveId" clId="{D45F27CD-55AF-4EF5-B612-780D17D9D7A6}" dt="2026-09-29T13:09:07.827" v="142" actId="1076"/>
        <pc:sldMkLst>
          <pc:docMk/>
          <pc:sldMk cId="2902768892" sldId="308"/>
        </pc:sldMkLst>
        <pc:spChg chg="mod">
          <ac:chgData name="Joaquín B" userId="3faa7ee38a323782" providerId="LiveId" clId="{D45F27CD-55AF-4EF5-B612-780D17D9D7A6}" dt="2026-09-29T13:09:07.827" v="142" actId="1076"/>
          <ac:spMkLst>
            <pc:docMk/>
            <pc:sldMk cId="2902768892" sldId="308"/>
            <ac:spMk id="6" creationId="{358F8E9F-FB8E-4CC7-B400-25E048014DF2}"/>
          </ac:spMkLst>
        </pc:spChg>
      </pc:sldChg>
      <pc:sldChg chg="modSp add mod">
        <pc:chgData name="Joaquín B" userId="3faa7ee38a323782" providerId="LiveId" clId="{D45F27CD-55AF-4EF5-B612-780D17D9D7A6}" dt="2026-09-29T13:09:18.061" v="145" actId="1076"/>
        <pc:sldMkLst>
          <pc:docMk/>
          <pc:sldMk cId="3927105008" sldId="309"/>
        </pc:sldMkLst>
        <pc:spChg chg="mod">
          <ac:chgData name="Joaquín B" userId="3faa7ee38a323782" providerId="LiveId" clId="{D45F27CD-55AF-4EF5-B612-780D17D9D7A6}" dt="2026-09-29T13:09:18.061" v="145" actId="1076"/>
          <ac:spMkLst>
            <pc:docMk/>
            <pc:sldMk cId="3927105008" sldId="309"/>
            <ac:spMk id="6" creationId="{358F8E9F-FB8E-4CC7-B400-25E048014DF2}"/>
          </ac:spMkLst>
        </pc:spChg>
      </pc:sldChg>
      <pc:sldChg chg="modSp add mod">
        <pc:chgData name="Joaquín B" userId="3faa7ee38a323782" providerId="LiveId" clId="{D45F27CD-55AF-4EF5-B612-780D17D9D7A6}" dt="2026-09-29T13:09:27.388" v="147" actId="1076"/>
        <pc:sldMkLst>
          <pc:docMk/>
          <pc:sldMk cId="14835545" sldId="310"/>
        </pc:sldMkLst>
        <pc:spChg chg="mod">
          <ac:chgData name="Joaquín B" userId="3faa7ee38a323782" providerId="LiveId" clId="{D45F27CD-55AF-4EF5-B612-780D17D9D7A6}" dt="2026-09-29T13:09:27.388" v="147" actId="1076"/>
          <ac:spMkLst>
            <pc:docMk/>
            <pc:sldMk cId="14835545" sldId="310"/>
            <ac:spMk id="6" creationId="{358F8E9F-FB8E-4CC7-B400-25E048014DF2}"/>
          </ac:spMkLst>
        </pc:spChg>
      </pc:sldChg>
      <pc:sldChg chg="modSp add mod">
        <pc:chgData name="Joaquín B" userId="3faa7ee38a323782" providerId="LiveId" clId="{D45F27CD-55AF-4EF5-B612-780D17D9D7A6}" dt="2026-09-29T13:09:36.458" v="149" actId="1076"/>
        <pc:sldMkLst>
          <pc:docMk/>
          <pc:sldMk cId="779866440" sldId="311"/>
        </pc:sldMkLst>
        <pc:spChg chg="mod">
          <ac:chgData name="Joaquín B" userId="3faa7ee38a323782" providerId="LiveId" clId="{D45F27CD-55AF-4EF5-B612-780D17D9D7A6}" dt="2026-09-29T13:09:36.458" v="149" actId="1076"/>
          <ac:spMkLst>
            <pc:docMk/>
            <pc:sldMk cId="779866440" sldId="311"/>
            <ac:spMk id="6" creationId="{358F8E9F-FB8E-4CC7-B400-25E048014DF2}"/>
          </ac:spMkLst>
        </pc:spChg>
      </pc:sldChg>
      <pc:sldChg chg="modSp add mod">
        <pc:chgData name="Joaquín B" userId="3faa7ee38a323782" providerId="LiveId" clId="{D45F27CD-55AF-4EF5-B612-780D17D9D7A6}" dt="2026-09-29T13:10:11.907" v="152" actId="1076"/>
        <pc:sldMkLst>
          <pc:docMk/>
          <pc:sldMk cId="1935415860" sldId="312"/>
        </pc:sldMkLst>
        <pc:spChg chg="mod">
          <ac:chgData name="Joaquín B" userId="3faa7ee38a323782" providerId="LiveId" clId="{D45F27CD-55AF-4EF5-B612-780D17D9D7A6}" dt="2026-09-29T13:10:11.907" v="152" actId="1076"/>
          <ac:spMkLst>
            <pc:docMk/>
            <pc:sldMk cId="1935415860" sldId="312"/>
            <ac:spMk id="6" creationId="{358F8E9F-FB8E-4CC7-B400-25E048014DF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MX" sz="1400" b="1"/>
              <a:t>Tiempo promedio por algoritmo (ms)</a:t>
            </a:r>
          </a:p>
        </c:rich>
      </c:tx>
      <c:overlay val="0"/>
    </c:title>
    <c:autoTitleDeleted val="0"/>
    <c:plotArea>
      <c:layout/>
      <c:barChart>
        <c:barDir val="col"/>
        <c:grouping val="clustered"/>
        <c:varyColors val="1"/>
        <c:ser>
          <c:idx val="0"/>
          <c:order val="0"/>
          <c:tx>
            <c:strRef>
              <c:f>Sheet1!$B$1</c:f>
              <c:strCache>
                <c:ptCount val="1"/>
                <c:pt idx="0">
                  <c:v>Espera (ms)</c:v>
                </c:pt>
              </c:strCache>
            </c:strRef>
          </c:tx>
          <c:spPr>
            <a:solidFill>
              <a:srgbClr val="D13737"/>
            </a:solidFill>
          </c:spPr>
          <c:invertIfNegative val="1"/>
          <c:dLbls>
            <c:numFmt formatCode="0.00" sourceLinked="0"/>
            <c:spPr>
              <a:noFill/>
              <a:ln>
                <a:noFill/>
              </a:ln>
              <a:effectLst/>
            </c:spPr>
            <c:txPr>
              <a:bodyPr/>
              <a:lstStyle/>
              <a:p>
                <a:pPr>
                  <a:defRPr sz="11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FCFS</c:v>
                </c:pt>
                <c:pt idx="1">
                  <c:v>SJF</c:v>
                </c:pt>
                <c:pt idx="2">
                  <c:v>RR (q=4)</c:v>
                </c:pt>
                <c:pt idx="3">
                  <c:v>Prioridad</c:v>
                </c:pt>
              </c:strCache>
            </c:strRef>
          </c:cat>
          <c:val>
            <c:numRef>
              <c:f>Sheet1!$B$2:$B$5</c:f>
              <c:numCache>
                <c:formatCode>General</c:formatCode>
                <c:ptCount val="4"/>
                <c:pt idx="0">
                  <c:v>17</c:v>
                </c:pt>
                <c:pt idx="1">
                  <c:v>3</c:v>
                </c:pt>
                <c:pt idx="2">
                  <c:v>5.67</c:v>
                </c:pt>
                <c:pt idx="3">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7CC-4946-A201-A50DDA6E6288}"/>
            </c:ext>
          </c:extLst>
        </c:ser>
        <c:ser>
          <c:idx val="1"/>
          <c:order val="1"/>
          <c:tx>
            <c:strRef>
              <c:f>Sheet1!$C$1</c:f>
              <c:strCache>
                <c:ptCount val="1"/>
                <c:pt idx="0">
                  <c:v>Respuesta (ms)</c:v>
                </c:pt>
              </c:strCache>
            </c:strRef>
          </c:tx>
          <c:spPr>
            <a:solidFill>
              <a:srgbClr val="ED7D31"/>
            </a:solidFill>
          </c:spPr>
          <c:invertIfNegative val="1"/>
          <c:dLbls>
            <c:numFmt formatCode="0.00" sourceLinked="0"/>
            <c:spPr>
              <a:noFill/>
              <a:ln>
                <a:noFill/>
              </a:ln>
              <a:effectLst/>
            </c:spPr>
            <c:txPr>
              <a:bodyPr/>
              <a:lstStyle/>
              <a:p>
                <a:pPr>
                  <a:defRPr sz="11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FCFS</c:v>
                </c:pt>
                <c:pt idx="1">
                  <c:v>SJF</c:v>
                </c:pt>
                <c:pt idx="2">
                  <c:v>RR (q=4)</c:v>
                </c:pt>
                <c:pt idx="3">
                  <c:v>Prioridad</c:v>
                </c:pt>
              </c:strCache>
            </c:strRef>
          </c:cat>
          <c:val>
            <c:numRef>
              <c:f>Sheet1!$C$2:$C$5</c:f>
              <c:numCache>
                <c:formatCode>General</c:formatCode>
                <c:ptCount val="4"/>
                <c:pt idx="0">
                  <c:v>17</c:v>
                </c:pt>
                <c:pt idx="1">
                  <c:v>3</c:v>
                </c:pt>
                <c:pt idx="2">
                  <c:v>3.67</c:v>
                </c:pt>
                <c:pt idx="3">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7CC-4946-A201-A50DDA6E628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title>
          <c:tx>
            <c:rich>
              <a:bodyPr/>
              <a:lstStyle/>
              <a:p>
                <a:r>
                  <a:rPr lang="es-PE" sz="1200" b="1"/>
                  <a:t>Algoritmo de planificación</a:t>
                </a:r>
              </a:p>
            </c:rich>
          </c:tx>
          <c:overlay val="0"/>
        </c:title>
        <c:numFmt formatCode="General" sourceLinked="0"/>
        <c:majorTickMark val="out"/>
        <c:minorTickMark val="none"/>
        <c:tickLblPos val="nextTo"/>
        <c:txPr>
          <a:bodyPr/>
          <a:lstStyle/>
          <a:p>
            <a:pPr>
              <a:defRPr sz="1200"/>
            </a:pPr>
            <a:endParaRPr lang="es-PE"/>
          </a:p>
        </c:txPr>
        <c:crossAx val="-2113994440"/>
        <c:crosses val="autoZero"/>
        <c:auto val="1"/>
        <c:lblAlgn val="ctr"/>
        <c:lblOffset val="100"/>
        <c:noMultiLvlLbl val="0"/>
      </c:catAx>
      <c:valAx>
        <c:axId val="-2113994440"/>
        <c:scaling>
          <c:orientation val="minMax"/>
        </c:scaling>
        <c:delete val="0"/>
        <c:axPos val="l"/>
        <c:title>
          <c:tx>
            <c:rich>
              <a:bodyPr/>
              <a:lstStyle/>
              <a:p>
                <a:r>
                  <a:rPr lang="es-PE" sz="1200" b="1"/>
                  <a:t>Tiempo promedio (ms)</a:t>
                </a:r>
              </a:p>
            </c:rich>
          </c:tx>
          <c:overlay val="0"/>
        </c:title>
        <c:numFmt formatCode="General" sourceLinked="1"/>
        <c:majorTickMark val="out"/>
        <c:minorTickMark val="none"/>
        <c:tickLblPos val="nextTo"/>
        <c:txPr>
          <a:bodyPr/>
          <a:lstStyle/>
          <a:p>
            <a:pPr>
              <a:defRPr sz="1200"/>
            </a:pPr>
            <a:endParaRPr lang="es-PE"/>
          </a:p>
        </c:txPr>
        <c:crossAx val="-2068027336"/>
        <c:crosses val="autoZero"/>
        <c:crossBetween val="between"/>
      </c:valAx>
    </c:plotArea>
    <c:legend>
      <c:legendPos val="b"/>
      <c:overlay val="0"/>
      <c:txPr>
        <a:bodyPr/>
        <a:lstStyle/>
        <a:p>
          <a:pPr>
            <a:defRPr sz="1200"/>
          </a:pPr>
          <a:endParaRPr lang="es-PE"/>
        </a:p>
      </c:txPr>
    </c:legend>
    <c:plotVisOnly val="1"/>
    <c:dispBlanksAs val="gap"/>
    <c:showDLblsOverMax val="1"/>
  </c:chart>
  <c:txPr>
    <a:bodyPr/>
    <a:lstStyle/>
    <a:p>
      <a:pPr>
        <a:defRPr sz="1200"/>
      </a:pPr>
      <a:endParaRPr lang="es-PE"/>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A89E26-FCE5-4C53-9B25-E73476F0A4BC}" type="datetimeFigureOut">
              <a:rPr lang="es-PE" smtClean="0"/>
              <a:t>13/10/2026</a:t>
            </a:fld>
            <a:endParaRPr lang="es-PE"/>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CDE271-D19B-4831-B691-13950C15E131}" type="slidenum">
              <a:rPr lang="es-PE" smtClean="0"/>
              <a:t>‹Nº›</a:t>
            </a:fld>
            <a:endParaRPr lang="es-P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871B33-E6C6-46CC-B633-20A28F86FFEC}" type="datetimeFigureOut">
              <a:rPr lang="es-PE" smtClean="0"/>
              <a:t>13/10/2026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2437D-F57D-40F5-B73B-40B5390508D5}" type="slidenum">
              <a:rPr lang="es-PE" smtClean="0"/>
              <a:t>‹Nº›</a:t>
            </a:fld>
            <a:endParaRPr lang="es-P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Presentación del proyecto integrador del curso. NexusOS-Sim es un simulador de sistema operativo en Python que responde al caso NexusBank. Duración prevista: 10 a 15 minutos.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Objetivo general y tres específicos. Cada objetivo se evidencia con un módulo del simulador y con resultados cuantitativos que se muestran más adelante.</a:t>
            </a:r>
          </a:p>
          <a:p>
            <a:endParaRPr/>
          </a:p>
          <a:p>
            <a:r>
              <a:t>Enlace con la siguiente diapositiva: Para saber hacia dónde vamos, primero conozcamos al banco que nos pidió ayuda: NexusBank.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NexusBank pasó de banco tradicional a plataforma digital con millones de transacciones diarias. La auditoría externa concluyó que los fallos están en la gestión de recursos del sistema operativo. Los cinco problemas de la derecha son los que el simulador debe atacar.</a:t>
            </a:r>
          </a:p>
          <a:p>
            <a:endParaRPr/>
          </a:p>
          <a:p>
            <a:r>
              <a:t>Enlace con la siguiente diapositiva: Con estos cinco problemas: ¿cómo probar una solución sin arriesgar dinero real?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Probar cambios en producción sería catastrófico. La alternativa es simular: NexusOS-Sim modela, evalúa y compara algoritmos sin tocar dinero real. La tabla vincula cada problema con el módulo que lo resuelve y su estado actual.</a:t>
            </a:r>
          </a:p>
          <a:p>
            <a:endParaRPr/>
          </a:p>
          <a:p>
            <a:r>
              <a:t>Enlace con la siguiente diapositiva: La respuesta fue construir un simulador. Veamos qué puede hacer.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de capacidades. Todo se opera desde un shell interactivo, lo que permite la demostración en vivo.</a:t>
            </a:r>
          </a:p>
          <a:p>
            <a:endParaRPr/>
          </a:p>
          <a:p>
            <a:r>
              <a:t>Enlace con la siguiente diapositiva: Cada capacidad responde a un problema del banco; así se conecta todo.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flujograma principal del proyecto: parte de los cinco problemas del banco, pasa por el módulo que ataca cada uno, converge en NexusOS-Sim y termina en el reporte cuantitativo. Verde: implementado; amarillo discontinuo: pendiente. Es importante porque conecta cada decisión técnica con una necesidad del caso.</a:t>
            </a:r>
          </a:p>
          <a:p>
            <a:endParaRPr/>
          </a:p>
          <a:p>
            <a:r>
              <a:t>Enlace con la siguiente diapositiva: Ahora abramos el simulador y veamos cómo está organizado por dentro.</a:t>
            </a:r>
          </a:p>
          <a:p>
            <a:endParaRPr/>
          </a:p>
          <a:p>
            <a:r>
              <a:t>Formato: el círculo verde marca el inicio y el rojo el fin del flujograma.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arquitectura separa modo usuario (main, shell y sistema de archivos simulado) del núcleo simulado (procesos, planificador, sincronización, memoria y demo de hilos). El shell es el único punto de entrada a los módulos, lo que facilita probarlos por separado.</a:t>
            </a:r>
          </a:p>
          <a:p>
            <a:endParaRPr/>
          </a:p>
          <a:p>
            <a:r>
              <a:t>Enlace con la siguiente diapositiva: Todo empieza en el shell: así recibe y procesa cada orden del usuario.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arranque configura UTF-8, crea el Shell y registra los comandos. Luego entra en un bucle: lee, interpreta, valida y ejecuta. Cualquier excepción se captura y se imprime como error sin tumbar el simulador.</a:t>
            </a:r>
          </a:p>
          <a:p>
            <a:endParaRPr/>
          </a:p>
          <a:p>
            <a:r>
              <a:t>Enlace con la siguiente diapositiva: Cada orden crea procesos; veamos cómo los representa el sistema.</a:t>
            </a:r>
          </a:p>
          <a:p>
            <a:endParaRPr/>
          </a:p>
          <a:p>
            <a:r>
              <a:t>Formato: inicio (verde) y fin (rojo); las tres salidas convergen en un único fin.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PCB es la estructura central. Las transiciones de estado están validadas: una transición ilegal lanza ErrorProceso. Los datos llegada, ráfaga y prioridad son los que consume el planificador.</a:t>
            </a:r>
          </a:p>
          <a:p>
            <a:endParaRPr/>
          </a:p>
          <a:p>
            <a:r>
              <a:t>Enlace con la siguiente diapositiva: Con los procesos listos, ¿quién decide cuál usa primero el procesador? El planificador.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cuatro algoritmos implementados como métodos independientes de la clase Planificador. Menor número de prioridad significa mayor prioridad.</a:t>
            </a:r>
          </a:p>
          <a:p>
            <a:endParaRPr/>
          </a:p>
          <a:p>
            <a:r>
              <a:t>Enlace con la siguiente diapositiva: Veamos qué pasa cuando una transferencia pesada llega antes que dos consultas de saldo.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clásico en t=0: una transferencia de ráfaga 24 y dos consultas de saldo de ráfaga 3. Con FCFS las consultas esperan 24 y 27 unidades. SJF las atiende primero. Round Robin con q=4 reparte la CPU.</a:t>
            </a:r>
          </a:p>
          <a:p>
            <a:endParaRPr/>
          </a:p>
          <a:p>
            <a:r>
              <a:t>Enlace con la siguiente diapositiva: ¿Cuánto mejora cada algoritmo? Comparemos los números.</a:t>
            </a:r>
          </a:p>
          <a:p>
            <a:endParaRPr/>
          </a:p>
          <a:p>
            <a:r>
              <a:t>Unidad de tiempo: milisegundos (ms); un eje X en ms y un eje Y con los algoritmos.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Resultados reales del comando planificar todos 4 con el caso 24/3/3. SJF minimiza la espera (3.00), Round Robin logra una respuesta equilibrada (3.67) y FCFS y Prioridad coinciden (17.00) porque la transferencia crítica tiene la mayor prioridad y se atiende primero.</a:t>
            </a:r>
          </a:p>
          <a:p>
            <a:endParaRPr/>
          </a:p>
          <a:p>
            <a:r>
              <a:t>Enlace con la siguiente diapositiva: Pero atender rápido no basta: dos procesos no deben tocar la misma cuenta a la vez.</a:t>
            </a:r>
          </a:p>
          <a:p>
            <a:endParaRPr/>
          </a:p>
          <a:p>
            <a:r>
              <a:t>Ejes: X = algoritmo, Y = tiempo promedio en ms. Leyenda: espera (rojo) y respuesta (naranja).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búfer acotado protegido por mutex con dos semáforos: vacíos cuenta huecos y llenos cuenta ítems. El orden de adquisición vacíos o llenos primero y luego mutex es esencial: el inverso provoca interbloqueo. La verificación confirma que lo consumido es exactamente lo producido y que la ocupación nunca supera la capacidad.</a:t>
            </a:r>
          </a:p>
          <a:p>
            <a:endParaRPr/>
          </a:p>
          <a:p>
            <a:r>
              <a:t>Enlace con la siguiente diapositiva: Y cuando varios procesos compiten por los mismos recursos, puede aparecer el interbloqueo.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el modo ingenuo todos toman primero el tenedor izquierdo y se forma espera circular: interbloqueo determinista, que se detecta con timeout. En el modo asimétrico, el último filósofo toma los tenedores en orden inverso, rompiendo el ciclo; todos completan sus comidas.</a:t>
            </a:r>
          </a:p>
          <a:p>
            <a:endParaRPr/>
          </a:p>
          <a:p>
            <a:r>
              <a:t>Enlace con la siguiente diapositiva: Con la CPU y la concurrencia bajo control, falta resolver dónde viven los datos: la memoria.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Dos esquemas. La asignación contigua usa first, best o worst fit y distingue memoria insuficiente de fragmentación externa. La paginación divide la RAM en marcos y asigna páginas no contiguas con una tabla de páginas por proceso. Datos del ejemplo: 1000 unidades contiguas y 16 marcos de 256 bytes.</a:t>
            </a:r>
          </a:p>
          <a:p>
            <a:endParaRPr/>
          </a:p>
          <a:p>
            <a:r>
              <a:t>Enlace con la siguiente diapositiva: Y cada proceso debe ver solo su propia memoria: así se protege el saldo de cada cliente.</a:t>
            </a:r>
          </a:p>
          <a:p>
            <a:endParaRPr/>
          </a:p>
          <a:p>
            <a:r>
              <a:t>Unidades de memoria: bytes (B). 1000 B contiguos y 16 marcos de 256 B.</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función traducir_direccion calcula página y desplazamiento, busca el marco en la tabla de páginas y devuelve la dirección física. Si la dirección es negativa, mayor o igual al tamaño lógico, o el proceso no tiene memoria, lanza SegmentationFault: eso es la protección de memoria.</a:t>
            </a:r>
          </a:p>
          <a:p>
            <a:endParaRPr/>
          </a:p>
          <a:p>
            <a:r>
              <a:t>Enlace con la siguiente diapositiva: Veamos todo esto funcionando en vivo.</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Demostración en vivo: python src/main.py. Crear los tres procesos del caso, ejecutar planificar todos 4, asignar memoria paginada y mostrar una traducción válida y un segmentation fault. También se pueden mostrar simular_filosofos ingenuo y asimetrico.</a:t>
            </a:r>
          </a:p>
          <a:p>
            <a:endParaRPr/>
          </a:p>
          <a:p>
            <a:r>
              <a:t>Enlace: cerramos la demostración con lo que falta por construir (hoja de ruta).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Criterios de la rúbrica: código modular y legible, control de versiones con commits claros, pruebas automatizadas y documentación con diagramas. Las pruebas con hilos se ejecutaron seis veces seguidas sin fallos para descartar inestabilidad.</a:t>
            </a:r>
          </a:p>
          <a:p>
            <a:endParaRPr/>
          </a:p>
          <a:p>
            <a:r>
              <a:t>Enlace con la siguiente diapositiva: Entonces, ¿qué falta por construir? Esta es nuestra hoja de ruta.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tres primeras fases (semanas 1 a 6) están completas y cubren el alcance del examen parcial. Queda reemplazo de páginas, E/S y archivos, seguridad, virtualización y sistemas distribuidos.</a:t>
            </a:r>
          </a:p>
          <a:p>
            <a:endParaRPr/>
          </a:p>
          <a:p>
            <a:r>
              <a:t>Enlace con la siguiente diapositiva: Con lo aprendido, esto es lo que le recomendamos a NexusBank.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Recomendaciones derivadas de los resultados del simulador para NexusBank. La de prioridad con envejecimiento es una propuesta y no está implementada todavía.</a:t>
            </a:r>
          </a:p>
          <a:p>
            <a:endParaRPr/>
          </a:p>
          <a:p>
            <a:r>
              <a:t>Enlace con la siguiente diapositiva: En resumen, esto es lo que logramos.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Cerrar con los tres hallazgos cuantitativos y el estado del proyecto.</a:t>
            </a:r>
          </a:p>
          <a:p>
            <a:endParaRPr/>
          </a:p>
          <a:p>
            <a:r>
              <a:t>Enlace con la siguiente diapositiva: Gracias por acompañarnos en esta historia.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219362" y="365126"/>
            <a:ext cx="10910455" cy="740268"/>
          </a:xfrm>
          <a:prstGeom prst="rect">
            <a:avLst/>
          </a:prstGeom>
        </p:spPr>
        <p:txBody>
          <a:bodyPr/>
          <a:lstStyle>
            <a:lvl1pPr>
              <a:defRPr b="1"/>
            </a:lvl1pPr>
          </a:lstStyle>
          <a:p>
            <a:r>
              <a:rPr lang="es-ES" dirty="0"/>
              <a:t>Haga clic para modificar el estilo de título del patrón</a:t>
            </a:r>
            <a:endParaRPr lang="es-PE" dirty="0"/>
          </a:p>
        </p:txBody>
      </p:sp>
      <p:sp>
        <p:nvSpPr>
          <p:cNvPr id="3" name="Marcador de contenido 2"/>
          <p:cNvSpPr>
            <a:spLocks noGrp="1"/>
          </p:cNvSpPr>
          <p:nvPr>
            <p:ph idx="1" hasCustomPrompt="1"/>
          </p:nvPr>
        </p:nvSpPr>
        <p:spPr>
          <a:xfrm>
            <a:off x="219361" y="1524000"/>
            <a:ext cx="11741729" cy="4652963"/>
          </a:xfrm>
          <a:prstGeom prst="rect">
            <a:avLst/>
          </a:prstGeo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5" name="Marcador de pie de página 4"/>
          <p:cNvSpPr>
            <a:spLocks noGrp="1"/>
          </p:cNvSpPr>
          <p:nvPr>
            <p:ph type="ftr" sz="quarter" idx="11"/>
          </p:nvPr>
        </p:nvSpPr>
        <p:spPr>
          <a:xfrm>
            <a:off x="219361" y="6310310"/>
            <a:ext cx="4114800" cy="365125"/>
          </a:xfrm>
          <a:prstGeom prst="rect">
            <a:avLst/>
          </a:prstGeom>
        </p:spPr>
        <p:txBody>
          <a:bodyPr/>
          <a:lstStyle>
            <a:lvl1pPr algn="l">
              <a:defRPr b="1"/>
            </a:lvl1pPr>
          </a:lstStyle>
          <a:p>
            <a:r>
              <a:rPr lang="es-MX"/>
              <a:t>UNIVERSIDAD NACIONAL DE INGENIERÍA - Facultad de Ingeniería Industrial y de Sistemas</a:t>
            </a:r>
            <a:endParaRPr lang="es-PE"/>
          </a:p>
        </p:txBody>
      </p:sp>
      <p:sp>
        <p:nvSpPr>
          <p:cNvPr id="6" name="Marcador de número de diapositiva 5"/>
          <p:cNvSpPr>
            <a:spLocks noGrp="1"/>
          </p:cNvSpPr>
          <p:nvPr>
            <p:ph type="sldNum" sz="quarter" idx="12"/>
          </p:nvPr>
        </p:nvSpPr>
        <p:spPr>
          <a:xfrm>
            <a:off x="9217890" y="6310311"/>
            <a:ext cx="2743200" cy="365125"/>
          </a:xfrm>
          <a:prstGeom prst="rect">
            <a:avLst/>
          </a:prstGeom>
        </p:spPr>
        <p:txBody>
          <a:bodyPr/>
          <a:lstStyle>
            <a:lvl1pPr>
              <a:defRPr b="1"/>
            </a:lvl1pPr>
          </a:lstStyle>
          <a:p>
            <a:fld id="{FD893A87-61E3-481B-93E6-F0B53A1E29F2}" type="slidenum">
              <a:rPr lang="es-PE" smtClean="0"/>
              <a:t>‹Nº›</a:t>
            </a:fld>
            <a:endParaRPr lang="es-PE"/>
          </a:p>
        </p:txBody>
      </p:sp>
      <p:sp>
        <p:nvSpPr>
          <p:cNvPr id="7" name="Rectángulo 6"/>
          <p:cNvSpPr/>
          <p:nvPr userDrawn="1"/>
        </p:nvSpPr>
        <p:spPr>
          <a:xfrm>
            <a:off x="-1" y="1196830"/>
            <a:ext cx="11129817" cy="45719"/>
          </a:xfrm>
          <a:prstGeom prst="rect">
            <a:avLst/>
          </a:prstGeom>
          <a:solidFill>
            <a:srgbClr val="D13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9" name="Rectángulo 8"/>
          <p:cNvSpPr/>
          <p:nvPr userDrawn="1"/>
        </p:nvSpPr>
        <p:spPr>
          <a:xfrm>
            <a:off x="-1" y="1196830"/>
            <a:ext cx="11129817" cy="45719"/>
          </a:xfrm>
          <a:prstGeom prst="rect">
            <a:avLst/>
          </a:prstGeom>
          <a:solidFill>
            <a:srgbClr val="D13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Título 1"/>
          <p:cNvSpPr>
            <a:spLocks noGrp="1"/>
          </p:cNvSpPr>
          <p:nvPr>
            <p:ph type="title"/>
          </p:nvPr>
        </p:nvSpPr>
        <p:spPr>
          <a:xfrm>
            <a:off x="219362" y="365126"/>
            <a:ext cx="10910455" cy="740268"/>
          </a:xfrm>
          <a:prstGeom prst="rect">
            <a:avLst/>
          </a:prstGeom>
        </p:spPr>
        <p:txBody>
          <a:bodyPr/>
          <a:lstStyle>
            <a:lvl1pPr>
              <a:defRPr b="1"/>
            </a:lvl1pPr>
          </a:lstStyle>
          <a:p>
            <a:r>
              <a:rPr lang="es-ES" dirty="0"/>
              <a:t>Haga clic para modificar el estilo de título del patrón</a:t>
            </a:r>
            <a:endParaRPr lang="es-PE" dirty="0"/>
          </a:p>
        </p:txBody>
      </p:sp>
      <p:sp>
        <p:nvSpPr>
          <p:cNvPr id="11" name="Marcador de pie de página 4"/>
          <p:cNvSpPr>
            <a:spLocks noGrp="1"/>
          </p:cNvSpPr>
          <p:nvPr>
            <p:ph type="ftr" sz="quarter" idx="11"/>
          </p:nvPr>
        </p:nvSpPr>
        <p:spPr>
          <a:xfrm>
            <a:off x="219361" y="6310310"/>
            <a:ext cx="4114800" cy="365125"/>
          </a:xfrm>
          <a:prstGeom prst="rect">
            <a:avLst/>
          </a:prstGeom>
        </p:spPr>
        <p:txBody>
          <a:bodyPr/>
          <a:lstStyle>
            <a:lvl1pPr algn="l">
              <a:defRPr b="1"/>
            </a:lvl1pPr>
          </a:lstStyle>
          <a:p>
            <a:r>
              <a:rPr lang="es-MX"/>
              <a:t>UNIVERSIDAD NACIONAL DE INGENIERÍA - Facultad de Ingeniería Industrial y de Sistemas</a:t>
            </a:r>
            <a:endParaRPr lang="es-PE"/>
          </a:p>
        </p:txBody>
      </p:sp>
      <p:sp>
        <p:nvSpPr>
          <p:cNvPr id="12" name="Marcador de número de diapositiva 5"/>
          <p:cNvSpPr>
            <a:spLocks noGrp="1"/>
          </p:cNvSpPr>
          <p:nvPr>
            <p:ph type="sldNum" sz="quarter" idx="12"/>
          </p:nvPr>
        </p:nvSpPr>
        <p:spPr>
          <a:xfrm>
            <a:off x="9217890" y="6310311"/>
            <a:ext cx="2743200" cy="365125"/>
          </a:xfrm>
          <a:prstGeom prst="rect">
            <a:avLst/>
          </a:prstGeom>
        </p:spPr>
        <p:txBody>
          <a:bodyPr/>
          <a:lstStyle>
            <a:lvl1pPr>
              <a:defRPr b="1"/>
            </a:lvl1pPr>
          </a:lstStyle>
          <a:p>
            <a:fld id="{FD893A87-61E3-481B-93E6-F0B53A1E29F2}" type="slidenum">
              <a:rPr lang="es-PE" smtClean="0"/>
              <a:t>‹Nº›</a:t>
            </a:fld>
            <a:endParaRPr lang="es-P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Marcador de pie de página 4"/>
          <p:cNvSpPr>
            <a:spLocks noGrp="1"/>
          </p:cNvSpPr>
          <p:nvPr>
            <p:ph type="ftr" sz="quarter" idx="11"/>
          </p:nvPr>
        </p:nvSpPr>
        <p:spPr>
          <a:xfrm>
            <a:off x="219361" y="6310310"/>
            <a:ext cx="4114800" cy="365125"/>
          </a:xfrm>
          <a:prstGeom prst="rect">
            <a:avLst/>
          </a:prstGeom>
        </p:spPr>
        <p:txBody>
          <a:bodyPr/>
          <a:lstStyle>
            <a:lvl1pPr algn="l">
              <a:defRPr b="1"/>
            </a:lvl1pPr>
          </a:lstStyle>
          <a:p>
            <a:r>
              <a:rPr lang="es-MX"/>
              <a:t>UNIVERSIDAD NACIONAL DE INGENIERÍA - Facultad de Ingeniería Industrial y de Sistemas</a:t>
            </a:r>
            <a:endParaRPr lang="es-PE"/>
          </a:p>
        </p:txBody>
      </p:sp>
      <p:sp>
        <p:nvSpPr>
          <p:cNvPr id="8" name="Marcador de número de diapositiva 5"/>
          <p:cNvSpPr>
            <a:spLocks noGrp="1"/>
          </p:cNvSpPr>
          <p:nvPr>
            <p:ph type="sldNum" sz="quarter" idx="12"/>
          </p:nvPr>
        </p:nvSpPr>
        <p:spPr>
          <a:xfrm>
            <a:off x="9217890" y="6310311"/>
            <a:ext cx="2743200" cy="365125"/>
          </a:xfrm>
          <a:prstGeom prst="rect">
            <a:avLst/>
          </a:prstGeom>
        </p:spPr>
        <p:txBody>
          <a:bodyPr/>
          <a:lstStyle>
            <a:lvl1pPr>
              <a:defRPr b="1"/>
            </a:lvl1pPr>
          </a:lstStyle>
          <a:p>
            <a:fld id="{FD893A87-61E3-481B-93E6-F0B53A1E29F2}" type="slidenum">
              <a:rPr lang="es-PE" smtClean="0"/>
              <a:t>‹Nº›</a:t>
            </a:fld>
            <a:endParaRPr lang="es-P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Agradecimiento">
    <p:spTree>
      <p:nvGrpSpPr>
        <p:cNvPr id="1" name=""/>
        <p:cNvGrpSpPr/>
        <p:nvPr/>
      </p:nvGrpSpPr>
      <p:grpSpPr>
        <a:xfrm>
          <a:off x="0" y="0"/>
          <a:ext cx="0" cy="0"/>
          <a:chOff x="0" y="0"/>
          <a:chExt cx="0" cy="0"/>
        </a:xfrm>
      </p:grpSpPr>
      <p:sp>
        <p:nvSpPr>
          <p:cNvPr id="2" name="CuadroTexto 1"/>
          <p:cNvSpPr txBox="1"/>
          <p:nvPr userDrawn="1"/>
        </p:nvSpPr>
        <p:spPr>
          <a:xfrm>
            <a:off x="2106608" y="2367171"/>
            <a:ext cx="7978784" cy="2123658"/>
          </a:xfrm>
          <a:prstGeom prst="rect">
            <a:avLst/>
          </a:prstGeom>
          <a:noFill/>
        </p:spPr>
        <p:txBody>
          <a:bodyPr wrap="square" rtlCol="0">
            <a:spAutoFit/>
          </a:bodyPr>
          <a:lstStyle/>
          <a:p>
            <a:pPr algn="ctr"/>
            <a:r>
              <a:rPr lang="es-MX" sz="6600" b="1" dirty="0"/>
              <a:t>¡Muchas gracias por su atención!</a:t>
            </a:r>
            <a:endParaRPr lang="es-PE" sz="6600" b="1"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DDDDD"/>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MX"/>
              <a:t>UNIVERSIDAD NACIONAL DE INGENIERÍA - Facultad de Ingeniería Industrial y de Sistemas</a:t>
            </a:r>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893A87-61E3-481B-93E6-F0B53A1E29F2}" type="slidenum">
              <a:rPr lang="es-PE" smtClean="0"/>
              <a:t>‹Nº›</a:t>
            </a:fld>
            <a:endParaRPr lang="es-P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482500"/>
            <a:ext cx="9144000" cy="1967970"/>
          </a:xfrm>
        </p:spPr>
        <p:txBody>
          <a:bodyPr anchor="ctr">
            <a:noAutofit/>
          </a:bodyPr>
          <a:lstStyle/>
          <a:p>
            <a:r>
              <a:rPr lang="es-MX" sz="3600" b="1" dirty="0"/>
              <a:t>Proyecto final: NexusOS-Sim, simulador de un sistema operativo</a:t>
            </a:r>
            <a:endParaRPr lang="es-PE" sz="4000" b="1" dirty="0"/>
          </a:p>
        </p:txBody>
      </p:sp>
      <p:grpSp>
        <p:nvGrpSpPr>
          <p:cNvPr id="7" name="Grupo 6"/>
          <p:cNvGrpSpPr/>
          <p:nvPr/>
        </p:nvGrpSpPr>
        <p:grpSpPr>
          <a:xfrm>
            <a:off x="2866344" y="295547"/>
            <a:ext cx="6459311" cy="905701"/>
            <a:chOff x="3166533" y="346347"/>
            <a:chExt cx="6459311" cy="905701"/>
          </a:xfrm>
        </p:grpSpPr>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6533" y="346347"/>
              <a:ext cx="720239" cy="905701"/>
            </a:xfrm>
            <a:prstGeom prst="rect">
              <a:avLst/>
            </a:prstGeom>
          </p:spPr>
        </p:pic>
        <p:sp>
          <p:nvSpPr>
            <p:cNvPr id="6" name="CuadroTexto 5"/>
            <p:cNvSpPr txBox="1"/>
            <p:nvPr/>
          </p:nvSpPr>
          <p:spPr>
            <a:xfrm>
              <a:off x="3886772" y="476032"/>
              <a:ext cx="5739072" cy="646331"/>
            </a:xfrm>
            <a:prstGeom prst="rect">
              <a:avLst/>
            </a:prstGeom>
            <a:noFill/>
          </p:spPr>
          <p:txBody>
            <a:bodyPr wrap="none" rtlCol="0">
              <a:spAutoFit/>
            </a:bodyPr>
            <a:lstStyle/>
            <a:p>
              <a:r>
                <a:rPr lang="es-MX" b="1" dirty="0">
                  <a:latin typeface="Poppins" panose="00000500000000000000" pitchFamily="2" charset="0"/>
                  <a:cs typeface="Poppins" panose="00000500000000000000" pitchFamily="2" charset="0"/>
                </a:rPr>
                <a:t>UNIVERSIDAD NACIONAL DE INGENIERÍA</a:t>
              </a:r>
            </a:p>
            <a:p>
              <a:r>
                <a:rPr lang="es-MX" b="1" dirty="0">
                  <a:latin typeface="Poppins" panose="00000500000000000000" pitchFamily="2" charset="0"/>
                  <a:cs typeface="Poppins" panose="00000500000000000000" pitchFamily="2" charset="0"/>
                </a:rPr>
                <a:t>Facultad de Ingeniería Industrial y de Sistemas</a:t>
              </a:r>
              <a:endParaRPr lang="es-PE" b="1" dirty="0">
                <a:latin typeface="Poppins" panose="00000500000000000000" pitchFamily="2" charset="0"/>
                <a:cs typeface="Poppins" panose="00000500000000000000" pitchFamily="2" charset="0"/>
              </a:endParaRPr>
            </a:p>
          </p:txBody>
        </p:sp>
      </p:grpSp>
      <p:sp>
        <p:nvSpPr>
          <p:cNvPr id="8" name="CuadroTexto 7"/>
          <p:cNvSpPr txBox="1"/>
          <p:nvPr/>
        </p:nvSpPr>
        <p:spPr>
          <a:xfrm>
            <a:off x="2327563" y="3429000"/>
            <a:ext cx="7536873" cy="2862322"/>
          </a:xfrm>
          <a:prstGeom prst="rect">
            <a:avLst/>
          </a:prstGeom>
          <a:noFill/>
        </p:spPr>
        <p:txBody>
          <a:bodyPr wrap="square" rtlCol="0">
            <a:spAutoFit/>
          </a:bodyPr>
          <a:lstStyle/>
          <a:p>
            <a:r>
              <a:rPr lang="es-MX" sz="1800" b="1" dirty="0"/>
              <a:t>Curso: </a:t>
            </a:r>
            <a:r>
              <a:rPr lang="es-MX" sz="1800" dirty="0"/>
              <a:t>Sistemas Operativos (SI421V / SW407V)</a:t>
            </a:r>
          </a:p>
          <a:p>
            <a:r>
              <a:rPr lang="es-MX" sz="1800" b="1" dirty="0"/>
              <a:t>Docente: </a:t>
            </a:r>
            <a:r>
              <a:rPr lang="es-MX" sz="1800" dirty="0" err="1"/>
              <a:t>Jose</a:t>
            </a:r>
            <a:r>
              <a:rPr lang="es-MX" sz="1800" dirty="0"/>
              <a:t> Carlos </a:t>
            </a:r>
            <a:r>
              <a:rPr lang="es-MX" sz="1800" dirty="0" err="1"/>
              <a:t>Garcia</a:t>
            </a:r>
            <a:r>
              <a:rPr lang="es-MX" sz="1800" dirty="0"/>
              <a:t> La Riva</a:t>
            </a:r>
          </a:p>
          <a:p>
            <a:r>
              <a:rPr lang="es-MX" sz="1800" b="1" dirty="0"/>
              <a:t>Ciclo:</a:t>
            </a:r>
            <a:r>
              <a:rPr lang="es-MX" sz="1800" dirty="0"/>
              <a:t> 2026-2</a:t>
            </a:r>
          </a:p>
          <a:p>
            <a:r>
              <a:rPr lang="es-MX" sz="1800" b="1" dirty="0"/>
              <a:t>Integrantes (Grupo L):</a:t>
            </a:r>
          </a:p>
          <a:p>
            <a:pPr marL="342900" indent="-342900">
              <a:buFont typeface="Arial" panose="020B0604020202020204" pitchFamily="34" charset="0"/>
              <a:buChar char="•"/>
              <a:tabLst>
                <a:tab pos="5120640" algn="l"/>
              </a:tabLst>
            </a:pPr>
            <a:r>
              <a:rPr lang="es-MX" sz="1800" dirty="0"/>
              <a:t>Berrospi Frias, Mauricio Joaquin	(20254068K)</a:t>
            </a:r>
          </a:p>
          <a:p>
            <a:pPr marL="342900" indent="-342900">
              <a:buFont typeface="Arial" panose="020B0604020202020204" pitchFamily="34" charset="0"/>
              <a:buChar char="•"/>
              <a:tabLst>
                <a:tab pos="5120640" algn="l"/>
              </a:tabLst>
            </a:pPr>
            <a:r>
              <a:rPr lang="en-US" sz="1800" dirty="0" err="1"/>
              <a:t>Casazola Ninantay, Ray Brian	(20245025K)</a:t>
            </a:r>
            <a:endParaRPr lang="es-MX" sz="2000" dirty="0"/>
          </a:p>
          <a:p>
            <a:pPr marL="342900" indent="-342900">
              <a:buFont typeface="Arial" panose="020B0604020202020204" pitchFamily="34" charset="0"/>
              <a:buChar char="•"/>
              <a:tabLst>
                <a:tab pos="5120640" algn="l"/>
              </a:tabLst>
            </a:pPr>
            <a:r>
              <a:rPr lang="es-MX" sz="1800" dirty="0"/>
              <a:t>Rilo Solano, Jarem Edward	(20241087A)</a:t>
            </a:r>
          </a:p>
          <a:p>
            <a:pPr marL="342900" indent="-342900">
              <a:buFont typeface="Arial" panose="020B0604020202020204" pitchFamily="34" charset="0"/>
              <a:buChar char="•"/>
              <a:tabLst>
                <a:tab pos="5120640" algn="l"/>
              </a:tabLst>
            </a:pPr>
            <a:r>
              <a:rPr lang="es-MX" sz="1800" dirty="0"/>
              <a:t>Montesinos Parisaca, Tupac Russell	(20244839D)</a:t>
            </a:r>
            <a:endParaRPr lang="es-PE"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Objetivos del proyecto</a:t>
            </a:r>
          </a:p>
        </p:txBody>
      </p:sp>
      <p:sp>
        <p:nvSpPr>
          <p:cNvPr id="3" name="Content Placeholder 2"/>
          <p:cNvSpPr>
            <a:spLocks noGrp="1"/>
          </p:cNvSpPr>
          <p:nvPr>
            <p:ph idx="1"/>
          </p:nvPr>
        </p:nvSpPr>
        <p:spPr>
          <a:xfrm>
            <a:off x="219456" y="1527048"/>
            <a:ext cx="11740896" cy="4654296"/>
          </a:xfrm>
        </p:spPr>
        <p:txBody>
          <a:bodyPr wrap="square">
            <a:noAutofit/>
          </a:bodyPr>
          <a:lstStyle/>
          <a:p>
            <a:pPr>
              <a:spcBef>
                <a:spcPts val="1800"/>
              </a:spcBef>
            </a:pPr>
            <a:r>
              <a:rPr sz="2400" b="1"/>
              <a:t>Diseñar e implementar</a:t>
            </a:r>
            <a:r>
              <a:rPr sz="2400"/>
              <a:t> NexusOS-Sim, un simulador modular de sistema operativo en Python que permita evaluar algoritmos de gestión de recursos bajo estrés bancario</a:t>
            </a:r>
          </a:p>
          <a:p>
            <a:pPr>
              <a:spcBef>
                <a:spcPts val="1800"/>
              </a:spcBef>
            </a:pPr>
            <a:r>
              <a:rPr sz="2400" b="1"/>
              <a:t>Comparar</a:t>
            </a:r>
            <a:r>
              <a:rPr sz="2400"/>
              <a:t> los algoritmos de planificación FCFS, SJF, Round Robin y Prioridad mediante el tiempo de espera, de respuesta y de retorno</a:t>
            </a:r>
          </a:p>
          <a:p>
            <a:pPr>
              <a:spcBef>
                <a:spcPts val="1800"/>
              </a:spcBef>
            </a:pPr>
            <a:r>
              <a:rPr sz="2400" b="1"/>
              <a:t>Garantizar la coherencia</a:t>
            </a:r>
            <a:r>
              <a:rPr sz="2400"/>
              <a:t> de los datos con semáforos y mutex, evitando condiciones de carrera e interbloqueos</a:t>
            </a:r>
          </a:p>
          <a:p>
            <a:pPr>
              <a:spcBef>
                <a:spcPts val="1800"/>
              </a:spcBef>
            </a:pPr>
            <a:r>
              <a:rPr sz="2400" b="1"/>
              <a:t>Modelar la memoria</a:t>
            </a:r>
            <a:r>
              <a:rPr sz="2400"/>
              <a:t> con asignación contigua, paginación y traducción de direcciones virtuales a físicas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2</a:t>
            </a:fld>
            <a:endParaRPr lang="es-PE"/>
          </a:p>
        </p:txBody>
      </p:sp>
      <p:sp>
        <p:nvSpPr>
          <p:cNvPr id="6"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Para saber hacia dónde vamos, primero conozcamos al banco que nos pidió ayuda: NexusBank.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Contexto del caso: NexusBank</a:t>
            </a:r>
          </a:p>
        </p:txBody>
      </p:sp>
      <p:sp>
        <p:nvSpPr>
          <p:cNvPr id="3" name="Content Placeholder 2"/>
          <p:cNvSpPr>
            <a:spLocks noGrp="1"/>
          </p:cNvSpPr>
          <p:nvPr>
            <p:ph idx="1"/>
          </p:nvPr>
        </p:nvSpPr>
        <p:spPr>
          <a:xfrm>
            <a:off x="219456" y="1527048"/>
            <a:ext cx="6675120" cy="4572000"/>
          </a:xfrm>
        </p:spPr>
        <p:txBody>
          <a:bodyPr wrap="square">
            <a:noAutofit/>
          </a:bodyPr>
          <a:lstStyle/>
          <a:p>
            <a:pPr>
              <a:spcBef>
                <a:spcPts val="1600"/>
              </a:spcBef>
            </a:pPr>
            <a:r>
              <a:rPr sz="2300" b="1"/>
              <a:t>NexusBank</a:t>
            </a:r>
            <a:r>
              <a:rPr sz="2300"/>
              <a:t> procesa millones de transacciones diarias y su </a:t>
            </a:r>
            <a:r>
              <a:rPr sz="2300" b="1"/>
              <a:t>sistema legacy colapsa</a:t>
            </a:r>
            <a:r>
              <a:rPr sz="2300"/>
              <a:t> en quincenas y cierres de mes</a:t>
            </a:r>
          </a:p>
          <a:p>
            <a:pPr>
              <a:spcBef>
                <a:spcPts val="1600"/>
              </a:spcBef>
            </a:pPr>
            <a:r>
              <a:rPr sz="2300"/>
              <a:t>Una auditoría externa halló que la causa está en la </a:t>
            </a:r>
            <a:r>
              <a:rPr sz="2300" b="1"/>
              <a:t>gestión de recursos del sistema operativo</a:t>
            </a:r>
            <a:r>
              <a:rPr sz="2300"/>
              <a:t>, no en la interfaz ni en la red</a:t>
            </a:r>
          </a:p>
          <a:p>
            <a:pPr>
              <a:spcBef>
                <a:spcPts val="1600"/>
              </a:spcBef>
            </a:pPr>
            <a:r>
              <a:rPr sz="2300"/>
              <a:t>Consecuencia: aplicación congelada, cajeros lentos y </a:t>
            </a:r>
            <a:r>
              <a:rPr sz="2300" b="1"/>
              <a:t>saldos inconsistentes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3</a:t>
            </a:fld>
            <a:endParaRPr lang="es-PE"/>
          </a:p>
        </p:txBody>
      </p:sp>
      <p:sp>
        <p:nvSpPr>
          <p:cNvPr id="6" name="Rounded Rectangle 5"/>
          <p:cNvSpPr/>
          <p:nvPr/>
        </p:nvSpPr>
        <p:spPr>
          <a:xfrm>
            <a:off x="7178040" y="1554480"/>
            <a:ext cx="4754880" cy="777240"/>
          </a:xfrm>
          <a:prstGeom prst="roundRect">
            <a:avLst>
              <a:gd name="adj" fmla="val 11764"/>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500" b="1">
                <a:solidFill>
                  <a:srgbClr val="000000"/>
                </a:solidFill>
              </a:rPr>
              <a:t>1. Efecto convoy</a:t>
            </a:r>
          </a:p>
          <a:p>
            <a:pPr algn="ctr"/>
            <a:r>
              <a:rPr sz="1400">
                <a:solidFill>
                  <a:srgbClr val="000000"/>
                </a:solidFill>
              </a:rPr>
              <a:t>FCFS: transacciones pesadas bloquean consultas</a:t>
            </a:r>
          </a:p>
        </p:txBody>
      </p:sp>
      <p:sp>
        <p:nvSpPr>
          <p:cNvPr id="7" name="Rounded Rectangle 6"/>
          <p:cNvSpPr/>
          <p:nvPr/>
        </p:nvSpPr>
        <p:spPr>
          <a:xfrm>
            <a:off x="7178040" y="2468880"/>
            <a:ext cx="4754880" cy="777240"/>
          </a:xfrm>
          <a:prstGeom prst="roundRect">
            <a:avLst>
              <a:gd name="adj" fmla="val 11764"/>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500" b="1">
                <a:solidFill>
                  <a:srgbClr val="000000"/>
                </a:solidFill>
              </a:rPr>
              <a:t>2. Condiciones de carrera</a:t>
            </a:r>
          </a:p>
          <a:p>
            <a:pPr algn="ctr"/>
            <a:r>
              <a:rPr sz="1400">
                <a:solidFill>
                  <a:srgbClr val="000000"/>
                </a:solidFill>
              </a:rPr>
              <a:t>hilos modifican la misma cuenta</a:t>
            </a:r>
          </a:p>
        </p:txBody>
      </p:sp>
      <p:sp>
        <p:nvSpPr>
          <p:cNvPr id="8" name="Rounded Rectangle 7"/>
          <p:cNvSpPr/>
          <p:nvPr/>
        </p:nvSpPr>
        <p:spPr>
          <a:xfrm>
            <a:off x="7178040" y="3383280"/>
            <a:ext cx="4754880" cy="777240"/>
          </a:xfrm>
          <a:prstGeom prst="roundRect">
            <a:avLst>
              <a:gd name="adj" fmla="val 11764"/>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500" b="1">
                <a:solidFill>
                  <a:srgbClr val="000000"/>
                </a:solidFill>
              </a:rPr>
              <a:t>3. Colapso de memoria RAM</a:t>
            </a:r>
          </a:p>
          <a:p>
            <a:pPr algn="ctr"/>
            <a:r>
              <a:rPr sz="1400">
                <a:solidFill>
                  <a:srgbClr val="000000"/>
                </a:solidFill>
              </a:rPr>
              <a:t>reemplazo de páginas ineficiente</a:t>
            </a:r>
          </a:p>
        </p:txBody>
      </p:sp>
      <p:sp>
        <p:nvSpPr>
          <p:cNvPr id="9" name="Rounded Rectangle 8"/>
          <p:cNvSpPr/>
          <p:nvPr/>
        </p:nvSpPr>
        <p:spPr>
          <a:xfrm>
            <a:off x="7178040" y="4297680"/>
            <a:ext cx="4754880" cy="777240"/>
          </a:xfrm>
          <a:prstGeom prst="roundRect">
            <a:avLst>
              <a:gd name="adj" fmla="val 11764"/>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500" b="1">
                <a:solidFill>
                  <a:srgbClr val="000000"/>
                </a:solidFill>
              </a:rPr>
              <a:t>4. E/S lenta y desordenada</a:t>
            </a:r>
          </a:p>
          <a:p>
            <a:pPr algn="ctr"/>
            <a:r>
              <a:rPr sz="1400">
                <a:solidFill>
                  <a:srgbClr val="000000"/>
                </a:solidFill>
              </a:rPr>
              <a:t>logs de auditoría secuenciales</a:t>
            </a:r>
          </a:p>
        </p:txBody>
      </p:sp>
      <p:sp>
        <p:nvSpPr>
          <p:cNvPr id="10" name="Rounded Rectangle 9"/>
          <p:cNvSpPr/>
          <p:nvPr/>
        </p:nvSpPr>
        <p:spPr>
          <a:xfrm>
            <a:off x="7178040" y="5212080"/>
            <a:ext cx="4754880" cy="777240"/>
          </a:xfrm>
          <a:prstGeom prst="roundRect">
            <a:avLst>
              <a:gd name="adj" fmla="val 11764"/>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500" b="1">
                <a:solidFill>
                  <a:srgbClr val="000000"/>
                </a:solidFill>
              </a:rPr>
              <a:t>5. Seguridad débil</a:t>
            </a:r>
          </a:p>
          <a:p>
            <a:pPr algn="ctr"/>
            <a:r>
              <a:rPr sz="1400">
                <a:solidFill>
                  <a:srgbClr val="000000"/>
                </a:solidFill>
              </a:rPr>
              <a:t>sin cifrado ni control de acceso</a:t>
            </a:r>
          </a:p>
        </p:txBody>
      </p:sp>
      <p:sp>
        <p:nvSpPr>
          <p:cNvPr id="11"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Con estos cinco problemas: ¿cómo probar una solución sin arriesgar dinero real?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Alternativa de solución: NexusOS-Sim</a:t>
            </a:r>
          </a:p>
        </p:txBody>
      </p:sp>
      <p:sp>
        <p:nvSpPr>
          <p:cNvPr id="3" name="Content Placeholder 2"/>
          <p:cNvSpPr>
            <a:spLocks noGrp="1"/>
          </p:cNvSpPr>
          <p:nvPr>
            <p:ph idx="1"/>
          </p:nvPr>
        </p:nvSpPr>
        <p:spPr>
          <a:xfrm>
            <a:off x="219456" y="1527048"/>
            <a:ext cx="11740896" cy="1371600"/>
          </a:xfrm>
        </p:spPr>
        <p:txBody>
          <a:bodyPr wrap="square">
            <a:noAutofit/>
          </a:bodyPr>
          <a:lstStyle/>
          <a:p>
            <a:pPr>
              <a:spcBef>
                <a:spcPts val="1000"/>
              </a:spcBef>
            </a:pPr>
            <a:r>
              <a:rPr sz="2000"/>
              <a:t>Implementar cambios directamente en producción sería catastrófico; la decisión fue </a:t>
            </a:r>
            <a:r>
              <a:rPr sz="2000" b="1"/>
              <a:t>construir un simulador</a:t>
            </a:r>
            <a:r>
              <a:rPr sz="2000"/>
              <a:t> de sistema operativo en Python que </a:t>
            </a:r>
            <a:r>
              <a:rPr sz="2000" b="1"/>
              <a:t>modela, evalúa y compara</a:t>
            </a:r>
            <a:r>
              <a:rPr sz="2000"/>
              <a:t> algoritmos sin procesar dinero real</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4</a:t>
            </a:fld>
            <a:endParaRPr lang="es-PE"/>
          </a:p>
        </p:txBody>
      </p:sp>
      <p:graphicFrame>
        <p:nvGraphicFramePr>
          <p:cNvPr id="6" name="Table 5"/>
          <p:cNvGraphicFramePr>
            <a:graphicFrameLocks noGrp="1"/>
          </p:cNvGraphicFramePr>
          <p:nvPr/>
        </p:nvGraphicFramePr>
        <p:xfrm>
          <a:off x="219456" y="2743200"/>
          <a:ext cx="11740896" cy="28346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5340096">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66928">
                <a:tc>
                  <a:txBody>
                    <a:bodyPr/>
                    <a:lstStyle/>
                    <a:p>
                      <a:pPr algn="ctr"/>
                      <a:r>
                        <a:rPr sz="1500" b="1"/>
                        <a:t>Problema</a:t>
                      </a:r>
                    </a:p>
                  </a:txBody>
                  <a:tcPr marL="73152" marR="73152" marT="27432" marB="27432" anchor="ctr"/>
                </a:tc>
                <a:tc>
                  <a:txBody>
                    <a:bodyPr/>
                    <a:lstStyle/>
                    <a:p>
                      <a:pPr algn="ctr"/>
                      <a:r>
                        <a:rPr sz="1500" b="1"/>
                        <a:t>Módulo de NexusOS-Sim</a:t>
                      </a:r>
                    </a:p>
                  </a:txBody>
                  <a:tcPr marL="73152" marR="73152" marT="27432" marB="27432" anchor="ctr"/>
                </a:tc>
                <a:tc>
                  <a:txBody>
                    <a:bodyPr/>
                    <a:lstStyle/>
                    <a:p>
                      <a:pPr algn="ctr"/>
                      <a:r>
                        <a:rPr sz="1500" b="1"/>
                        <a:t>Estado</a:t>
                      </a:r>
                    </a:p>
                  </a:txBody>
                  <a:tcPr marL="73152" marR="73152" marT="27432" marB="27432" anchor="ctr"/>
                </a:tc>
                <a:extLst>
                  <a:ext uri="{0D108BD9-81ED-4DB2-BD59-A6C34878D82A}">
                    <a16:rowId xmlns:a16="http://schemas.microsoft.com/office/drawing/2014/main" val="10000"/>
                  </a:ext>
                </a:extLst>
              </a:tr>
              <a:tr h="566928">
                <a:tc>
                  <a:txBody>
                    <a:bodyPr/>
                    <a:lstStyle/>
                    <a:p>
                      <a:pPr algn="l"/>
                      <a:r>
                        <a:rPr sz="1500" b="1"/>
                        <a:t>Efecto convoy (FCFS)</a:t>
                      </a:r>
                    </a:p>
                  </a:txBody>
                  <a:tcPr marL="73152" marR="73152" marT="27432" marB="27432" anchor="ctr"/>
                </a:tc>
                <a:tc>
                  <a:txBody>
                    <a:bodyPr/>
                    <a:lstStyle/>
                    <a:p>
                      <a:pPr algn="l"/>
                      <a:r>
                        <a:rPr sz="1500"/>
                        <a:t>planificador.py: FCFS, SJF, RR, Prioridad</a:t>
                      </a:r>
                    </a:p>
                  </a:txBody>
                  <a:tcPr marL="73152" marR="73152" marT="27432" marB="27432" anchor="ctr"/>
                </a:tc>
                <a:tc>
                  <a:txBody>
                    <a:bodyPr/>
                    <a:lstStyle/>
                    <a:p>
                      <a:pPr algn="ctr"/>
                      <a:r>
                        <a:rPr sz="1500"/>
                        <a:t>Implementado</a:t>
                      </a:r>
                    </a:p>
                  </a:txBody>
                  <a:tcPr marL="73152" marR="73152" marT="27432" marB="27432" anchor="ctr"/>
                </a:tc>
                <a:extLst>
                  <a:ext uri="{0D108BD9-81ED-4DB2-BD59-A6C34878D82A}">
                    <a16:rowId xmlns:a16="http://schemas.microsoft.com/office/drawing/2014/main" val="10001"/>
                  </a:ext>
                </a:extLst>
              </a:tr>
              <a:tr h="566928">
                <a:tc>
                  <a:txBody>
                    <a:bodyPr/>
                    <a:lstStyle/>
                    <a:p>
                      <a:pPr algn="l"/>
                      <a:r>
                        <a:rPr sz="1500" b="1"/>
                        <a:t>Condiciones de carrera</a:t>
                      </a:r>
                    </a:p>
                  </a:txBody>
                  <a:tcPr marL="73152" marR="73152" marT="27432" marB="27432" anchor="ctr"/>
                </a:tc>
                <a:tc>
                  <a:txBody>
                    <a:bodyPr/>
                    <a:lstStyle/>
                    <a:p>
                      <a:pPr algn="l"/>
                      <a:r>
                        <a:rPr sz="1500"/>
                        <a:t>sincronizacion.py: semáforos y mutex</a:t>
                      </a:r>
                    </a:p>
                  </a:txBody>
                  <a:tcPr marL="73152" marR="73152" marT="27432" marB="27432" anchor="ctr"/>
                </a:tc>
                <a:tc>
                  <a:txBody>
                    <a:bodyPr/>
                    <a:lstStyle/>
                    <a:p>
                      <a:pPr algn="ctr"/>
                      <a:r>
                        <a:rPr sz="1500"/>
                        <a:t>Implementado</a:t>
                      </a:r>
                    </a:p>
                  </a:txBody>
                  <a:tcPr marL="73152" marR="73152" marT="27432" marB="27432" anchor="ctr"/>
                </a:tc>
                <a:extLst>
                  <a:ext uri="{0D108BD9-81ED-4DB2-BD59-A6C34878D82A}">
                    <a16:rowId xmlns:a16="http://schemas.microsoft.com/office/drawing/2014/main" val="10002"/>
                  </a:ext>
                </a:extLst>
              </a:tr>
              <a:tr h="566928">
                <a:tc>
                  <a:txBody>
                    <a:bodyPr/>
                    <a:lstStyle/>
                    <a:p>
                      <a:pPr algn="l"/>
                      <a:r>
                        <a:rPr sz="1500" b="1"/>
                        <a:t>Colapso de memoria RAM</a:t>
                      </a:r>
                    </a:p>
                  </a:txBody>
                  <a:tcPr marL="73152" marR="73152" marT="27432" marB="27432" anchor="ctr"/>
                </a:tc>
                <a:tc>
                  <a:txBody>
                    <a:bodyPr/>
                    <a:lstStyle/>
                    <a:p>
                      <a:pPr algn="l"/>
                      <a:r>
                        <a:rPr sz="1500"/>
                        <a:t>memoria.py: contigua y paginación</a:t>
                      </a:r>
                    </a:p>
                  </a:txBody>
                  <a:tcPr marL="73152" marR="73152" marT="27432" marB="27432" anchor="ctr"/>
                </a:tc>
                <a:tc>
                  <a:txBody>
                    <a:bodyPr/>
                    <a:lstStyle/>
                    <a:p>
                      <a:pPr algn="ctr"/>
                      <a:r>
                        <a:rPr sz="1500"/>
                        <a:t>Implementado</a:t>
                      </a:r>
                    </a:p>
                  </a:txBody>
                  <a:tcPr marL="73152" marR="73152" marT="27432" marB="27432" anchor="ctr"/>
                </a:tc>
                <a:extLst>
                  <a:ext uri="{0D108BD9-81ED-4DB2-BD59-A6C34878D82A}">
                    <a16:rowId xmlns:a16="http://schemas.microsoft.com/office/drawing/2014/main" val="10003"/>
                  </a:ext>
                </a:extLst>
              </a:tr>
              <a:tr h="566928">
                <a:tc>
                  <a:txBody>
                    <a:bodyPr/>
                    <a:lstStyle/>
                    <a:p>
                      <a:pPr algn="l"/>
                      <a:r>
                        <a:rPr sz="1500" b="1"/>
                        <a:t>E/S lenta y seguridad</a:t>
                      </a:r>
                    </a:p>
                  </a:txBody>
                  <a:tcPr marL="73152" marR="73152" marT="27432" marB="27432" anchor="ctr"/>
                </a:tc>
                <a:tc>
                  <a:txBody>
                    <a:bodyPr/>
                    <a:lstStyle/>
                    <a:p>
                      <a:pPr algn="l"/>
                      <a:r>
                        <a:rPr sz="1500"/>
                        <a:t>E/S, archivos, seguridad y distribuidos</a:t>
                      </a:r>
                    </a:p>
                  </a:txBody>
                  <a:tcPr marL="73152" marR="73152" marT="27432" marB="27432" anchor="ctr"/>
                </a:tc>
                <a:tc>
                  <a:txBody>
                    <a:bodyPr/>
                    <a:lstStyle/>
                    <a:p>
                      <a:pPr algn="ctr"/>
                      <a:r>
                        <a:rPr sz="1500"/>
                        <a:t>Pendiente</a:t>
                      </a:r>
                    </a:p>
                  </a:txBody>
                  <a:tcPr marL="73152" marR="73152" marT="27432" marB="27432" anchor="ctr"/>
                </a:tc>
                <a:extLst>
                  <a:ext uri="{0D108BD9-81ED-4DB2-BD59-A6C34878D82A}">
                    <a16:rowId xmlns:a16="http://schemas.microsoft.com/office/drawing/2014/main" val="10004"/>
                  </a:ext>
                </a:extLst>
              </a:tr>
            </a:tbl>
          </a:graphicData>
        </a:graphic>
      </p:graphicFrame>
      <p:sp>
        <p:nvSpPr>
          <p:cNvPr id="7"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La respuesta fue construir un simulador. Veamos qué puede hacer.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Características principales</a:t>
            </a:r>
          </a:p>
        </p:txBody>
      </p:sp>
      <p:sp>
        <p:nvSpPr>
          <p:cNvPr id="3" name="Content Placeholder 2"/>
          <p:cNvSpPr>
            <a:spLocks noGrp="1"/>
          </p:cNvSpPr>
          <p:nvPr>
            <p:ph idx="1"/>
          </p:nvPr>
        </p:nvSpPr>
        <p:spPr>
          <a:xfrm>
            <a:off x="219456" y="1527048"/>
            <a:ext cx="11740896" cy="4654296"/>
          </a:xfrm>
        </p:spPr>
        <p:txBody>
          <a:bodyPr wrap="square">
            <a:noAutofit/>
          </a:bodyPr>
          <a:lstStyle/>
          <a:p>
            <a:pPr marL="0" indent="0">
              <a:spcBef>
                <a:spcPts val="1200"/>
              </a:spcBef>
              <a:buNone/>
            </a:pPr>
            <a:r>
              <a:rPr sz="2200" b="1"/>
              <a:t>Características principales:</a:t>
            </a:r>
          </a:p>
          <a:p>
            <a:pPr>
              <a:spcBef>
                <a:spcPts val="1200"/>
              </a:spcBef>
            </a:pPr>
            <a:r>
              <a:rPr sz="2200" b="1"/>
              <a:t>Shell interactivo (CLI)</a:t>
            </a:r>
            <a:r>
              <a:rPr sz="2200"/>
              <a:t> con comandos como crear, fork, exec, kill, planificar, asignar y traducir</a:t>
            </a:r>
          </a:p>
          <a:p>
            <a:pPr>
              <a:spcBef>
                <a:spcPts val="1200"/>
              </a:spcBef>
            </a:pPr>
            <a:r>
              <a:rPr sz="2200" b="1"/>
              <a:t>Gestión de procesos:</a:t>
            </a:r>
            <a:r>
              <a:rPr sz="2200"/>
              <a:t> PCB con cinco estados (Nuevo, Listo, Ejecución, Bloqueado, Terminado), fork y exec simulados y demostración de proceso frente a hilo</a:t>
            </a:r>
          </a:p>
          <a:p>
            <a:pPr>
              <a:spcBef>
                <a:spcPts val="1200"/>
              </a:spcBef>
            </a:pPr>
            <a:r>
              <a:rPr sz="2200" b="1"/>
              <a:t>Planificación de CPU:</a:t>
            </a:r>
            <a:r>
              <a:rPr sz="2200"/>
              <a:t> FCFS, SJF, Round Robin y Prioridad con diagrama de Gantt y métricas de espera, respuesta y retorno</a:t>
            </a:r>
          </a:p>
          <a:p>
            <a:pPr>
              <a:spcBef>
                <a:spcPts val="1200"/>
              </a:spcBef>
            </a:pPr>
            <a:r>
              <a:rPr sz="2200" b="1"/>
              <a:t>Sincronización y memoria:</a:t>
            </a:r>
            <a:r>
              <a:rPr sz="2200"/>
              <a:t> productor-consumidor, filósofos sin interbloqueo, memoria contigua, paginación y traducción de direcciones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5</a:t>
            </a:fld>
            <a:endParaRPr lang="es-PE"/>
          </a:p>
        </p:txBody>
      </p:sp>
      <p:sp>
        <p:nvSpPr>
          <p:cNvPr id="6"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Cada capacidad responde a un problema del banco; así se conecta todo.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Flujograma principal: del caso a la solución</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6</a:t>
            </a:fld>
            <a:endParaRPr lang="es-PE"/>
          </a:p>
        </p:txBody>
      </p:sp>
      <p:sp>
        <p:nvSpPr>
          <p:cNvPr id="6" name="Rounded Rectangle 5"/>
          <p:cNvSpPr/>
          <p:nvPr/>
        </p:nvSpPr>
        <p:spPr>
          <a:xfrm>
            <a:off x="640080" y="1874520"/>
            <a:ext cx="2423160" cy="621792"/>
          </a:xfrm>
          <a:prstGeom prst="roundRect">
            <a:avLst>
              <a:gd name="adj" fmla="val 12820"/>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Efecto convoy</a:t>
            </a:r>
          </a:p>
          <a:p>
            <a:pPr algn="ctr"/>
            <a:r>
              <a:rPr sz="1100">
                <a:solidFill>
                  <a:srgbClr val="000000"/>
                </a:solidFill>
              </a:rPr>
              <a:t>FCFS: transacciones pesadas bloquean consultas</a:t>
            </a:r>
          </a:p>
        </p:txBody>
      </p:sp>
      <p:sp>
        <p:nvSpPr>
          <p:cNvPr id="7" name="Rounded Rectangle 6"/>
          <p:cNvSpPr/>
          <p:nvPr/>
        </p:nvSpPr>
        <p:spPr>
          <a:xfrm>
            <a:off x="3657600" y="1874520"/>
            <a:ext cx="2743200" cy="621792"/>
          </a:xfrm>
          <a:prstGeom prst="roundRect">
            <a:avLst>
              <a:gd name="adj" fmla="val 12820"/>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Planificador</a:t>
            </a:r>
          </a:p>
          <a:p>
            <a:pPr algn="ctr"/>
            <a:r>
              <a:rPr sz="1100">
                <a:solidFill>
                  <a:srgbClr val="000000"/>
                </a:solidFill>
              </a:rPr>
              <a:t>FCFS, SJF, RR, Prioridad</a:t>
            </a:r>
          </a:p>
        </p:txBody>
      </p:sp>
      <p:cxnSp>
        <p:nvCxnSpPr>
          <p:cNvPr id="8" name="Connector 7"/>
          <p:cNvCxnSpPr/>
          <p:nvPr/>
        </p:nvCxnSpPr>
        <p:spPr>
          <a:xfrm>
            <a:off x="3063240" y="2185416"/>
            <a:ext cx="59436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 y="2624328"/>
            <a:ext cx="2423160" cy="621792"/>
          </a:xfrm>
          <a:prstGeom prst="roundRect">
            <a:avLst>
              <a:gd name="adj" fmla="val 12820"/>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Condiciones de carrera</a:t>
            </a:r>
          </a:p>
          <a:p>
            <a:pPr algn="ctr"/>
            <a:r>
              <a:rPr sz="1100">
                <a:solidFill>
                  <a:srgbClr val="000000"/>
                </a:solidFill>
              </a:rPr>
              <a:t>hilos modifican la misma cuenta</a:t>
            </a:r>
          </a:p>
        </p:txBody>
      </p:sp>
      <p:sp>
        <p:nvSpPr>
          <p:cNvPr id="10" name="Rounded Rectangle 9"/>
          <p:cNvSpPr/>
          <p:nvPr/>
        </p:nvSpPr>
        <p:spPr>
          <a:xfrm>
            <a:off x="3657600" y="2624328"/>
            <a:ext cx="2743200" cy="621792"/>
          </a:xfrm>
          <a:prstGeom prst="roundRect">
            <a:avLst>
              <a:gd name="adj" fmla="val 12820"/>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Sincronización</a:t>
            </a:r>
          </a:p>
          <a:p>
            <a:pPr algn="ctr"/>
            <a:r>
              <a:rPr sz="1100">
                <a:solidFill>
                  <a:srgbClr val="000000"/>
                </a:solidFill>
              </a:rPr>
              <a:t>semáforos y mutex</a:t>
            </a:r>
          </a:p>
        </p:txBody>
      </p:sp>
      <p:cxnSp>
        <p:nvCxnSpPr>
          <p:cNvPr id="11" name="Connector 10"/>
          <p:cNvCxnSpPr/>
          <p:nvPr/>
        </p:nvCxnSpPr>
        <p:spPr>
          <a:xfrm>
            <a:off x="3063240" y="2935224"/>
            <a:ext cx="59436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374136"/>
            <a:ext cx="2423160" cy="621792"/>
          </a:xfrm>
          <a:prstGeom prst="roundRect">
            <a:avLst>
              <a:gd name="adj" fmla="val 12820"/>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Colapso de memoria RAM</a:t>
            </a:r>
          </a:p>
          <a:p>
            <a:pPr algn="ctr"/>
            <a:r>
              <a:rPr sz="1100">
                <a:solidFill>
                  <a:srgbClr val="000000"/>
                </a:solidFill>
              </a:rPr>
              <a:t>reemplazo de páginas ineficiente</a:t>
            </a:r>
          </a:p>
        </p:txBody>
      </p:sp>
      <p:sp>
        <p:nvSpPr>
          <p:cNvPr id="13" name="Rounded Rectangle 12"/>
          <p:cNvSpPr/>
          <p:nvPr/>
        </p:nvSpPr>
        <p:spPr>
          <a:xfrm>
            <a:off x="3657600" y="3374136"/>
            <a:ext cx="2743200" cy="621792"/>
          </a:xfrm>
          <a:prstGeom prst="roundRect">
            <a:avLst>
              <a:gd name="adj" fmla="val 12820"/>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Memoria</a:t>
            </a:r>
          </a:p>
          <a:p>
            <a:pPr algn="ctr"/>
            <a:r>
              <a:rPr sz="1100">
                <a:solidFill>
                  <a:srgbClr val="000000"/>
                </a:solidFill>
              </a:rPr>
              <a:t>contigua y paginación</a:t>
            </a:r>
          </a:p>
        </p:txBody>
      </p:sp>
      <p:cxnSp>
        <p:nvCxnSpPr>
          <p:cNvPr id="14" name="Connector 13"/>
          <p:cNvCxnSpPr/>
          <p:nvPr/>
        </p:nvCxnSpPr>
        <p:spPr>
          <a:xfrm>
            <a:off x="3063240" y="3685032"/>
            <a:ext cx="59436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 y="4123944"/>
            <a:ext cx="2423160" cy="621792"/>
          </a:xfrm>
          <a:prstGeom prst="roundRect">
            <a:avLst>
              <a:gd name="adj" fmla="val 12820"/>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E/S lenta y desordenada</a:t>
            </a:r>
          </a:p>
          <a:p>
            <a:pPr algn="ctr"/>
            <a:r>
              <a:rPr sz="1100">
                <a:solidFill>
                  <a:srgbClr val="000000"/>
                </a:solidFill>
              </a:rPr>
              <a:t>logs de auditoría secuenciales</a:t>
            </a:r>
          </a:p>
        </p:txBody>
      </p:sp>
      <p:sp>
        <p:nvSpPr>
          <p:cNvPr id="16" name="Rounded Rectangle 15"/>
          <p:cNvSpPr/>
          <p:nvPr/>
        </p:nvSpPr>
        <p:spPr>
          <a:xfrm>
            <a:off x="3657600" y="4123944"/>
            <a:ext cx="2743200" cy="621792"/>
          </a:xfrm>
          <a:prstGeom prst="roundRect">
            <a:avLst>
              <a:gd name="adj" fmla="val 12820"/>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E/S y archivos</a:t>
            </a:r>
          </a:p>
          <a:p>
            <a:pPr algn="ctr"/>
            <a:r>
              <a:rPr sz="1100">
                <a:solidFill>
                  <a:srgbClr val="000000"/>
                </a:solidFill>
              </a:rPr>
              <a:t>pendiente</a:t>
            </a:r>
          </a:p>
        </p:txBody>
      </p:sp>
      <p:cxnSp>
        <p:nvCxnSpPr>
          <p:cNvPr id="17" name="Connector 16"/>
          <p:cNvCxnSpPr/>
          <p:nvPr/>
        </p:nvCxnSpPr>
        <p:spPr>
          <a:xfrm>
            <a:off x="3063240" y="4434840"/>
            <a:ext cx="59436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4873752"/>
            <a:ext cx="2423160" cy="621792"/>
          </a:xfrm>
          <a:prstGeom prst="roundRect">
            <a:avLst>
              <a:gd name="adj" fmla="val 12820"/>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Seguridad débil</a:t>
            </a:r>
          </a:p>
          <a:p>
            <a:pPr algn="ctr"/>
            <a:r>
              <a:rPr sz="1100">
                <a:solidFill>
                  <a:srgbClr val="000000"/>
                </a:solidFill>
              </a:rPr>
              <a:t>sin cifrado ni control de acceso</a:t>
            </a:r>
          </a:p>
        </p:txBody>
      </p:sp>
      <p:sp>
        <p:nvSpPr>
          <p:cNvPr id="19" name="Rounded Rectangle 18"/>
          <p:cNvSpPr/>
          <p:nvPr/>
        </p:nvSpPr>
        <p:spPr>
          <a:xfrm>
            <a:off x="3657600" y="4873752"/>
            <a:ext cx="2743200" cy="621792"/>
          </a:xfrm>
          <a:prstGeom prst="roundRect">
            <a:avLst>
              <a:gd name="adj" fmla="val 12820"/>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Seguridad y distribuidos</a:t>
            </a:r>
          </a:p>
          <a:p>
            <a:pPr algn="ctr"/>
            <a:r>
              <a:rPr sz="1100">
                <a:solidFill>
                  <a:srgbClr val="000000"/>
                </a:solidFill>
              </a:rPr>
              <a:t>pendiente</a:t>
            </a:r>
          </a:p>
        </p:txBody>
      </p:sp>
      <p:cxnSp>
        <p:nvCxnSpPr>
          <p:cNvPr id="20" name="Connector 19"/>
          <p:cNvCxnSpPr/>
          <p:nvPr/>
        </p:nvCxnSpPr>
        <p:spPr>
          <a:xfrm>
            <a:off x="3063240" y="5184648"/>
            <a:ext cx="59436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995160" y="2331720"/>
            <a:ext cx="1737360" cy="1188720"/>
          </a:xfrm>
          <a:prstGeom prst="roundRect">
            <a:avLst>
              <a:gd name="adj" fmla="val 7692"/>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NexusOS-Sim</a:t>
            </a:r>
          </a:p>
          <a:p>
            <a:pPr algn="ctr"/>
            <a:r>
              <a:rPr sz="1200">
                <a:solidFill>
                  <a:srgbClr val="000000"/>
                </a:solidFill>
              </a:rPr>
              <a:t>simulador en Python</a:t>
            </a:r>
          </a:p>
        </p:txBody>
      </p:sp>
      <p:sp>
        <p:nvSpPr>
          <p:cNvPr id="22" name="Rounded Rectangle 21"/>
          <p:cNvSpPr/>
          <p:nvPr/>
        </p:nvSpPr>
        <p:spPr>
          <a:xfrm>
            <a:off x="6995160" y="4160520"/>
            <a:ext cx="1737360" cy="914400"/>
          </a:xfrm>
          <a:prstGeom prst="roundRect">
            <a:avLst>
              <a:gd name="adj" fmla="val 7692"/>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Reporte</a:t>
            </a:r>
          </a:p>
          <a:p>
            <a:pPr algn="ctr"/>
            <a:r>
              <a:rPr sz="1200">
                <a:solidFill>
                  <a:srgbClr val="000000"/>
                </a:solidFill>
              </a:rPr>
              <a:t>algoritmos recomendados</a:t>
            </a:r>
          </a:p>
        </p:txBody>
      </p:sp>
      <p:cxnSp>
        <p:nvCxnSpPr>
          <p:cNvPr id="23" name="Connector 22"/>
          <p:cNvCxnSpPr/>
          <p:nvPr/>
        </p:nvCxnSpPr>
        <p:spPr>
          <a:xfrm>
            <a:off x="7863840" y="3520440"/>
            <a:ext cx="0" cy="64008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400800" y="2185416"/>
            <a:ext cx="594360" cy="466344"/>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400800" y="2834640"/>
            <a:ext cx="594360" cy="100584"/>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400800" y="3017520"/>
            <a:ext cx="594360" cy="667512"/>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400800" y="3200400"/>
            <a:ext cx="594360" cy="1234440"/>
          </a:xfrm>
          <a:prstGeom prst="line">
            <a:avLst/>
          </a:prstGeom>
          <a:ln w="22225">
            <a:solidFill>
              <a:srgbClr val="333333"/>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00800" y="3383280"/>
            <a:ext cx="594360" cy="1801368"/>
          </a:xfrm>
          <a:prstGeom prst="line">
            <a:avLst/>
          </a:prstGeom>
          <a:ln w="22225">
            <a:solidFill>
              <a:srgbClr val="3333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006840" y="1463040"/>
            <a:ext cx="2880360" cy="4023360"/>
          </a:xfrm>
          <a:prstGeom prst="roundRect">
            <a:avLst>
              <a:gd name="adj" fmla="val 317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0" name="TextBox 29"/>
          <p:cNvSpPr txBox="1"/>
          <p:nvPr/>
        </p:nvSpPr>
        <p:spPr>
          <a:xfrm>
            <a:off x="9098280" y="1508760"/>
            <a:ext cx="2697480" cy="3931920"/>
          </a:xfrm>
          <a:prstGeom prst="rect">
            <a:avLst/>
          </a:prstGeom>
          <a:noFill/>
        </p:spPr>
        <p:txBody>
          <a:bodyPr wrap="square" lIns="45720" rIns="45720" anchor="t">
            <a:noAutofit/>
          </a:bodyPr>
          <a:lstStyle/>
          <a:p>
            <a:pPr algn="l"/>
            <a:r>
              <a:rPr sz="1600" b="1"/>
              <a:t>¿Por qué es importante?</a:t>
            </a:r>
          </a:p>
          <a:p>
            <a:pPr algn="l">
              <a:spcBef>
                <a:spcPts val="1000"/>
              </a:spcBef>
            </a:pPr>
            <a:r>
              <a:rPr sz="1600"/>
              <a:t>Une cada </a:t>
            </a:r>
            <a:r>
              <a:rPr sz="1600" b="1"/>
              <a:t>falla del banco</a:t>
            </a:r>
            <a:r>
              <a:rPr sz="1600"/>
              <a:t> con el módulo que la resuelve</a:t>
            </a:r>
          </a:p>
          <a:p>
            <a:pPr algn="l">
              <a:spcBef>
                <a:spcPts val="1000"/>
              </a:spcBef>
            </a:pPr>
            <a:r>
              <a:rPr sz="1600"/>
              <a:t>El reporte final se basa en </a:t>
            </a:r>
            <a:r>
              <a:rPr sz="1600" b="1"/>
              <a:t>datos</a:t>
            </a:r>
            <a:r>
              <a:rPr sz="1600"/>
              <a:t>, no en opiniones</a:t>
            </a:r>
          </a:p>
          <a:p>
            <a:pPr algn="l">
              <a:spcBef>
                <a:spcPts val="1000"/>
              </a:spcBef>
            </a:pPr>
            <a:r>
              <a:rPr sz="1600"/>
              <a:t>Muestra el </a:t>
            </a:r>
            <a:r>
              <a:rPr sz="1600" b="1"/>
              <a:t>avance:</a:t>
            </a:r>
            <a:r>
              <a:rPr sz="1600"/>
              <a:t> 3 de 5 módulos listos</a:t>
            </a:r>
          </a:p>
          <a:p>
            <a:pPr algn="l">
              <a:spcBef>
                <a:spcPts val="1000"/>
              </a:spcBef>
            </a:pPr>
            <a:r>
              <a:rPr sz="1600"/>
              <a:t>Sirve de guía: problema, módulo y evidencia</a:t>
            </a:r>
          </a:p>
        </p:txBody>
      </p:sp>
      <p:sp>
        <p:nvSpPr>
          <p:cNvPr id="31" name="Rectangle 30"/>
          <p:cNvSpPr/>
          <p:nvPr/>
        </p:nvSpPr>
        <p:spPr>
          <a:xfrm>
            <a:off x="320040" y="5806440"/>
            <a:ext cx="274320" cy="274320"/>
          </a:xfrm>
          <a:prstGeom prst="rect">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2" name="TextBox 31"/>
          <p:cNvSpPr txBox="1"/>
          <p:nvPr/>
        </p:nvSpPr>
        <p:spPr>
          <a:xfrm>
            <a:off x="685800" y="5806440"/>
            <a:ext cx="1737360" cy="274320"/>
          </a:xfrm>
          <a:prstGeom prst="rect">
            <a:avLst/>
          </a:prstGeom>
          <a:noFill/>
        </p:spPr>
        <p:txBody>
          <a:bodyPr wrap="square" lIns="0" tIns="0" rIns="0" bIns="0" anchor="ctr">
            <a:noAutofit/>
          </a:bodyPr>
          <a:lstStyle/>
          <a:p>
            <a:pPr algn="l"/>
            <a:r>
              <a:rPr sz="1300">
                <a:solidFill>
                  <a:srgbClr val="000000"/>
                </a:solidFill>
              </a:rPr>
              <a:t>Problema</a:t>
            </a:r>
          </a:p>
        </p:txBody>
      </p:sp>
      <p:sp>
        <p:nvSpPr>
          <p:cNvPr id="33" name="Rectangle 32"/>
          <p:cNvSpPr/>
          <p:nvPr/>
        </p:nvSpPr>
        <p:spPr>
          <a:xfrm>
            <a:off x="2697480" y="5806440"/>
            <a:ext cx="274320" cy="274320"/>
          </a:xfrm>
          <a:prstGeom prst="rect">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4" name="TextBox 33"/>
          <p:cNvSpPr txBox="1"/>
          <p:nvPr/>
        </p:nvSpPr>
        <p:spPr>
          <a:xfrm>
            <a:off x="3063240" y="5806440"/>
            <a:ext cx="1737360" cy="274320"/>
          </a:xfrm>
          <a:prstGeom prst="rect">
            <a:avLst/>
          </a:prstGeom>
          <a:noFill/>
        </p:spPr>
        <p:txBody>
          <a:bodyPr wrap="square" lIns="0" tIns="0" rIns="0" bIns="0" anchor="ctr">
            <a:noAutofit/>
          </a:bodyPr>
          <a:lstStyle/>
          <a:p>
            <a:pPr algn="l"/>
            <a:r>
              <a:rPr sz="1300">
                <a:solidFill>
                  <a:srgbClr val="000000"/>
                </a:solidFill>
              </a:rPr>
              <a:t>Implementado</a:t>
            </a:r>
          </a:p>
        </p:txBody>
      </p:sp>
      <p:sp>
        <p:nvSpPr>
          <p:cNvPr id="35" name="Rectangle 34"/>
          <p:cNvSpPr/>
          <p:nvPr/>
        </p:nvSpPr>
        <p:spPr>
          <a:xfrm>
            <a:off x="5074920" y="5806440"/>
            <a:ext cx="274320" cy="274320"/>
          </a:xfrm>
          <a:prstGeom prst="rect">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6" name="TextBox 35"/>
          <p:cNvSpPr txBox="1"/>
          <p:nvPr/>
        </p:nvSpPr>
        <p:spPr>
          <a:xfrm>
            <a:off x="5440680" y="5806440"/>
            <a:ext cx="1737360" cy="274320"/>
          </a:xfrm>
          <a:prstGeom prst="rect">
            <a:avLst/>
          </a:prstGeom>
          <a:noFill/>
        </p:spPr>
        <p:txBody>
          <a:bodyPr wrap="square" lIns="0" tIns="0" rIns="0" bIns="0" anchor="ctr">
            <a:noAutofit/>
          </a:bodyPr>
          <a:lstStyle/>
          <a:p>
            <a:pPr algn="l"/>
            <a:r>
              <a:rPr sz="1300">
                <a:solidFill>
                  <a:srgbClr val="000000"/>
                </a:solidFill>
              </a:rPr>
              <a:t>Pendiente</a:t>
            </a:r>
          </a:p>
        </p:txBody>
      </p:sp>
      <p:sp>
        <p:nvSpPr>
          <p:cNvPr id="37" name="Inicio"/>
          <p:cNvSpPr/>
          <p:nvPr/>
        </p:nvSpPr>
        <p:spPr>
          <a:xfrm>
            <a:off x="246888" y="1325880"/>
            <a:ext cx="457200" cy="457200"/>
          </a:xfrm>
          <a:prstGeom prst="ellipse">
            <a:avLst/>
          </a:prstGeom>
          <a:solidFill>
            <a:srgbClr val="2E7D32"/>
          </a:solidFill>
          <a:ln w="19050">
            <a:solidFill>
              <a:srgbClr val="2E7D32"/>
            </a:solidFill>
          </a:ln>
        </p:spPr>
        <p:txBody>
          <a:bodyPr wrap="none" lIns="0" tIns="0" rIns="0" bIns="0" anchor="ctr">
            <a:noAutofit/>
          </a:bodyPr>
          <a:lstStyle/>
          <a:p>
            <a:pPr algn="ctr"/>
            <a:r>
              <a:rPr lang="es-PE" sz="1000" b="1">
                <a:solidFill>
                  <a:srgbClr val="FFFFFF"/>
                </a:solidFill>
              </a:rPr>
              <a:t>Inicio</a:t>
            </a:r>
          </a:p>
        </p:txBody>
      </p:sp>
      <p:cxnSp>
        <p:nvCxnSpPr>
          <p:cNvPr id="38" name="Tronco inicio"/>
          <p:cNvCxnSpPr/>
          <p:nvPr/>
        </p:nvCxnSpPr>
        <p:spPr>
          <a:xfrm>
            <a:off x="475488" y="1783080"/>
            <a:ext cx="0" cy="3401568"/>
          </a:xfrm>
          <a:prstGeom prst="line">
            <a:avLst/>
          </a:prstGeom>
          <a:ln w="22225">
            <a:solidFill>
              <a:srgbClr val="333333"/>
            </a:solidFill>
          </a:ln>
        </p:spPr>
      </p:cxnSp>
      <p:cxnSp>
        <p:nvCxnSpPr>
          <p:cNvPr id="39" name="Entrada problema 1"/>
          <p:cNvCxnSpPr/>
          <p:nvPr/>
        </p:nvCxnSpPr>
        <p:spPr>
          <a:xfrm>
            <a:off x="475488" y="2185416"/>
            <a:ext cx="164592" cy="0"/>
          </a:xfrm>
          <a:prstGeom prst="line">
            <a:avLst/>
          </a:prstGeom>
          <a:ln w="22225">
            <a:solidFill>
              <a:srgbClr val="333333"/>
            </a:solidFill>
            <a:tailEnd type="triangle" w="med" len="med"/>
          </a:ln>
        </p:spPr>
      </p:cxnSp>
      <p:cxnSp>
        <p:nvCxnSpPr>
          <p:cNvPr id="40" name="Entrada problema 2"/>
          <p:cNvCxnSpPr/>
          <p:nvPr/>
        </p:nvCxnSpPr>
        <p:spPr>
          <a:xfrm>
            <a:off x="475488" y="2935224"/>
            <a:ext cx="164592" cy="0"/>
          </a:xfrm>
          <a:prstGeom prst="line">
            <a:avLst/>
          </a:prstGeom>
          <a:ln w="22225">
            <a:solidFill>
              <a:srgbClr val="333333"/>
            </a:solidFill>
            <a:tailEnd type="triangle" w="med" len="med"/>
          </a:ln>
        </p:spPr>
      </p:cxnSp>
      <p:cxnSp>
        <p:nvCxnSpPr>
          <p:cNvPr id="41" name="Entrada problema 3"/>
          <p:cNvCxnSpPr/>
          <p:nvPr/>
        </p:nvCxnSpPr>
        <p:spPr>
          <a:xfrm>
            <a:off x="475488" y="3685032"/>
            <a:ext cx="164592" cy="0"/>
          </a:xfrm>
          <a:prstGeom prst="line">
            <a:avLst/>
          </a:prstGeom>
          <a:ln w="22225">
            <a:solidFill>
              <a:srgbClr val="333333"/>
            </a:solidFill>
            <a:tailEnd type="triangle" w="med" len="med"/>
          </a:ln>
        </p:spPr>
      </p:cxnSp>
      <p:cxnSp>
        <p:nvCxnSpPr>
          <p:cNvPr id="42" name="Entrada problema 4"/>
          <p:cNvCxnSpPr/>
          <p:nvPr/>
        </p:nvCxnSpPr>
        <p:spPr>
          <a:xfrm>
            <a:off x="475488" y="4434840"/>
            <a:ext cx="164592" cy="0"/>
          </a:xfrm>
          <a:prstGeom prst="line">
            <a:avLst/>
          </a:prstGeom>
          <a:ln w="22225">
            <a:solidFill>
              <a:srgbClr val="333333"/>
            </a:solidFill>
            <a:tailEnd type="triangle" w="med" len="med"/>
          </a:ln>
        </p:spPr>
      </p:cxnSp>
      <p:cxnSp>
        <p:nvCxnSpPr>
          <p:cNvPr id="43" name="Entrada problema 5"/>
          <p:cNvCxnSpPr/>
          <p:nvPr/>
        </p:nvCxnSpPr>
        <p:spPr>
          <a:xfrm>
            <a:off x="475488" y="5184648"/>
            <a:ext cx="164592" cy="0"/>
          </a:xfrm>
          <a:prstGeom prst="line">
            <a:avLst/>
          </a:prstGeom>
          <a:ln w="22225">
            <a:solidFill>
              <a:srgbClr val="333333"/>
            </a:solidFill>
            <a:tailEnd type="triangle" w="med" len="med"/>
          </a:ln>
        </p:spPr>
      </p:cxnSp>
      <p:cxnSp>
        <p:nvCxnSpPr>
          <p:cNvPr id="44" name="Reporte a fin"/>
          <p:cNvCxnSpPr/>
          <p:nvPr/>
        </p:nvCxnSpPr>
        <p:spPr>
          <a:xfrm>
            <a:off x="7863840" y="5074920"/>
            <a:ext cx="0" cy="228600"/>
          </a:xfrm>
          <a:prstGeom prst="line">
            <a:avLst/>
          </a:prstGeom>
          <a:ln w="22225">
            <a:solidFill>
              <a:srgbClr val="333333"/>
            </a:solidFill>
            <a:tailEnd type="triangle" w="med" len="med"/>
          </a:ln>
        </p:spPr>
      </p:cxnSp>
      <p:sp>
        <p:nvSpPr>
          <p:cNvPr id="45" name="Fin"/>
          <p:cNvSpPr/>
          <p:nvPr/>
        </p:nvSpPr>
        <p:spPr>
          <a:xfrm>
            <a:off x="7635240" y="5303520"/>
            <a:ext cx="457200" cy="457200"/>
          </a:xfrm>
          <a:prstGeom prst="ellipse">
            <a:avLst/>
          </a:prstGeom>
          <a:solidFill>
            <a:srgbClr val="C62828"/>
          </a:solidFill>
          <a:ln w="19050">
            <a:solidFill>
              <a:srgbClr val="C62828"/>
            </a:solidFill>
          </a:ln>
        </p:spPr>
        <p:txBody>
          <a:bodyPr wrap="none" lIns="0" tIns="0" rIns="0" bIns="0" anchor="ctr">
            <a:noAutofit/>
          </a:bodyPr>
          <a:lstStyle/>
          <a:p>
            <a:pPr algn="ctr"/>
            <a:r>
              <a:rPr lang="es-PE" sz="1000" b="1">
                <a:solidFill>
                  <a:srgbClr val="FFFFFF"/>
                </a:solidFill>
              </a:rPr>
              <a:t>Fin</a:t>
            </a:r>
          </a:p>
        </p:txBody>
      </p:sp>
      <p:sp>
        <p:nvSpPr>
          <p:cNvPr id="46"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Ahora abramos el simulador y veamos cómo está organizado por dentro.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Arquitectura modular del simulador</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7</a:t>
            </a:fld>
            <a:endParaRPr lang="es-PE"/>
          </a:p>
        </p:txBody>
      </p:sp>
      <p:sp>
        <p:nvSpPr>
          <p:cNvPr id="6" name="Rounded Rectangle 5"/>
          <p:cNvSpPr/>
          <p:nvPr/>
        </p:nvSpPr>
        <p:spPr>
          <a:xfrm>
            <a:off x="320040" y="1417320"/>
            <a:ext cx="11521440" cy="1417320"/>
          </a:xfrm>
          <a:prstGeom prst="roundRect">
            <a:avLst>
              <a:gd name="adj" fmla="val 6451"/>
            </a:avLst>
          </a:prstGeom>
          <a:solidFill>
            <a:srgbClr val="EEEEEE"/>
          </a:solidFill>
          <a:ln w="19050">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7" name="TextBox 6"/>
          <p:cNvSpPr txBox="1"/>
          <p:nvPr/>
        </p:nvSpPr>
        <p:spPr>
          <a:xfrm>
            <a:off x="457200" y="1444752"/>
            <a:ext cx="1828800" cy="274320"/>
          </a:xfrm>
          <a:prstGeom prst="rect">
            <a:avLst/>
          </a:prstGeom>
          <a:noFill/>
        </p:spPr>
        <p:txBody>
          <a:bodyPr wrap="square" lIns="0" tIns="0" rIns="0" bIns="0" anchor="ctr">
            <a:noAutofit/>
          </a:bodyPr>
          <a:lstStyle/>
          <a:p>
            <a:pPr algn="l"/>
            <a:r>
              <a:rPr sz="1200" b="1">
                <a:solidFill>
                  <a:srgbClr val="595959"/>
                </a:solidFill>
              </a:rPr>
              <a:t>MODO USUARIO</a:t>
            </a:r>
          </a:p>
        </p:txBody>
      </p:sp>
      <p:sp>
        <p:nvSpPr>
          <p:cNvPr id="8" name="Oval 7"/>
          <p:cNvSpPr/>
          <p:nvPr/>
        </p:nvSpPr>
        <p:spPr>
          <a:xfrm>
            <a:off x="640080" y="1874519"/>
            <a:ext cx="1737360" cy="731520"/>
          </a:xfrm>
          <a:prstGeom prst="ellipse">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400" b="1">
                <a:solidFill>
                  <a:srgbClr val="000000"/>
                </a:solidFill>
              </a:rPr>
              <a:t>Usuario</a:t>
            </a:r>
          </a:p>
        </p:txBody>
      </p:sp>
      <p:sp>
        <p:nvSpPr>
          <p:cNvPr id="9" name="Rounded Rectangle 8"/>
          <p:cNvSpPr/>
          <p:nvPr/>
        </p:nvSpPr>
        <p:spPr>
          <a:xfrm>
            <a:off x="3108960" y="1874519"/>
            <a:ext cx="2286000" cy="731520"/>
          </a:xfrm>
          <a:prstGeom prst="roundRect">
            <a:avLst>
              <a:gd name="adj" fmla="val 125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main.py</a:t>
            </a:r>
          </a:p>
          <a:p>
            <a:pPr algn="ctr"/>
            <a:r>
              <a:rPr sz="1200">
                <a:solidFill>
                  <a:srgbClr val="000000"/>
                </a:solidFill>
              </a:rPr>
              <a:t>punto de entrada</a:t>
            </a:r>
          </a:p>
        </p:txBody>
      </p:sp>
      <p:sp>
        <p:nvSpPr>
          <p:cNvPr id="10" name="Rounded Rectangle 9"/>
          <p:cNvSpPr/>
          <p:nvPr/>
        </p:nvSpPr>
        <p:spPr>
          <a:xfrm>
            <a:off x="6126480" y="1874519"/>
            <a:ext cx="2560320" cy="731520"/>
          </a:xfrm>
          <a:prstGeom prst="roundRect">
            <a:avLst>
              <a:gd name="adj" fmla="val 12500"/>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shell.py</a:t>
            </a:r>
          </a:p>
          <a:p>
            <a:pPr algn="ctr"/>
            <a:r>
              <a:rPr sz="1200">
                <a:solidFill>
                  <a:srgbClr val="000000"/>
                </a:solidFill>
              </a:rPr>
              <a:t>CLI y tabla de comandos</a:t>
            </a:r>
          </a:p>
        </p:txBody>
      </p:sp>
      <p:sp>
        <p:nvSpPr>
          <p:cNvPr id="11" name="Rounded Rectangle 10"/>
          <p:cNvSpPr/>
          <p:nvPr/>
        </p:nvSpPr>
        <p:spPr>
          <a:xfrm>
            <a:off x="9418320" y="1874519"/>
            <a:ext cx="2194560" cy="731520"/>
          </a:xfrm>
          <a:prstGeom prst="roundRect">
            <a:avLst>
              <a:gd name="adj" fmla="val 125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Sistema de archivos</a:t>
            </a:r>
          </a:p>
          <a:p>
            <a:pPr algn="ctr"/>
            <a:r>
              <a:rPr sz="1200">
                <a:solidFill>
                  <a:srgbClr val="000000"/>
                </a:solidFill>
              </a:rPr>
              <a:t>ls, mkdir, cd, pwd</a:t>
            </a:r>
          </a:p>
        </p:txBody>
      </p:sp>
      <p:cxnSp>
        <p:nvCxnSpPr>
          <p:cNvPr id="12" name="Connector 11"/>
          <p:cNvCxnSpPr/>
          <p:nvPr/>
        </p:nvCxnSpPr>
        <p:spPr>
          <a:xfrm>
            <a:off x="2377440" y="2240280"/>
            <a:ext cx="73152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31720" y="1920240"/>
            <a:ext cx="822960" cy="228600"/>
          </a:xfrm>
          <a:prstGeom prst="rect">
            <a:avLst/>
          </a:prstGeom>
          <a:noFill/>
        </p:spPr>
        <p:txBody>
          <a:bodyPr wrap="square" lIns="0" tIns="0" rIns="0" bIns="0" anchor="ctr">
            <a:noAutofit/>
          </a:bodyPr>
          <a:lstStyle/>
          <a:p>
            <a:pPr algn="ctr"/>
            <a:r>
              <a:rPr sz="1100" b="1">
                <a:solidFill>
                  <a:srgbClr val="595959"/>
                </a:solidFill>
              </a:rPr>
              <a:t>ejecuta</a:t>
            </a:r>
          </a:p>
        </p:txBody>
      </p:sp>
      <p:cxnSp>
        <p:nvCxnSpPr>
          <p:cNvPr id="14" name="Connector 13"/>
          <p:cNvCxnSpPr/>
          <p:nvPr/>
        </p:nvCxnSpPr>
        <p:spPr>
          <a:xfrm>
            <a:off x="5394960" y="2240280"/>
            <a:ext cx="73152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86800" y="2240280"/>
            <a:ext cx="73152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0040" y="3429000"/>
            <a:ext cx="11521440" cy="1554480"/>
          </a:xfrm>
          <a:prstGeom prst="roundRect">
            <a:avLst>
              <a:gd name="adj" fmla="val 5882"/>
            </a:avLst>
          </a:prstGeom>
          <a:solidFill>
            <a:srgbClr val="EEEEEE"/>
          </a:solidFill>
          <a:ln w="19050">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7" name="TextBox 16"/>
          <p:cNvSpPr txBox="1"/>
          <p:nvPr/>
        </p:nvSpPr>
        <p:spPr>
          <a:xfrm>
            <a:off x="8778240" y="3456432"/>
            <a:ext cx="2926080" cy="274320"/>
          </a:xfrm>
          <a:prstGeom prst="rect">
            <a:avLst/>
          </a:prstGeom>
          <a:noFill/>
        </p:spPr>
        <p:txBody>
          <a:bodyPr wrap="square" lIns="0" tIns="0" rIns="0" bIns="0" anchor="ctr">
            <a:noAutofit/>
          </a:bodyPr>
          <a:lstStyle/>
          <a:p>
            <a:pPr algn="r"/>
            <a:r>
              <a:rPr sz="1200" b="1">
                <a:solidFill>
                  <a:srgbClr val="595959"/>
                </a:solidFill>
              </a:rPr>
              <a:t>NÚCLEO SIMULADO (KERNEL)</a:t>
            </a:r>
          </a:p>
        </p:txBody>
      </p:sp>
      <p:sp>
        <p:nvSpPr>
          <p:cNvPr id="18" name="Rounded Rectangle 17"/>
          <p:cNvSpPr/>
          <p:nvPr/>
        </p:nvSpPr>
        <p:spPr>
          <a:xfrm>
            <a:off x="457200" y="3840480"/>
            <a:ext cx="2103120" cy="960120"/>
          </a:xfrm>
          <a:prstGeom prst="roundRect">
            <a:avLst>
              <a:gd name="adj" fmla="val 9523"/>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procesos.py</a:t>
            </a:r>
          </a:p>
          <a:p>
            <a:pPr algn="ctr"/>
            <a:r>
              <a:rPr sz="1200">
                <a:solidFill>
                  <a:srgbClr val="000000"/>
                </a:solidFill>
              </a:rPr>
              <a:t>PCB y 5 estados</a:t>
            </a:r>
          </a:p>
        </p:txBody>
      </p:sp>
      <p:cxnSp>
        <p:nvCxnSpPr>
          <p:cNvPr id="19" name="Connector 18"/>
          <p:cNvCxnSpPr/>
          <p:nvPr/>
        </p:nvCxnSpPr>
        <p:spPr>
          <a:xfrm flipH="1">
            <a:off x="1508760" y="2606040"/>
            <a:ext cx="5897880" cy="12344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06624" y="3840480"/>
            <a:ext cx="2103120" cy="960120"/>
          </a:xfrm>
          <a:prstGeom prst="roundRect">
            <a:avLst>
              <a:gd name="adj" fmla="val 9523"/>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planificador.py</a:t>
            </a:r>
          </a:p>
          <a:p>
            <a:pPr algn="ctr"/>
            <a:r>
              <a:rPr sz="1200">
                <a:solidFill>
                  <a:srgbClr val="000000"/>
                </a:solidFill>
              </a:rPr>
              <a:t>FCFS, SJF, RR, Prioridad</a:t>
            </a:r>
          </a:p>
        </p:txBody>
      </p:sp>
      <p:cxnSp>
        <p:nvCxnSpPr>
          <p:cNvPr id="21" name="Connector 20"/>
          <p:cNvCxnSpPr/>
          <p:nvPr/>
        </p:nvCxnSpPr>
        <p:spPr>
          <a:xfrm flipH="1">
            <a:off x="3758183" y="2606040"/>
            <a:ext cx="3648457" cy="12344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956048" y="3840480"/>
            <a:ext cx="2103120" cy="960120"/>
          </a:xfrm>
          <a:prstGeom prst="roundRect">
            <a:avLst>
              <a:gd name="adj" fmla="val 9523"/>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sincronizacion.py</a:t>
            </a:r>
          </a:p>
          <a:p>
            <a:pPr algn="ctr"/>
            <a:r>
              <a:rPr sz="1200">
                <a:solidFill>
                  <a:srgbClr val="000000"/>
                </a:solidFill>
              </a:rPr>
              <a:t>productor-consumidor y filósofos</a:t>
            </a:r>
          </a:p>
        </p:txBody>
      </p:sp>
      <p:cxnSp>
        <p:nvCxnSpPr>
          <p:cNvPr id="23" name="Connector 22"/>
          <p:cNvCxnSpPr/>
          <p:nvPr/>
        </p:nvCxnSpPr>
        <p:spPr>
          <a:xfrm flipH="1">
            <a:off x="6007608" y="2606040"/>
            <a:ext cx="1399032" cy="12344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205472" y="3840480"/>
            <a:ext cx="2103120" cy="960120"/>
          </a:xfrm>
          <a:prstGeom prst="roundRect">
            <a:avLst>
              <a:gd name="adj" fmla="val 9523"/>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memoria.py</a:t>
            </a:r>
          </a:p>
          <a:p>
            <a:pPr algn="ctr"/>
            <a:r>
              <a:rPr sz="1200">
                <a:solidFill>
                  <a:srgbClr val="000000"/>
                </a:solidFill>
              </a:rPr>
              <a:t>contigua y paginación</a:t>
            </a:r>
          </a:p>
        </p:txBody>
      </p:sp>
      <p:cxnSp>
        <p:nvCxnSpPr>
          <p:cNvPr id="25" name="Connector 24"/>
          <p:cNvCxnSpPr/>
          <p:nvPr/>
        </p:nvCxnSpPr>
        <p:spPr>
          <a:xfrm>
            <a:off x="7406640" y="2606040"/>
            <a:ext cx="850391" cy="12344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454896" y="3840480"/>
            <a:ext cx="2103120" cy="960120"/>
          </a:xfrm>
          <a:prstGeom prst="roundRect">
            <a:avLst>
              <a:gd name="adj" fmla="val 9523"/>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demo_hilos.py</a:t>
            </a:r>
          </a:p>
          <a:p>
            <a:pPr algn="ctr"/>
            <a:r>
              <a:rPr sz="1200">
                <a:solidFill>
                  <a:srgbClr val="000000"/>
                </a:solidFill>
              </a:rPr>
              <a:t>fork frente a hilos</a:t>
            </a:r>
          </a:p>
        </p:txBody>
      </p:sp>
      <p:cxnSp>
        <p:nvCxnSpPr>
          <p:cNvPr id="27" name="Connector 26"/>
          <p:cNvCxnSpPr/>
          <p:nvPr/>
        </p:nvCxnSpPr>
        <p:spPr>
          <a:xfrm>
            <a:off x="7406640" y="2606040"/>
            <a:ext cx="3099816" cy="12344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20040" y="5212080"/>
            <a:ext cx="3749039"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29" name="TextBox 28"/>
          <p:cNvSpPr txBox="1"/>
          <p:nvPr/>
        </p:nvSpPr>
        <p:spPr>
          <a:xfrm>
            <a:off x="411479" y="5230368"/>
            <a:ext cx="3566160" cy="868680"/>
          </a:xfrm>
          <a:prstGeom prst="rect">
            <a:avLst/>
          </a:prstGeom>
          <a:noFill/>
        </p:spPr>
        <p:txBody>
          <a:bodyPr wrap="square" lIns="45720" rIns="45720" anchor="ctr">
            <a:noAutofit/>
          </a:bodyPr>
          <a:lstStyle/>
          <a:p>
            <a:pPr algn="l"/>
            <a:r>
              <a:rPr sz="1400" b="1"/>
              <a:t>Responsabilidades separadas</a:t>
            </a:r>
          </a:p>
          <a:p>
            <a:pPr algn="l">
              <a:spcBef>
                <a:spcPts val="200"/>
              </a:spcBef>
            </a:pPr>
            <a:r>
              <a:rPr sz="1400"/>
              <a:t>modo usuario y kernel diferenciados</a:t>
            </a:r>
          </a:p>
        </p:txBody>
      </p:sp>
      <p:sp>
        <p:nvSpPr>
          <p:cNvPr id="30" name="Rounded Rectangle 29"/>
          <p:cNvSpPr/>
          <p:nvPr/>
        </p:nvSpPr>
        <p:spPr>
          <a:xfrm>
            <a:off x="4206240" y="5212080"/>
            <a:ext cx="3749039"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1" name="TextBox 30"/>
          <p:cNvSpPr txBox="1"/>
          <p:nvPr/>
        </p:nvSpPr>
        <p:spPr>
          <a:xfrm>
            <a:off x="4297679" y="5230368"/>
            <a:ext cx="3566160" cy="868680"/>
          </a:xfrm>
          <a:prstGeom prst="rect">
            <a:avLst/>
          </a:prstGeom>
          <a:noFill/>
        </p:spPr>
        <p:txBody>
          <a:bodyPr wrap="square" lIns="45720" rIns="45720" anchor="ctr">
            <a:noAutofit/>
          </a:bodyPr>
          <a:lstStyle/>
          <a:p>
            <a:pPr algn="l"/>
            <a:r>
              <a:rPr sz="1400" b="1"/>
              <a:t>Un módulo por unidad del curso</a:t>
            </a:r>
          </a:p>
          <a:p>
            <a:pPr algn="l">
              <a:spcBef>
                <a:spcPts val="200"/>
              </a:spcBef>
            </a:pPr>
            <a:r>
              <a:rPr sz="1400"/>
              <a:t>se construye de forma incremental</a:t>
            </a:r>
          </a:p>
        </p:txBody>
      </p:sp>
      <p:sp>
        <p:nvSpPr>
          <p:cNvPr id="32" name="Rounded Rectangle 31"/>
          <p:cNvSpPr/>
          <p:nvPr/>
        </p:nvSpPr>
        <p:spPr>
          <a:xfrm>
            <a:off x="8092440" y="5212080"/>
            <a:ext cx="3749039"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3" name="TextBox 32"/>
          <p:cNvSpPr txBox="1"/>
          <p:nvPr/>
        </p:nvSpPr>
        <p:spPr>
          <a:xfrm>
            <a:off x="8183879" y="5230368"/>
            <a:ext cx="3566160" cy="868680"/>
          </a:xfrm>
          <a:prstGeom prst="rect">
            <a:avLst/>
          </a:prstGeom>
          <a:noFill/>
        </p:spPr>
        <p:txBody>
          <a:bodyPr wrap="square" lIns="45720" rIns="45720" anchor="ctr">
            <a:noAutofit/>
          </a:bodyPr>
          <a:lstStyle/>
          <a:p>
            <a:pPr algn="l"/>
            <a:r>
              <a:rPr sz="1400" b="1"/>
              <a:t>Pruebas por módulo</a:t>
            </a:r>
          </a:p>
          <a:p>
            <a:pPr algn="l">
              <a:spcBef>
                <a:spcPts val="200"/>
              </a:spcBef>
            </a:pPr>
            <a:r>
              <a:rPr sz="1400"/>
              <a:t>40 pruebas automatizadas</a:t>
            </a:r>
          </a:p>
        </p:txBody>
      </p:sp>
      <p:sp>
        <p:nvSpPr>
          <p:cNvPr id="34"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Todo empieza en el shell: así recibe y procesa cada orden del usuario.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Flujo del shell: bucle principal</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8</a:t>
            </a:fld>
            <a:endParaRPr lang="es-PE"/>
          </a:p>
        </p:txBody>
      </p:sp>
      <p:sp>
        <p:nvSpPr>
          <p:cNvPr id="6" name="Rounded Rectangle 5"/>
          <p:cNvSpPr/>
          <p:nvPr/>
        </p:nvSpPr>
        <p:spPr>
          <a:xfrm>
            <a:off x="1051560" y="1371600"/>
            <a:ext cx="18288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python src/main.py</a:t>
            </a:r>
          </a:p>
        </p:txBody>
      </p:sp>
      <p:sp>
        <p:nvSpPr>
          <p:cNvPr id="7" name="Rounded Rectangle 6"/>
          <p:cNvSpPr/>
          <p:nvPr/>
        </p:nvSpPr>
        <p:spPr>
          <a:xfrm>
            <a:off x="3383280" y="1371600"/>
            <a:ext cx="2468880" cy="640080"/>
          </a:xfrm>
          <a:prstGeom prst="roundRect">
            <a:avLst>
              <a:gd name="adj" fmla="val 14285"/>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Configurar UTF-8</a:t>
            </a:r>
          </a:p>
        </p:txBody>
      </p:sp>
      <p:cxnSp>
        <p:nvCxnSpPr>
          <p:cNvPr id="8" name="Connector 7"/>
          <p:cNvCxnSpPr/>
          <p:nvPr/>
        </p:nvCxnSpPr>
        <p:spPr>
          <a:xfrm>
            <a:off x="2880360" y="1691640"/>
            <a:ext cx="50292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355080" y="1371600"/>
            <a:ext cx="2468880" cy="640080"/>
          </a:xfrm>
          <a:prstGeom prst="roundRect">
            <a:avLst>
              <a:gd name="adj" fmla="val 14285"/>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Crear Shell y registrar comandos</a:t>
            </a:r>
          </a:p>
        </p:txBody>
      </p:sp>
      <p:cxnSp>
        <p:nvCxnSpPr>
          <p:cNvPr id="10" name="Connector 9"/>
          <p:cNvCxnSpPr/>
          <p:nvPr/>
        </p:nvCxnSpPr>
        <p:spPr>
          <a:xfrm>
            <a:off x="5852160" y="1691640"/>
            <a:ext cx="50292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326880" y="1371600"/>
            <a:ext cx="2468880" cy="640080"/>
          </a:xfrm>
          <a:prstGeom prst="roundRect">
            <a:avLst>
              <a:gd name="adj" fmla="val 14285"/>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Mostrar banner</a:t>
            </a:r>
          </a:p>
        </p:txBody>
      </p:sp>
      <p:cxnSp>
        <p:nvCxnSpPr>
          <p:cNvPr id="12" name="Connector 11"/>
          <p:cNvCxnSpPr/>
          <p:nvPr/>
        </p:nvCxnSpPr>
        <p:spPr>
          <a:xfrm>
            <a:off x="8823959" y="1691640"/>
            <a:ext cx="502921"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0040" y="3200400"/>
            <a:ext cx="1645920" cy="914400"/>
          </a:xfrm>
          <a:prstGeom prst="roundRect">
            <a:avLst>
              <a:gd name="adj" fmla="val 100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Mostrar prompt y leer línea</a:t>
            </a:r>
          </a:p>
        </p:txBody>
      </p:sp>
      <p:sp>
        <p:nvSpPr>
          <p:cNvPr id="14" name="Diamond 13"/>
          <p:cNvSpPr/>
          <p:nvPr/>
        </p:nvSpPr>
        <p:spPr>
          <a:xfrm>
            <a:off x="2350008" y="3017520"/>
            <a:ext cx="1371600" cy="1280160"/>
          </a:xfrm>
          <a:prstGeom prst="diamond">
            <a:avLst/>
          </a:prstGeom>
          <a:solidFill>
            <a:srgbClr val="FFF3CD"/>
          </a:solidFill>
          <a:ln w="19050">
            <a:solidFill>
              <a:srgbClr val="B589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¿EOF?</a:t>
            </a:r>
          </a:p>
        </p:txBody>
      </p:sp>
      <p:sp>
        <p:nvSpPr>
          <p:cNvPr id="15" name="Rounded Rectangle 14"/>
          <p:cNvSpPr/>
          <p:nvPr/>
        </p:nvSpPr>
        <p:spPr>
          <a:xfrm>
            <a:off x="4105656" y="3200400"/>
            <a:ext cx="1645920" cy="914400"/>
          </a:xfrm>
          <a:prstGeom prst="roundRect">
            <a:avLst>
              <a:gd name="adj" fmla="val 100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Dividir con shlex.split</a:t>
            </a:r>
          </a:p>
        </p:txBody>
      </p:sp>
      <p:sp>
        <p:nvSpPr>
          <p:cNvPr id="16" name="Diamond 15"/>
          <p:cNvSpPr/>
          <p:nvPr/>
        </p:nvSpPr>
        <p:spPr>
          <a:xfrm>
            <a:off x="6135624" y="3017520"/>
            <a:ext cx="1828800" cy="1280160"/>
          </a:xfrm>
          <a:prstGeom prst="diamond">
            <a:avLst/>
          </a:prstGeom>
          <a:solidFill>
            <a:srgbClr val="FFF3CD"/>
          </a:solidFill>
          <a:ln w="19050">
            <a:solidFill>
              <a:srgbClr val="B58900"/>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200">
                <a:solidFill>
                  <a:srgbClr val="000000"/>
                </a:solidFill>
              </a:rPr>
              <a:t>¿Comando registrado?</a:t>
            </a:r>
          </a:p>
        </p:txBody>
      </p:sp>
      <p:sp>
        <p:nvSpPr>
          <p:cNvPr id="17" name="Rounded Rectangle 16"/>
          <p:cNvSpPr/>
          <p:nvPr/>
        </p:nvSpPr>
        <p:spPr>
          <a:xfrm>
            <a:off x="8348472" y="3200400"/>
            <a:ext cx="1554480" cy="914400"/>
          </a:xfrm>
          <a:prstGeom prst="roundRect">
            <a:avLst>
              <a:gd name="adj" fmla="val 100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Ejecutar el comando</a:t>
            </a:r>
          </a:p>
        </p:txBody>
      </p:sp>
      <p:sp>
        <p:nvSpPr>
          <p:cNvPr id="18" name="Diamond 17"/>
          <p:cNvSpPr/>
          <p:nvPr/>
        </p:nvSpPr>
        <p:spPr>
          <a:xfrm>
            <a:off x="10287000" y="3017520"/>
            <a:ext cx="1554480" cy="1280160"/>
          </a:xfrm>
          <a:prstGeom prst="diamond">
            <a:avLst/>
          </a:prstGeom>
          <a:solidFill>
            <a:srgbClr val="FFF3CD"/>
          </a:solidFill>
          <a:ln w="19050">
            <a:solidFill>
              <a:srgbClr val="B58900"/>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200">
                <a:solidFill>
                  <a:srgbClr val="000000"/>
                </a:solidFill>
              </a:rPr>
              <a:t>¿Hubo error?</a:t>
            </a:r>
          </a:p>
        </p:txBody>
      </p:sp>
      <p:cxnSp>
        <p:nvCxnSpPr>
          <p:cNvPr id="19" name="Connector 18"/>
          <p:cNvCxnSpPr/>
          <p:nvPr/>
        </p:nvCxnSpPr>
        <p:spPr>
          <a:xfrm>
            <a:off x="1965960" y="3657600"/>
            <a:ext cx="384048"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21608" y="3657600"/>
            <a:ext cx="384048"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51576" y="3657600"/>
            <a:ext cx="384048"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64424" y="3657600"/>
            <a:ext cx="384048"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902952" y="3657600"/>
            <a:ext cx="384048"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721608" y="3383280"/>
            <a:ext cx="384047" cy="228600"/>
          </a:xfrm>
          <a:prstGeom prst="rect">
            <a:avLst/>
          </a:prstGeom>
          <a:noFill/>
        </p:spPr>
        <p:txBody>
          <a:bodyPr wrap="square" lIns="0" tIns="0" rIns="0" bIns="0" anchor="ctr">
            <a:noAutofit/>
          </a:bodyPr>
          <a:lstStyle/>
          <a:p>
            <a:pPr algn="ctr"/>
            <a:r>
              <a:rPr sz="1100" b="1">
                <a:solidFill>
                  <a:srgbClr val="595959"/>
                </a:solidFill>
              </a:rPr>
              <a:t>No</a:t>
            </a:r>
          </a:p>
        </p:txBody>
      </p:sp>
      <p:sp>
        <p:nvSpPr>
          <p:cNvPr id="25" name="TextBox 24"/>
          <p:cNvSpPr txBox="1"/>
          <p:nvPr/>
        </p:nvSpPr>
        <p:spPr>
          <a:xfrm>
            <a:off x="7964424" y="3383280"/>
            <a:ext cx="384047" cy="228600"/>
          </a:xfrm>
          <a:prstGeom prst="rect">
            <a:avLst/>
          </a:prstGeom>
          <a:noFill/>
        </p:spPr>
        <p:txBody>
          <a:bodyPr wrap="square" lIns="0" tIns="0" rIns="0" bIns="0" anchor="ctr">
            <a:noAutofit/>
          </a:bodyPr>
          <a:lstStyle/>
          <a:p>
            <a:pPr algn="ctr"/>
            <a:r>
              <a:rPr sz="1100" b="1">
                <a:solidFill>
                  <a:srgbClr val="595959"/>
                </a:solidFill>
              </a:rPr>
              <a:t>Sí</a:t>
            </a:r>
          </a:p>
        </p:txBody>
      </p:sp>
      <p:cxnSp>
        <p:nvCxnSpPr>
          <p:cNvPr id="26" name="Connector 25"/>
          <p:cNvCxnSpPr/>
          <p:nvPr/>
        </p:nvCxnSpPr>
        <p:spPr>
          <a:xfrm>
            <a:off x="9464040" y="2011680"/>
            <a:ext cx="0" cy="384048"/>
          </a:xfrm>
          <a:prstGeom prst="line">
            <a:avLst/>
          </a:prstGeom>
          <a:ln w="22225">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22960" y="2395728"/>
            <a:ext cx="8641080" cy="0"/>
          </a:xfrm>
          <a:prstGeom prst="line">
            <a:avLst/>
          </a:prstGeom>
          <a:ln w="22225">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22960" y="2395728"/>
            <a:ext cx="0" cy="804672"/>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1064240" y="2697480"/>
            <a:ext cx="0" cy="320040"/>
          </a:xfrm>
          <a:prstGeom prst="line">
            <a:avLst/>
          </a:prstGeom>
          <a:ln w="22225">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554480" y="2697480"/>
            <a:ext cx="9509760" cy="0"/>
          </a:xfrm>
          <a:prstGeom prst="line">
            <a:avLst/>
          </a:prstGeom>
          <a:ln w="22225">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554480" y="2697480"/>
            <a:ext cx="0" cy="50292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064240" y="2743200"/>
            <a:ext cx="868680" cy="228600"/>
          </a:xfrm>
          <a:prstGeom prst="rect">
            <a:avLst/>
          </a:prstGeom>
          <a:noFill/>
        </p:spPr>
        <p:txBody>
          <a:bodyPr wrap="square" lIns="0" tIns="0" rIns="0" bIns="0" anchor="ctr">
            <a:noAutofit/>
          </a:bodyPr>
          <a:lstStyle/>
          <a:p>
            <a:pPr algn="l"/>
            <a:r>
              <a:rPr sz="1100" b="1">
                <a:solidFill>
                  <a:srgbClr val="595959"/>
                </a:solidFill>
              </a:rPr>
              <a:t>No: repite</a:t>
            </a:r>
          </a:p>
        </p:txBody>
      </p:sp>
      <p:sp>
        <p:nvSpPr>
          <p:cNvPr id="33" name="Rounded Rectangle 32"/>
          <p:cNvSpPr/>
          <p:nvPr/>
        </p:nvSpPr>
        <p:spPr>
          <a:xfrm>
            <a:off x="1984248" y="4572000"/>
            <a:ext cx="2103120" cy="502920"/>
          </a:xfrm>
          <a:prstGeom prst="roundRect">
            <a:avLst>
              <a:gd name="adj" fmla="val 13333"/>
            </a:avLst>
          </a:prstGeom>
          <a:solidFill>
            <a:srgbClr val="FFF3CD"/>
          </a:solidFill>
          <a:ln w="19050">
            <a:solidFill>
              <a:srgbClr val="B589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Apaga NexusOS-Sim</a:t>
            </a:r>
          </a:p>
        </p:txBody>
      </p:sp>
      <p:cxnSp>
        <p:nvCxnSpPr>
          <p:cNvPr id="34" name="Connector 33"/>
          <p:cNvCxnSpPr/>
          <p:nvPr/>
        </p:nvCxnSpPr>
        <p:spPr>
          <a:xfrm>
            <a:off x="3035808" y="4297680"/>
            <a:ext cx="0" cy="27432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81527" y="4315968"/>
            <a:ext cx="365760" cy="228600"/>
          </a:xfrm>
          <a:prstGeom prst="rect">
            <a:avLst/>
          </a:prstGeom>
          <a:noFill/>
        </p:spPr>
        <p:txBody>
          <a:bodyPr wrap="square" lIns="0" tIns="0" rIns="0" bIns="0" anchor="ctr">
            <a:noAutofit/>
          </a:bodyPr>
          <a:lstStyle/>
          <a:p>
            <a:pPr algn="ctr"/>
            <a:r>
              <a:rPr sz="1100" b="1">
                <a:solidFill>
                  <a:srgbClr val="595959"/>
                </a:solidFill>
              </a:rPr>
              <a:t>Sí</a:t>
            </a:r>
          </a:p>
        </p:txBody>
      </p:sp>
      <p:sp>
        <p:nvSpPr>
          <p:cNvPr id="36" name="Rounded Rectangle 35"/>
          <p:cNvSpPr/>
          <p:nvPr/>
        </p:nvSpPr>
        <p:spPr>
          <a:xfrm>
            <a:off x="6044184" y="4572000"/>
            <a:ext cx="2011680" cy="502920"/>
          </a:xfrm>
          <a:prstGeom prst="roundRect">
            <a:avLst>
              <a:gd name="adj" fmla="val 13333"/>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Error: comando no encontrado</a:t>
            </a:r>
          </a:p>
        </p:txBody>
      </p:sp>
      <p:cxnSp>
        <p:nvCxnSpPr>
          <p:cNvPr id="37" name="Connector 36"/>
          <p:cNvCxnSpPr/>
          <p:nvPr/>
        </p:nvCxnSpPr>
        <p:spPr>
          <a:xfrm>
            <a:off x="7050024" y="4297680"/>
            <a:ext cx="0" cy="27432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095744" y="4315968"/>
            <a:ext cx="365760" cy="228600"/>
          </a:xfrm>
          <a:prstGeom prst="rect">
            <a:avLst/>
          </a:prstGeom>
          <a:noFill/>
        </p:spPr>
        <p:txBody>
          <a:bodyPr wrap="square" lIns="0" tIns="0" rIns="0" bIns="0" anchor="ctr">
            <a:noAutofit/>
          </a:bodyPr>
          <a:lstStyle/>
          <a:p>
            <a:pPr algn="ctr"/>
            <a:r>
              <a:rPr sz="1100" b="1">
                <a:solidFill>
                  <a:srgbClr val="595959"/>
                </a:solidFill>
              </a:rPr>
              <a:t>No</a:t>
            </a:r>
          </a:p>
        </p:txBody>
      </p:sp>
      <p:sp>
        <p:nvSpPr>
          <p:cNvPr id="39" name="Rounded Rectangle 38"/>
          <p:cNvSpPr/>
          <p:nvPr/>
        </p:nvSpPr>
        <p:spPr>
          <a:xfrm>
            <a:off x="9464040" y="4572000"/>
            <a:ext cx="2377440" cy="502920"/>
          </a:xfrm>
          <a:prstGeom prst="roundRect">
            <a:avLst>
              <a:gd name="adj" fmla="val 13333"/>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a:solidFill>
                  <a:srgbClr val="000000"/>
                </a:solidFill>
              </a:rPr>
              <a:t>error: mensaje; el shell no se cae</a:t>
            </a:r>
          </a:p>
        </p:txBody>
      </p:sp>
      <p:cxnSp>
        <p:nvCxnSpPr>
          <p:cNvPr id="40" name="Connector 39"/>
          <p:cNvCxnSpPr/>
          <p:nvPr/>
        </p:nvCxnSpPr>
        <p:spPr>
          <a:xfrm>
            <a:off x="11064240" y="4297680"/>
            <a:ext cx="0" cy="27432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109960" y="4315968"/>
            <a:ext cx="365760" cy="228600"/>
          </a:xfrm>
          <a:prstGeom prst="rect">
            <a:avLst/>
          </a:prstGeom>
          <a:noFill/>
        </p:spPr>
        <p:txBody>
          <a:bodyPr wrap="square" lIns="0" tIns="0" rIns="0" bIns="0" anchor="ctr">
            <a:noAutofit/>
          </a:bodyPr>
          <a:lstStyle/>
          <a:p>
            <a:pPr algn="ctr"/>
            <a:r>
              <a:rPr sz="1100" b="1">
                <a:solidFill>
                  <a:srgbClr val="595959"/>
                </a:solidFill>
              </a:rPr>
              <a:t>Sí</a:t>
            </a:r>
          </a:p>
        </p:txBody>
      </p:sp>
      <p:sp>
        <p:nvSpPr>
          <p:cNvPr id="42" name="Rounded Rectangle 41"/>
          <p:cNvSpPr/>
          <p:nvPr/>
        </p:nvSpPr>
        <p:spPr>
          <a:xfrm>
            <a:off x="320040" y="5760720"/>
            <a:ext cx="11521440" cy="502920"/>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43" name="TextBox 42"/>
          <p:cNvSpPr txBox="1"/>
          <p:nvPr/>
        </p:nvSpPr>
        <p:spPr>
          <a:xfrm>
            <a:off x="411480" y="5760720"/>
            <a:ext cx="11338560" cy="502920"/>
          </a:xfrm>
          <a:prstGeom prst="rect">
            <a:avLst/>
          </a:prstGeom>
          <a:noFill/>
        </p:spPr>
        <p:txBody>
          <a:bodyPr wrap="square" lIns="45720" rIns="45720" anchor="ctr">
            <a:noAutofit/>
          </a:bodyPr>
          <a:lstStyle/>
          <a:p>
            <a:pPr algn="l"/>
            <a:r>
              <a:rPr sz="1500" b="1"/>
              <a:t>Por qué importa:</a:t>
            </a:r>
            <a:r>
              <a:rPr sz="1500"/>
              <a:t> toda entrada inválida se captura y se informa; el simulador nunca se cae.</a:t>
            </a:r>
          </a:p>
        </p:txBody>
      </p:sp>
      <p:cxnSp>
        <p:nvCxnSpPr>
          <p:cNvPr id="45" name="Inicio a main"/>
          <p:cNvCxnSpPr/>
          <p:nvPr/>
        </p:nvCxnSpPr>
        <p:spPr>
          <a:xfrm>
            <a:off x="868680" y="1691640"/>
            <a:ext cx="182880" cy="0"/>
          </a:xfrm>
          <a:prstGeom prst="line">
            <a:avLst/>
          </a:prstGeom>
          <a:ln w="22225">
            <a:solidFill>
              <a:srgbClr val="333333"/>
            </a:solidFill>
            <a:tailEnd type="triangle" w="med" len="med"/>
          </a:ln>
        </p:spPr>
      </p:cxnSp>
      <p:cxnSp>
        <p:nvCxnSpPr>
          <p:cNvPr id="47" name="Mensaje cmd a fin"/>
          <p:cNvCxnSpPr/>
          <p:nvPr/>
        </p:nvCxnSpPr>
        <p:spPr>
          <a:xfrm>
            <a:off x="7050024" y="5074920"/>
            <a:ext cx="0" cy="164592"/>
          </a:xfrm>
          <a:prstGeom prst="line">
            <a:avLst/>
          </a:prstGeom>
          <a:ln w="22225">
            <a:solidFill>
              <a:srgbClr val="333333"/>
            </a:solidFill>
            <a:tailEnd type="triangle" w="med" len="med"/>
          </a:ln>
        </p:spPr>
      </p:cxnSp>
      <p:cxnSp>
        <p:nvCxnSpPr>
          <p:cNvPr id="48" name="Apagado a fin (v)"/>
          <p:cNvCxnSpPr/>
          <p:nvPr/>
        </p:nvCxnSpPr>
        <p:spPr>
          <a:xfrm>
            <a:off x="3035808" y="5074920"/>
            <a:ext cx="0" cy="365760"/>
          </a:xfrm>
          <a:prstGeom prst="line">
            <a:avLst/>
          </a:prstGeom>
          <a:ln w="22225">
            <a:solidFill>
              <a:srgbClr val="333333"/>
            </a:solidFill>
          </a:ln>
        </p:spPr>
      </p:cxnSp>
      <p:cxnSp>
        <p:nvCxnSpPr>
          <p:cNvPr id="49" name="Apagado a fin (h)"/>
          <p:cNvCxnSpPr/>
          <p:nvPr/>
        </p:nvCxnSpPr>
        <p:spPr>
          <a:xfrm>
            <a:off x="3035808" y="5440680"/>
            <a:ext cx="3813048" cy="0"/>
          </a:xfrm>
          <a:prstGeom prst="line">
            <a:avLst/>
          </a:prstGeom>
          <a:ln w="22225">
            <a:solidFill>
              <a:srgbClr val="333333"/>
            </a:solidFill>
            <a:tailEnd type="triangle" w="med" len="med"/>
          </a:ln>
        </p:spPr>
      </p:cxnSp>
      <p:cxnSp>
        <p:nvCxnSpPr>
          <p:cNvPr id="50" name="Error a fin (v)"/>
          <p:cNvCxnSpPr/>
          <p:nvPr/>
        </p:nvCxnSpPr>
        <p:spPr>
          <a:xfrm>
            <a:off x="10652760" y="5074920"/>
            <a:ext cx="0" cy="365760"/>
          </a:xfrm>
          <a:prstGeom prst="line">
            <a:avLst/>
          </a:prstGeom>
          <a:ln w="22225">
            <a:solidFill>
              <a:srgbClr val="333333"/>
            </a:solidFill>
          </a:ln>
        </p:spPr>
      </p:cxnSp>
      <p:cxnSp>
        <p:nvCxnSpPr>
          <p:cNvPr id="51" name="Error a fin (h)"/>
          <p:cNvCxnSpPr>
            <a:cxnSpLocks/>
          </p:cNvCxnSpPr>
          <p:nvPr/>
        </p:nvCxnSpPr>
        <p:spPr>
          <a:xfrm flipH="1">
            <a:off x="7251192" y="5440680"/>
            <a:ext cx="3401568" cy="0"/>
          </a:xfrm>
          <a:prstGeom prst="line">
            <a:avLst/>
          </a:prstGeom>
          <a:ln w="22225">
            <a:solidFill>
              <a:srgbClr val="333333"/>
            </a:solidFill>
            <a:tailEnd type="triangle" w="med" len="med"/>
          </a:ln>
        </p:spPr>
      </p:cxnSp>
      <p:sp>
        <p:nvSpPr>
          <p:cNvPr id="52"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Cada orden crea procesos; veamos cómo los representa el sistema.</a:t>
            </a:r>
          </a:p>
        </p:txBody>
      </p:sp>
      <p:sp>
        <p:nvSpPr>
          <p:cNvPr id="3" name="Rectángulo: esquinas redondeadas 2">
            <a:extLst>
              <a:ext uri="{FF2B5EF4-FFF2-40B4-BE49-F238E27FC236}">
                <a16:creationId xmlns:a16="http://schemas.microsoft.com/office/drawing/2014/main" id="{1EBE494C-6C23-4851-16C5-C0FF55AA0AF2}"/>
              </a:ext>
            </a:extLst>
          </p:cNvPr>
          <p:cNvSpPr/>
          <p:nvPr/>
        </p:nvSpPr>
        <p:spPr>
          <a:xfrm>
            <a:off x="182883" y="1528851"/>
            <a:ext cx="731513" cy="3255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t>Inicio</a:t>
            </a:r>
            <a:endParaRPr lang="es-PE" sz="1200" b="1" dirty="0"/>
          </a:p>
        </p:txBody>
      </p:sp>
      <p:sp>
        <p:nvSpPr>
          <p:cNvPr id="53" name="Rectángulo: esquinas redondeadas 52">
            <a:extLst>
              <a:ext uri="{FF2B5EF4-FFF2-40B4-BE49-F238E27FC236}">
                <a16:creationId xmlns:a16="http://schemas.microsoft.com/office/drawing/2014/main" id="{B5A1F954-C80A-AF45-FBD0-D02EE080E650}"/>
              </a:ext>
            </a:extLst>
          </p:cNvPr>
          <p:cNvSpPr/>
          <p:nvPr/>
        </p:nvSpPr>
        <p:spPr>
          <a:xfrm>
            <a:off x="6684267" y="5212079"/>
            <a:ext cx="731513" cy="3255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t>Inicio</a:t>
            </a:r>
            <a:endParaRPr lang="es-PE" sz="12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Definición del modelo de datos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9</a:t>
            </a:fld>
            <a:endParaRPr lang="es-PE"/>
          </a:p>
        </p:txBody>
      </p:sp>
      <p:graphicFrame>
        <p:nvGraphicFramePr>
          <p:cNvPr id="6" name="Table 5"/>
          <p:cNvGraphicFramePr>
            <a:graphicFrameLocks noGrp="1"/>
          </p:cNvGraphicFramePr>
          <p:nvPr/>
        </p:nvGraphicFramePr>
        <p:xfrm>
          <a:off x="219456" y="1554480"/>
          <a:ext cx="6400800" cy="3968496"/>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566928">
                <a:tc>
                  <a:txBody>
                    <a:bodyPr/>
                    <a:lstStyle/>
                    <a:p>
                      <a:pPr algn="ctr"/>
                      <a:r>
                        <a:rPr sz="1400" b="1"/>
                        <a:t>Campo del PCB</a:t>
                      </a:r>
                    </a:p>
                  </a:txBody>
                  <a:tcPr marL="73152" marR="73152" marT="27432" marB="27432" anchor="ctr"/>
                </a:tc>
                <a:tc>
                  <a:txBody>
                    <a:bodyPr/>
                    <a:lstStyle/>
                    <a:p>
                      <a:pPr algn="ctr"/>
                      <a:r>
                        <a:rPr sz="1400" b="1"/>
                        <a:t>Descripción</a:t>
                      </a:r>
                    </a:p>
                  </a:txBody>
                  <a:tcPr marL="73152" marR="73152" marT="27432" marB="27432" anchor="ctr"/>
                </a:tc>
                <a:extLst>
                  <a:ext uri="{0D108BD9-81ED-4DB2-BD59-A6C34878D82A}">
                    <a16:rowId xmlns:a16="http://schemas.microsoft.com/office/drawing/2014/main" val="10000"/>
                  </a:ext>
                </a:extLst>
              </a:tr>
              <a:tr h="566928">
                <a:tc>
                  <a:txBody>
                    <a:bodyPr/>
                    <a:lstStyle/>
                    <a:p>
                      <a:pPr algn="l"/>
                      <a:r>
                        <a:rPr sz="1400" b="1"/>
                        <a:t>pid / ppid</a:t>
                      </a:r>
                    </a:p>
                  </a:txBody>
                  <a:tcPr marL="73152" marR="73152" marT="27432" marB="27432" anchor="ctr"/>
                </a:tc>
                <a:tc>
                  <a:txBody>
                    <a:bodyPr/>
                    <a:lstStyle/>
                    <a:p>
                      <a:pPr algn="l"/>
                      <a:r>
                        <a:rPr sz="1400"/>
                        <a:t>Identificador del proceso y de su padre</a:t>
                      </a:r>
                    </a:p>
                  </a:txBody>
                  <a:tcPr marL="73152" marR="73152" marT="27432" marB="27432" anchor="ctr"/>
                </a:tc>
                <a:extLst>
                  <a:ext uri="{0D108BD9-81ED-4DB2-BD59-A6C34878D82A}">
                    <a16:rowId xmlns:a16="http://schemas.microsoft.com/office/drawing/2014/main" val="10001"/>
                  </a:ext>
                </a:extLst>
              </a:tr>
              <a:tr h="566928">
                <a:tc>
                  <a:txBody>
                    <a:bodyPr/>
                    <a:lstStyle/>
                    <a:p>
                      <a:pPr algn="l"/>
                      <a:r>
                        <a:rPr sz="1400" b="1"/>
                        <a:t>nombre</a:t>
                      </a:r>
                    </a:p>
                  </a:txBody>
                  <a:tcPr marL="73152" marR="73152" marT="27432" marB="27432" anchor="ctr"/>
                </a:tc>
                <a:tc>
                  <a:txBody>
                    <a:bodyPr/>
                    <a:lstStyle/>
                    <a:p>
                      <a:pPr algn="l"/>
                      <a:r>
                        <a:rPr sz="1400"/>
                        <a:t>Nombre del proceso</a:t>
                      </a:r>
                    </a:p>
                  </a:txBody>
                  <a:tcPr marL="73152" marR="73152" marT="27432" marB="27432" anchor="ctr"/>
                </a:tc>
                <a:extLst>
                  <a:ext uri="{0D108BD9-81ED-4DB2-BD59-A6C34878D82A}">
                    <a16:rowId xmlns:a16="http://schemas.microsoft.com/office/drawing/2014/main" val="10002"/>
                  </a:ext>
                </a:extLst>
              </a:tr>
              <a:tr h="566928">
                <a:tc>
                  <a:txBody>
                    <a:bodyPr/>
                    <a:lstStyle/>
                    <a:p>
                      <a:pPr algn="l"/>
                      <a:r>
                        <a:rPr sz="1400" b="1"/>
                        <a:t>estado</a:t>
                      </a:r>
                    </a:p>
                  </a:txBody>
                  <a:tcPr marL="73152" marR="73152" marT="27432" marB="27432" anchor="ctr"/>
                </a:tc>
                <a:tc>
                  <a:txBody>
                    <a:bodyPr/>
                    <a:lstStyle/>
                    <a:p>
                      <a:pPr algn="l"/>
                      <a:r>
                        <a:rPr sz="1400"/>
                        <a:t>Uno de los cinco estados del ciclo de vida</a:t>
                      </a:r>
                    </a:p>
                  </a:txBody>
                  <a:tcPr marL="73152" marR="73152" marT="27432" marB="27432" anchor="ctr"/>
                </a:tc>
                <a:extLst>
                  <a:ext uri="{0D108BD9-81ED-4DB2-BD59-A6C34878D82A}">
                    <a16:rowId xmlns:a16="http://schemas.microsoft.com/office/drawing/2014/main" val="10003"/>
                  </a:ext>
                </a:extLst>
              </a:tr>
              <a:tr h="566928">
                <a:tc>
                  <a:txBody>
                    <a:bodyPr/>
                    <a:lstStyle/>
                    <a:p>
                      <a:pPr algn="l"/>
                      <a:r>
                        <a:rPr sz="1400" b="1"/>
                        <a:t>pc</a:t>
                      </a:r>
                    </a:p>
                  </a:txBody>
                  <a:tcPr marL="73152" marR="73152" marT="27432" marB="27432" anchor="ctr"/>
                </a:tc>
                <a:tc>
                  <a:txBody>
                    <a:bodyPr/>
                    <a:lstStyle/>
                    <a:p>
                      <a:pPr algn="l"/>
                      <a:r>
                        <a:rPr sz="1400"/>
                        <a:t>Contador de programa</a:t>
                      </a:r>
                    </a:p>
                  </a:txBody>
                  <a:tcPr marL="73152" marR="73152" marT="27432" marB="27432" anchor="ctr"/>
                </a:tc>
                <a:extLst>
                  <a:ext uri="{0D108BD9-81ED-4DB2-BD59-A6C34878D82A}">
                    <a16:rowId xmlns:a16="http://schemas.microsoft.com/office/drawing/2014/main" val="10004"/>
                  </a:ext>
                </a:extLst>
              </a:tr>
              <a:tr h="566928">
                <a:tc>
                  <a:txBody>
                    <a:bodyPr/>
                    <a:lstStyle/>
                    <a:p>
                      <a:pPr algn="l"/>
                      <a:r>
                        <a:rPr sz="1400" b="1"/>
                        <a:t>registros</a:t>
                      </a:r>
                    </a:p>
                  </a:txBody>
                  <a:tcPr marL="73152" marR="73152" marT="27432" marB="27432" anchor="ctr"/>
                </a:tc>
                <a:tc>
                  <a:txBody>
                    <a:bodyPr/>
                    <a:lstStyle/>
                    <a:p>
                      <a:pPr algn="l"/>
                      <a:r>
                        <a:rPr sz="1400"/>
                        <a:t>Diccionario de registros (aislado)</a:t>
                      </a:r>
                    </a:p>
                  </a:txBody>
                  <a:tcPr marL="73152" marR="73152" marT="27432" marB="27432" anchor="ctr"/>
                </a:tc>
                <a:extLst>
                  <a:ext uri="{0D108BD9-81ED-4DB2-BD59-A6C34878D82A}">
                    <a16:rowId xmlns:a16="http://schemas.microsoft.com/office/drawing/2014/main" val="10005"/>
                  </a:ext>
                </a:extLst>
              </a:tr>
              <a:tr h="566928">
                <a:tc>
                  <a:txBody>
                    <a:bodyPr/>
                    <a:lstStyle/>
                    <a:p>
                      <a:pPr algn="l"/>
                      <a:r>
                        <a:rPr sz="1400" b="1"/>
                        <a:t>llegada, ráfaga, prioridad</a:t>
                      </a:r>
                    </a:p>
                  </a:txBody>
                  <a:tcPr marL="73152" marR="73152" marT="27432" marB="27432" anchor="ctr"/>
                </a:tc>
                <a:tc>
                  <a:txBody>
                    <a:bodyPr/>
                    <a:lstStyle/>
                    <a:p>
                      <a:pPr algn="l"/>
                      <a:r>
                        <a:rPr sz="1400"/>
                        <a:t>Datos que usa el planificador</a:t>
                      </a:r>
                    </a:p>
                  </a:txBody>
                  <a:tcPr marL="73152" marR="73152" marT="27432" marB="27432" anchor="ctr"/>
                </a:tc>
                <a:extLst>
                  <a:ext uri="{0D108BD9-81ED-4DB2-BD59-A6C34878D82A}">
                    <a16:rowId xmlns:a16="http://schemas.microsoft.com/office/drawing/2014/main" val="10006"/>
                  </a:ext>
                </a:extLst>
              </a:tr>
            </a:tbl>
          </a:graphicData>
        </a:graphic>
      </p:graphicFrame>
      <p:sp>
        <p:nvSpPr>
          <p:cNvPr id="7" name="Rounded Rectangle 6"/>
          <p:cNvSpPr/>
          <p:nvPr/>
        </p:nvSpPr>
        <p:spPr>
          <a:xfrm>
            <a:off x="7040880" y="1645920"/>
            <a:ext cx="18288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400" b="1">
                <a:solidFill>
                  <a:srgbClr val="000000"/>
                </a:solidFill>
              </a:rPr>
              <a:t>Nuevo</a:t>
            </a:r>
          </a:p>
        </p:txBody>
      </p:sp>
      <p:sp>
        <p:nvSpPr>
          <p:cNvPr id="8" name="Rounded Rectangle 7"/>
          <p:cNvSpPr/>
          <p:nvPr/>
        </p:nvSpPr>
        <p:spPr>
          <a:xfrm>
            <a:off x="9966960" y="1645920"/>
            <a:ext cx="18288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400" b="1">
                <a:solidFill>
                  <a:srgbClr val="000000"/>
                </a:solidFill>
              </a:rPr>
              <a:t>Listo</a:t>
            </a:r>
          </a:p>
        </p:txBody>
      </p:sp>
      <p:sp>
        <p:nvSpPr>
          <p:cNvPr id="9" name="Rounded Rectangle 8"/>
          <p:cNvSpPr/>
          <p:nvPr/>
        </p:nvSpPr>
        <p:spPr>
          <a:xfrm>
            <a:off x="9966960" y="3291840"/>
            <a:ext cx="18288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400" b="1">
                <a:solidFill>
                  <a:srgbClr val="000000"/>
                </a:solidFill>
              </a:rPr>
              <a:t>Ejecución</a:t>
            </a:r>
          </a:p>
        </p:txBody>
      </p:sp>
      <p:sp>
        <p:nvSpPr>
          <p:cNvPr id="10" name="Rounded Rectangle 9"/>
          <p:cNvSpPr/>
          <p:nvPr/>
        </p:nvSpPr>
        <p:spPr>
          <a:xfrm>
            <a:off x="7040880" y="3291840"/>
            <a:ext cx="18288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400" b="1">
                <a:solidFill>
                  <a:srgbClr val="000000"/>
                </a:solidFill>
              </a:rPr>
              <a:t>Bloqueado</a:t>
            </a:r>
          </a:p>
        </p:txBody>
      </p:sp>
      <p:sp>
        <p:nvSpPr>
          <p:cNvPr id="11" name="Rounded Rectangle 10"/>
          <p:cNvSpPr/>
          <p:nvPr/>
        </p:nvSpPr>
        <p:spPr>
          <a:xfrm>
            <a:off x="9966960" y="4937760"/>
            <a:ext cx="1828800" cy="640080"/>
          </a:xfrm>
          <a:prstGeom prst="roundRect">
            <a:avLst>
              <a:gd name="adj" fmla="val 14285"/>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400" b="1">
                <a:solidFill>
                  <a:srgbClr val="000000"/>
                </a:solidFill>
              </a:rPr>
              <a:t>Terminado</a:t>
            </a:r>
          </a:p>
        </p:txBody>
      </p:sp>
      <p:cxnSp>
        <p:nvCxnSpPr>
          <p:cNvPr id="12" name="Connector 11"/>
          <p:cNvCxnSpPr/>
          <p:nvPr/>
        </p:nvCxnSpPr>
        <p:spPr>
          <a:xfrm>
            <a:off x="8869680" y="1965960"/>
            <a:ext cx="10972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869680" y="1691640"/>
            <a:ext cx="1097280" cy="228600"/>
          </a:xfrm>
          <a:prstGeom prst="rect">
            <a:avLst/>
          </a:prstGeom>
          <a:noFill/>
        </p:spPr>
        <p:txBody>
          <a:bodyPr wrap="square" lIns="0" tIns="0" rIns="0" bIns="0" anchor="ctr">
            <a:noAutofit/>
          </a:bodyPr>
          <a:lstStyle/>
          <a:p>
            <a:pPr algn="ctr"/>
            <a:r>
              <a:rPr sz="1100" b="1">
                <a:solidFill>
                  <a:srgbClr val="595959"/>
                </a:solidFill>
              </a:rPr>
              <a:t>admitir</a:t>
            </a:r>
          </a:p>
        </p:txBody>
      </p:sp>
      <p:cxnSp>
        <p:nvCxnSpPr>
          <p:cNvPr id="14" name="Connector 13"/>
          <p:cNvCxnSpPr/>
          <p:nvPr/>
        </p:nvCxnSpPr>
        <p:spPr>
          <a:xfrm>
            <a:off x="10607040" y="2286000"/>
            <a:ext cx="0" cy="10058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680192" y="2606040"/>
            <a:ext cx="1188720" cy="228600"/>
          </a:xfrm>
          <a:prstGeom prst="rect">
            <a:avLst/>
          </a:prstGeom>
          <a:noFill/>
        </p:spPr>
        <p:txBody>
          <a:bodyPr wrap="square" lIns="0" tIns="0" rIns="0" bIns="0" anchor="ctr">
            <a:noAutofit/>
          </a:bodyPr>
          <a:lstStyle/>
          <a:p>
            <a:pPr algn="l"/>
            <a:r>
              <a:rPr sz="1100" b="1">
                <a:solidFill>
                  <a:srgbClr val="595959"/>
                </a:solidFill>
              </a:rPr>
              <a:t>despachar</a:t>
            </a:r>
          </a:p>
        </p:txBody>
      </p:sp>
      <p:cxnSp>
        <p:nvCxnSpPr>
          <p:cNvPr id="16" name="Connector 15"/>
          <p:cNvCxnSpPr/>
          <p:nvPr/>
        </p:nvCxnSpPr>
        <p:spPr>
          <a:xfrm flipV="1">
            <a:off x="11155680" y="2286000"/>
            <a:ext cx="0" cy="10058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228832" y="2880360"/>
            <a:ext cx="914400" cy="228600"/>
          </a:xfrm>
          <a:prstGeom prst="rect">
            <a:avLst/>
          </a:prstGeom>
          <a:noFill/>
        </p:spPr>
        <p:txBody>
          <a:bodyPr wrap="square" lIns="0" tIns="0" rIns="0" bIns="0" anchor="ctr">
            <a:noAutofit/>
          </a:bodyPr>
          <a:lstStyle/>
          <a:p>
            <a:pPr algn="l"/>
            <a:r>
              <a:rPr sz="1100" b="1">
                <a:solidFill>
                  <a:srgbClr val="595959"/>
                </a:solidFill>
              </a:rPr>
              <a:t>expropiar</a:t>
            </a:r>
          </a:p>
        </p:txBody>
      </p:sp>
      <p:cxnSp>
        <p:nvCxnSpPr>
          <p:cNvPr id="18" name="Connector 17"/>
          <p:cNvCxnSpPr/>
          <p:nvPr/>
        </p:nvCxnSpPr>
        <p:spPr>
          <a:xfrm flipH="1">
            <a:off x="8869680" y="3611880"/>
            <a:ext cx="10972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0" y="3310128"/>
            <a:ext cx="1280160" cy="228600"/>
          </a:xfrm>
          <a:prstGeom prst="rect">
            <a:avLst/>
          </a:prstGeom>
          <a:noFill/>
        </p:spPr>
        <p:txBody>
          <a:bodyPr wrap="square" lIns="0" tIns="0" rIns="0" bIns="0" anchor="ctr">
            <a:noAutofit/>
          </a:bodyPr>
          <a:lstStyle/>
          <a:p>
            <a:pPr algn="ctr"/>
            <a:r>
              <a:rPr sz="1100" b="1">
                <a:solidFill>
                  <a:srgbClr val="595959"/>
                </a:solidFill>
              </a:rPr>
              <a:t>bloquear</a:t>
            </a:r>
          </a:p>
        </p:txBody>
      </p:sp>
      <p:cxnSp>
        <p:nvCxnSpPr>
          <p:cNvPr id="20" name="Connector 19"/>
          <p:cNvCxnSpPr/>
          <p:nvPr/>
        </p:nvCxnSpPr>
        <p:spPr>
          <a:xfrm flipV="1">
            <a:off x="8229600" y="2286000"/>
            <a:ext cx="1737360" cy="10058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680960" y="2697480"/>
            <a:ext cx="1280160" cy="228600"/>
          </a:xfrm>
          <a:prstGeom prst="rect">
            <a:avLst/>
          </a:prstGeom>
          <a:noFill/>
        </p:spPr>
        <p:txBody>
          <a:bodyPr wrap="square" lIns="0" tIns="0" rIns="0" bIns="0" anchor="ctr">
            <a:noAutofit/>
          </a:bodyPr>
          <a:lstStyle/>
          <a:p>
            <a:pPr algn="l"/>
            <a:r>
              <a:rPr sz="1100" b="1">
                <a:solidFill>
                  <a:srgbClr val="595959"/>
                </a:solidFill>
              </a:rPr>
              <a:t>desbloquear</a:t>
            </a:r>
          </a:p>
        </p:txBody>
      </p:sp>
      <p:cxnSp>
        <p:nvCxnSpPr>
          <p:cNvPr id="22" name="Connector 21"/>
          <p:cNvCxnSpPr/>
          <p:nvPr/>
        </p:nvCxnSpPr>
        <p:spPr>
          <a:xfrm>
            <a:off x="10881360" y="3931920"/>
            <a:ext cx="0" cy="10058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972800" y="4297680"/>
            <a:ext cx="1005840" cy="228600"/>
          </a:xfrm>
          <a:prstGeom prst="rect">
            <a:avLst/>
          </a:prstGeom>
          <a:noFill/>
        </p:spPr>
        <p:txBody>
          <a:bodyPr wrap="square" lIns="0" tIns="0" rIns="0" bIns="0" anchor="ctr">
            <a:noAutofit/>
          </a:bodyPr>
          <a:lstStyle/>
          <a:p>
            <a:pPr algn="l"/>
            <a:r>
              <a:rPr sz="1100" b="1">
                <a:solidFill>
                  <a:srgbClr val="595959"/>
                </a:solidFill>
              </a:rPr>
              <a:t>terminar</a:t>
            </a:r>
          </a:p>
        </p:txBody>
      </p:sp>
      <p:sp>
        <p:nvSpPr>
          <p:cNvPr id="24"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Con los procesos listos, ¿quién decide cuál usa primero el procesador? El planificador.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Algoritmos de planificación de CPU</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10</a:t>
            </a:fld>
            <a:endParaRPr lang="es-PE"/>
          </a:p>
        </p:txBody>
      </p:sp>
      <p:sp>
        <p:nvSpPr>
          <p:cNvPr id="6" name="Rounded Rectangle 5"/>
          <p:cNvSpPr/>
          <p:nvPr/>
        </p:nvSpPr>
        <p:spPr>
          <a:xfrm>
            <a:off x="320040" y="1463040"/>
            <a:ext cx="5669280" cy="2240280"/>
          </a:xfrm>
          <a:prstGeom prst="roundRect">
            <a:avLst>
              <a:gd name="adj" fmla="val 40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7" name="TextBox 6"/>
          <p:cNvSpPr txBox="1"/>
          <p:nvPr/>
        </p:nvSpPr>
        <p:spPr>
          <a:xfrm>
            <a:off x="457200" y="1554480"/>
            <a:ext cx="5394960" cy="2103120"/>
          </a:xfrm>
          <a:prstGeom prst="rect">
            <a:avLst/>
          </a:prstGeom>
          <a:noFill/>
        </p:spPr>
        <p:txBody>
          <a:bodyPr wrap="square" lIns="45720" rIns="45720" anchor="t">
            <a:noAutofit/>
          </a:bodyPr>
          <a:lstStyle/>
          <a:p>
            <a:pPr algn="l"/>
            <a:r>
              <a:rPr sz="1600" b="1"/>
              <a:t>FCFS: First Come, First Served</a:t>
            </a:r>
          </a:p>
          <a:p>
            <a:pPr algn="l">
              <a:spcBef>
                <a:spcPts val="800"/>
              </a:spcBef>
            </a:pPr>
            <a:r>
              <a:rPr sz="1600"/>
              <a:t>Atiende por orden de llegada. Simple y justo, pero una transferencia pesada retrasa a las consultas (efecto convoy).</a:t>
            </a:r>
          </a:p>
          <a:p>
            <a:pPr algn="l">
              <a:spcBef>
                <a:spcPts val="800"/>
              </a:spcBef>
            </a:pPr>
            <a:r>
              <a:rPr sz="1600" b="1"/>
              <a:t>Útil cuando:</a:t>
            </a:r>
            <a:r>
              <a:rPr sz="1600"/>
              <a:t> las tareas tienen duraciones similares</a:t>
            </a:r>
          </a:p>
        </p:txBody>
      </p:sp>
      <p:sp>
        <p:nvSpPr>
          <p:cNvPr id="8" name="Rounded Rectangle 7"/>
          <p:cNvSpPr/>
          <p:nvPr/>
        </p:nvSpPr>
        <p:spPr>
          <a:xfrm>
            <a:off x="6172200" y="1463040"/>
            <a:ext cx="5669280" cy="2240280"/>
          </a:xfrm>
          <a:prstGeom prst="roundRect">
            <a:avLst>
              <a:gd name="adj" fmla="val 40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9" name="TextBox 8"/>
          <p:cNvSpPr txBox="1"/>
          <p:nvPr/>
        </p:nvSpPr>
        <p:spPr>
          <a:xfrm>
            <a:off x="6309360" y="1554480"/>
            <a:ext cx="5394960" cy="2103120"/>
          </a:xfrm>
          <a:prstGeom prst="rect">
            <a:avLst/>
          </a:prstGeom>
          <a:noFill/>
        </p:spPr>
        <p:txBody>
          <a:bodyPr wrap="square" lIns="45720" rIns="45720" anchor="t">
            <a:noAutofit/>
          </a:bodyPr>
          <a:lstStyle/>
          <a:p>
            <a:pPr algn="l"/>
            <a:r>
              <a:rPr sz="1600" b="1"/>
              <a:t>SJF: Shortest Job First</a:t>
            </a:r>
          </a:p>
          <a:p>
            <a:pPr algn="l">
              <a:spcBef>
                <a:spcPts val="800"/>
              </a:spcBef>
            </a:pPr>
            <a:r>
              <a:rPr sz="1600"/>
              <a:t>Elige la ráfaga más corta disponible. Minimiza la espera promedio; los procesos largos pueden sufrir inanición.</a:t>
            </a:r>
          </a:p>
          <a:p>
            <a:pPr algn="l">
              <a:spcBef>
                <a:spcPts val="800"/>
              </a:spcBef>
            </a:pPr>
            <a:r>
              <a:rPr sz="1600" b="1"/>
              <a:t>Útil cuando:</a:t>
            </a:r>
            <a:r>
              <a:rPr sz="1600"/>
              <a:t> importa minimizar la espera promedio</a:t>
            </a:r>
          </a:p>
        </p:txBody>
      </p:sp>
      <p:sp>
        <p:nvSpPr>
          <p:cNvPr id="10" name="Rounded Rectangle 9"/>
          <p:cNvSpPr/>
          <p:nvPr/>
        </p:nvSpPr>
        <p:spPr>
          <a:xfrm>
            <a:off x="320040" y="3886200"/>
            <a:ext cx="5669280" cy="2240280"/>
          </a:xfrm>
          <a:prstGeom prst="roundRect">
            <a:avLst>
              <a:gd name="adj" fmla="val 40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1" name="TextBox 10"/>
          <p:cNvSpPr txBox="1"/>
          <p:nvPr/>
        </p:nvSpPr>
        <p:spPr>
          <a:xfrm>
            <a:off x="457200" y="3977639"/>
            <a:ext cx="5394960" cy="2103120"/>
          </a:xfrm>
          <a:prstGeom prst="rect">
            <a:avLst/>
          </a:prstGeom>
          <a:noFill/>
        </p:spPr>
        <p:txBody>
          <a:bodyPr wrap="square" lIns="45720" rIns="45720" anchor="t">
            <a:noAutofit/>
          </a:bodyPr>
          <a:lstStyle/>
          <a:p>
            <a:pPr algn="l"/>
            <a:r>
              <a:rPr sz="1600" b="1"/>
              <a:t>Round Robin (quantum q)</a:t>
            </a:r>
          </a:p>
          <a:p>
            <a:pPr algn="l">
              <a:spcBef>
                <a:spcPts val="800"/>
              </a:spcBef>
            </a:pPr>
            <a:r>
              <a:rPr sz="1600"/>
              <a:t>Turnos circulares con expropiación cada q ms (q = quantum). Respuesta pareja e interactiva, con más cambios de contexto.</a:t>
            </a:r>
          </a:p>
          <a:p>
            <a:pPr algn="l">
              <a:spcBef>
                <a:spcPts val="800"/>
              </a:spcBef>
            </a:pPr>
            <a:r>
              <a:rPr sz="1600" b="1"/>
              <a:t>Útil cuando:</a:t>
            </a:r>
            <a:r>
              <a:rPr sz="1600"/>
              <a:t> hay consultas interactivas</a:t>
            </a:r>
          </a:p>
        </p:txBody>
      </p:sp>
      <p:sp>
        <p:nvSpPr>
          <p:cNvPr id="12" name="Rounded Rectangle 11"/>
          <p:cNvSpPr/>
          <p:nvPr/>
        </p:nvSpPr>
        <p:spPr>
          <a:xfrm>
            <a:off x="6172200" y="3886200"/>
            <a:ext cx="5669280" cy="2240280"/>
          </a:xfrm>
          <a:prstGeom prst="roundRect">
            <a:avLst>
              <a:gd name="adj" fmla="val 40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3" name="TextBox 12"/>
          <p:cNvSpPr txBox="1"/>
          <p:nvPr/>
        </p:nvSpPr>
        <p:spPr>
          <a:xfrm>
            <a:off x="6309360" y="3977639"/>
            <a:ext cx="5394960" cy="2103120"/>
          </a:xfrm>
          <a:prstGeom prst="rect">
            <a:avLst/>
          </a:prstGeom>
          <a:noFill/>
        </p:spPr>
        <p:txBody>
          <a:bodyPr wrap="square" lIns="45720" rIns="45720" anchor="t">
            <a:noAutofit/>
          </a:bodyPr>
          <a:lstStyle/>
          <a:p>
            <a:pPr algn="l"/>
            <a:r>
              <a:rPr sz="1600" b="1"/>
              <a:t>Prioridad</a:t>
            </a:r>
          </a:p>
          <a:p>
            <a:pPr algn="l">
              <a:spcBef>
                <a:spcPts val="800"/>
              </a:spcBef>
            </a:pPr>
            <a:r>
              <a:rPr sz="1600"/>
              <a:t>Atiende primero al menor número de prioridad. Favorece operaciones críticas; riesgo de inanición de las menos prioritarias.</a:t>
            </a:r>
          </a:p>
          <a:p>
            <a:pPr algn="l">
              <a:spcBef>
                <a:spcPts val="800"/>
              </a:spcBef>
            </a:pPr>
            <a:r>
              <a:rPr sz="1600" b="1"/>
              <a:t>Útil cuando:</a:t>
            </a:r>
            <a:r>
              <a:rPr sz="1600"/>
              <a:t> hay operaciones críticas, como transferencias internacionales</a:t>
            </a:r>
          </a:p>
        </p:txBody>
      </p:sp>
      <p:sp>
        <p:nvSpPr>
          <p:cNvPr id="14"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Veamos qué pasa cuando una transferencia pesada llega antes que dos consultas de saldo.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800"/>
              <a:t>Efecto convoy: FCFS frente a SJF y RR</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11</a:t>
            </a:fld>
            <a:endParaRPr lang="es-PE"/>
          </a:p>
        </p:txBody>
      </p:sp>
      <p:sp>
        <p:nvSpPr>
          <p:cNvPr id="6" name="TextBox 5"/>
          <p:cNvSpPr txBox="1"/>
          <p:nvPr/>
        </p:nvSpPr>
        <p:spPr>
          <a:xfrm>
            <a:off x="320040" y="1554480"/>
            <a:ext cx="1737360" cy="731520"/>
          </a:xfrm>
          <a:prstGeom prst="rect">
            <a:avLst/>
          </a:prstGeom>
          <a:noFill/>
        </p:spPr>
        <p:txBody>
          <a:bodyPr wrap="square" lIns="45720" rIns="45720" anchor="ctr">
            <a:noAutofit/>
          </a:bodyPr>
          <a:lstStyle/>
          <a:p>
            <a:pPr algn="l"/>
            <a:r>
              <a:rPr sz="1500" b="1"/>
              <a:t>FCFS</a:t>
            </a:r>
          </a:p>
          <a:p>
            <a:pPr algn="l">
              <a:spcBef>
                <a:spcPts val="0"/>
              </a:spcBef>
            </a:pPr>
            <a:r>
              <a:rPr sz="1500"/>
              <a:t>espera 17.00 ms</a:t>
            </a:r>
          </a:p>
        </p:txBody>
      </p:sp>
      <p:sp>
        <p:nvSpPr>
          <p:cNvPr id="7" name="Rectangle 6"/>
          <p:cNvSpPr/>
          <p:nvPr/>
        </p:nvSpPr>
        <p:spPr>
          <a:xfrm>
            <a:off x="2103120" y="1554480"/>
            <a:ext cx="7242048" cy="731520"/>
          </a:xfrm>
          <a:prstGeom prst="rect">
            <a:avLst/>
          </a:prstGeom>
          <a:solidFill>
            <a:srgbClr val="D1373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P1</a:t>
            </a:r>
          </a:p>
        </p:txBody>
      </p:sp>
      <p:sp>
        <p:nvSpPr>
          <p:cNvPr id="8" name="Rectangle 7"/>
          <p:cNvSpPr/>
          <p:nvPr/>
        </p:nvSpPr>
        <p:spPr>
          <a:xfrm>
            <a:off x="9345167" y="1554480"/>
            <a:ext cx="905256" cy="731520"/>
          </a:xfrm>
          <a:prstGeom prst="rect">
            <a:avLst/>
          </a:prstGeom>
          <a:solidFill>
            <a:srgbClr val="ED7D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P2</a:t>
            </a:r>
          </a:p>
        </p:txBody>
      </p:sp>
      <p:sp>
        <p:nvSpPr>
          <p:cNvPr id="9" name="Rectangle 8"/>
          <p:cNvSpPr/>
          <p:nvPr/>
        </p:nvSpPr>
        <p:spPr>
          <a:xfrm>
            <a:off x="10250424" y="1554480"/>
            <a:ext cx="905256" cy="731520"/>
          </a:xfrm>
          <a:prstGeom prst="rect">
            <a:avLst/>
          </a:prstGeom>
          <a:solidFill>
            <a:srgbClr val="A5A5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P3</a:t>
            </a:r>
          </a:p>
        </p:txBody>
      </p:sp>
      <p:sp>
        <p:nvSpPr>
          <p:cNvPr id="10" name="TextBox 9"/>
          <p:cNvSpPr txBox="1"/>
          <p:nvPr/>
        </p:nvSpPr>
        <p:spPr>
          <a:xfrm>
            <a:off x="320040" y="2743200"/>
            <a:ext cx="1737360" cy="731520"/>
          </a:xfrm>
          <a:prstGeom prst="rect">
            <a:avLst/>
          </a:prstGeom>
          <a:noFill/>
        </p:spPr>
        <p:txBody>
          <a:bodyPr wrap="square" lIns="45720" rIns="45720" anchor="ctr">
            <a:noAutofit/>
          </a:bodyPr>
          <a:lstStyle/>
          <a:p>
            <a:pPr algn="l"/>
            <a:r>
              <a:rPr sz="1500" b="1"/>
              <a:t>SJF</a:t>
            </a:r>
          </a:p>
          <a:p>
            <a:pPr algn="l">
              <a:spcBef>
                <a:spcPts val="0"/>
              </a:spcBef>
            </a:pPr>
            <a:r>
              <a:rPr sz="1500"/>
              <a:t>espera 3.00 ms</a:t>
            </a:r>
          </a:p>
        </p:txBody>
      </p:sp>
      <p:sp>
        <p:nvSpPr>
          <p:cNvPr id="11" name="Rectangle 10"/>
          <p:cNvSpPr/>
          <p:nvPr/>
        </p:nvSpPr>
        <p:spPr>
          <a:xfrm>
            <a:off x="2103120" y="2743200"/>
            <a:ext cx="905256" cy="731520"/>
          </a:xfrm>
          <a:prstGeom prst="rect">
            <a:avLst/>
          </a:prstGeom>
          <a:solidFill>
            <a:srgbClr val="ED7D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P2</a:t>
            </a:r>
          </a:p>
        </p:txBody>
      </p:sp>
      <p:sp>
        <p:nvSpPr>
          <p:cNvPr id="12" name="Rectangle 11"/>
          <p:cNvSpPr/>
          <p:nvPr/>
        </p:nvSpPr>
        <p:spPr>
          <a:xfrm>
            <a:off x="3008376" y="2743200"/>
            <a:ext cx="905256" cy="731520"/>
          </a:xfrm>
          <a:prstGeom prst="rect">
            <a:avLst/>
          </a:prstGeom>
          <a:solidFill>
            <a:srgbClr val="A5A5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P3</a:t>
            </a:r>
          </a:p>
        </p:txBody>
      </p:sp>
      <p:sp>
        <p:nvSpPr>
          <p:cNvPr id="13" name="Rectangle 12"/>
          <p:cNvSpPr/>
          <p:nvPr/>
        </p:nvSpPr>
        <p:spPr>
          <a:xfrm>
            <a:off x="3913631" y="2743200"/>
            <a:ext cx="7242048" cy="731520"/>
          </a:xfrm>
          <a:prstGeom prst="rect">
            <a:avLst/>
          </a:prstGeom>
          <a:solidFill>
            <a:srgbClr val="D1373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P1</a:t>
            </a:r>
          </a:p>
        </p:txBody>
      </p:sp>
      <p:sp>
        <p:nvSpPr>
          <p:cNvPr id="14" name="TextBox 13"/>
          <p:cNvSpPr txBox="1"/>
          <p:nvPr/>
        </p:nvSpPr>
        <p:spPr>
          <a:xfrm>
            <a:off x="320040" y="3931920"/>
            <a:ext cx="1737360" cy="731520"/>
          </a:xfrm>
          <a:prstGeom prst="rect">
            <a:avLst/>
          </a:prstGeom>
          <a:noFill/>
        </p:spPr>
        <p:txBody>
          <a:bodyPr wrap="square" lIns="45720" rIns="45720" anchor="ctr">
            <a:noAutofit/>
          </a:bodyPr>
          <a:lstStyle/>
          <a:p>
            <a:pPr algn="l"/>
            <a:r>
              <a:rPr sz="1500" b="1"/>
              <a:t>RR (q=4)</a:t>
            </a:r>
          </a:p>
          <a:p>
            <a:pPr algn="l">
              <a:spcBef>
                <a:spcPts val="0"/>
              </a:spcBef>
            </a:pPr>
            <a:r>
              <a:rPr sz="1500"/>
              <a:t>espera 5.67 ms</a:t>
            </a:r>
          </a:p>
        </p:txBody>
      </p:sp>
      <p:sp>
        <p:nvSpPr>
          <p:cNvPr id="15" name="Rectangle 14"/>
          <p:cNvSpPr/>
          <p:nvPr/>
        </p:nvSpPr>
        <p:spPr>
          <a:xfrm>
            <a:off x="2103120" y="3931920"/>
            <a:ext cx="1207008" cy="731520"/>
          </a:xfrm>
          <a:prstGeom prst="rect">
            <a:avLst/>
          </a:prstGeom>
          <a:solidFill>
            <a:srgbClr val="D1373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P1</a:t>
            </a:r>
          </a:p>
        </p:txBody>
      </p:sp>
      <p:sp>
        <p:nvSpPr>
          <p:cNvPr id="16" name="Rectangle 15"/>
          <p:cNvSpPr/>
          <p:nvPr/>
        </p:nvSpPr>
        <p:spPr>
          <a:xfrm>
            <a:off x="3310128" y="3931920"/>
            <a:ext cx="905256" cy="731520"/>
          </a:xfrm>
          <a:prstGeom prst="rect">
            <a:avLst/>
          </a:prstGeom>
          <a:solidFill>
            <a:srgbClr val="ED7D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P2</a:t>
            </a:r>
          </a:p>
        </p:txBody>
      </p:sp>
      <p:sp>
        <p:nvSpPr>
          <p:cNvPr id="17" name="Rectangle 16"/>
          <p:cNvSpPr/>
          <p:nvPr/>
        </p:nvSpPr>
        <p:spPr>
          <a:xfrm>
            <a:off x="4215383" y="3931920"/>
            <a:ext cx="905256" cy="731520"/>
          </a:xfrm>
          <a:prstGeom prst="rect">
            <a:avLst/>
          </a:prstGeom>
          <a:solidFill>
            <a:srgbClr val="A5A5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P3</a:t>
            </a:r>
          </a:p>
        </p:txBody>
      </p:sp>
      <p:sp>
        <p:nvSpPr>
          <p:cNvPr id="18" name="Rectangle 17"/>
          <p:cNvSpPr/>
          <p:nvPr/>
        </p:nvSpPr>
        <p:spPr>
          <a:xfrm>
            <a:off x="5120640" y="3931920"/>
            <a:ext cx="6035040" cy="731520"/>
          </a:xfrm>
          <a:prstGeom prst="rect">
            <a:avLst/>
          </a:prstGeom>
          <a:solidFill>
            <a:srgbClr val="D1373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300" b="1">
                <a:solidFill>
                  <a:srgbClr val="000000"/>
                </a:solidFill>
              </a:rPr>
              <a:t>P1</a:t>
            </a:r>
          </a:p>
        </p:txBody>
      </p:sp>
      <p:sp>
        <p:nvSpPr>
          <p:cNvPr id="19" name="TextBox 18"/>
          <p:cNvSpPr txBox="1"/>
          <p:nvPr/>
        </p:nvSpPr>
        <p:spPr>
          <a:xfrm>
            <a:off x="1828799" y="5029200"/>
            <a:ext cx="548640" cy="274320"/>
          </a:xfrm>
          <a:prstGeom prst="rect">
            <a:avLst/>
          </a:prstGeom>
          <a:noFill/>
        </p:spPr>
        <p:txBody>
          <a:bodyPr wrap="square" lIns="0" tIns="0" rIns="0" bIns="0" anchor="ctr">
            <a:noAutofit/>
          </a:bodyPr>
          <a:lstStyle/>
          <a:p>
            <a:pPr algn="ctr"/>
            <a:r>
              <a:rPr sz="1200">
                <a:solidFill>
                  <a:srgbClr val="000000"/>
                </a:solidFill>
              </a:rPr>
              <a:t>0</a:t>
            </a:r>
          </a:p>
        </p:txBody>
      </p:sp>
      <p:sp>
        <p:nvSpPr>
          <p:cNvPr id="20" name="TextBox 19"/>
          <p:cNvSpPr txBox="1"/>
          <p:nvPr/>
        </p:nvSpPr>
        <p:spPr>
          <a:xfrm>
            <a:off x="3337560" y="5029200"/>
            <a:ext cx="548640" cy="274320"/>
          </a:xfrm>
          <a:prstGeom prst="rect">
            <a:avLst/>
          </a:prstGeom>
          <a:noFill/>
        </p:spPr>
        <p:txBody>
          <a:bodyPr wrap="square" lIns="0" tIns="0" rIns="0" bIns="0" anchor="ctr">
            <a:noAutofit/>
          </a:bodyPr>
          <a:lstStyle/>
          <a:p>
            <a:pPr algn="ctr"/>
            <a:r>
              <a:rPr sz="1200">
                <a:solidFill>
                  <a:srgbClr val="000000"/>
                </a:solidFill>
              </a:rPr>
              <a:t>5</a:t>
            </a:r>
          </a:p>
        </p:txBody>
      </p:sp>
      <p:sp>
        <p:nvSpPr>
          <p:cNvPr id="21" name="TextBox 20"/>
          <p:cNvSpPr txBox="1"/>
          <p:nvPr/>
        </p:nvSpPr>
        <p:spPr>
          <a:xfrm>
            <a:off x="4846320" y="5029200"/>
            <a:ext cx="548640" cy="274320"/>
          </a:xfrm>
          <a:prstGeom prst="rect">
            <a:avLst/>
          </a:prstGeom>
          <a:noFill/>
        </p:spPr>
        <p:txBody>
          <a:bodyPr wrap="square" lIns="0" tIns="0" rIns="0" bIns="0" anchor="ctr">
            <a:noAutofit/>
          </a:bodyPr>
          <a:lstStyle/>
          <a:p>
            <a:pPr algn="ctr"/>
            <a:r>
              <a:rPr sz="1200">
                <a:solidFill>
                  <a:srgbClr val="000000"/>
                </a:solidFill>
              </a:rPr>
              <a:t>10</a:t>
            </a:r>
          </a:p>
        </p:txBody>
      </p:sp>
      <p:sp>
        <p:nvSpPr>
          <p:cNvPr id="22" name="TextBox 21"/>
          <p:cNvSpPr txBox="1"/>
          <p:nvPr/>
        </p:nvSpPr>
        <p:spPr>
          <a:xfrm>
            <a:off x="6355080" y="5029200"/>
            <a:ext cx="548640" cy="274320"/>
          </a:xfrm>
          <a:prstGeom prst="rect">
            <a:avLst/>
          </a:prstGeom>
          <a:noFill/>
        </p:spPr>
        <p:txBody>
          <a:bodyPr wrap="square" lIns="0" tIns="0" rIns="0" bIns="0" anchor="ctr">
            <a:noAutofit/>
          </a:bodyPr>
          <a:lstStyle/>
          <a:p>
            <a:pPr algn="ctr"/>
            <a:r>
              <a:rPr sz="1200">
                <a:solidFill>
                  <a:srgbClr val="000000"/>
                </a:solidFill>
              </a:rPr>
              <a:t>15</a:t>
            </a:r>
          </a:p>
        </p:txBody>
      </p:sp>
      <p:sp>
        <p:nvSpPr>
          <p:cNvPr id="23" name="TextBox 22"/>
          <p:cNvSpPr txBox="1"/>
          <p:nvPr/>
        </p:nvSpPr>
        <p:spPr>
          <a:xfrm>
            <a:off x="7863840" y="5029200"/>
            <a:ext cx="548640" cy="274320"/>
          </a:xfrm>
          <a:prstGeom prst="rect">
            <a:avLst/>
          </a:prstGeom>
          <a:noFill/>
        </p:spPr>
        <p:txBody>
          <a:bodyPr wrap="square" lIns="0" tIns="0" rIns="0" bIns="0" anchor="ctr">
            <a:noAutofit/>
          </a:bodyPr>
          <a:lstStyle/>
          <a:p>
            <a:pPr algn="ctr"/>
            <a:r>
              <a:rPr sz="1200">
                <a:solidFill>
                  <a:srgbClr val="000000"/>
                </a:solidFill>
              </a:rPr>
              <a:t>20</a:t>
            </a:r>
          </a:p>
        </p:txBody>
      </p:sp>
      <p:sp>
        <p:nvSpPr>
          <p:cNvPr id="24" name="TextBox 23"/>
          <p:cNvSpPr txBox="1"/>
          <p:nvPr/>
        </p:nvSpPr>
        <p:spPr>
          <a:xfrm>
            <a:off x="9372600" y="5029200"/>
            <a:ext cx="548640" cy="274320"/>
          </a:xfrm>
          <a:prstGeom prst="rect">
            <a:avLst/>
          </a:prstGeom>
          <a:noFill/>
        </p:spPr>
        <p:txBody>
          <a:bodyPr wrap="square" lIns="0" tIns="0" rIns="0" bIns="0" anchor="ctr">
            <a:noAutofit/>
          </a:bodyPr>
          <a:lstStyle/>
          <a:p>
            <a:pPr algn="ctr"/>
            <a:r>
              <a:rPr sz="1200">
                <a:solidFill>
                  <a:srgbClr val="000000"/>
                </a:solidFill>
              </a:rPr>
              <a:t>25</a:t>
            </a:r>
          </a:p>
        </p:txBody>
      </p:sp>
      <p:sp>
        <p:nvSpPr>
          <p:cNvPr id="25" name="TextBox 24"/>
          <p:cNvSpPr txBox="1"/>
          <p:nvPr/>
        </p:nvSpPr>
        <p:spPr>
          <a:xfrm>
            <a:off x="10881359" y="5029200"/>
            <a:ext cx="548640" cy="274320"/>
          </a:xfrm>
          <a:prstGeom prst="rect">
            <a:avLst/>
          </a:prstGeom>
          <a:noFill/>
        </p:spPr>
        <p:txBody>
          <a:bodyPr wrap="square" lIns="0" tIns="0" rIns="0" bIns="0" anchor="ctr">
            <a:noAutofit/>
          </a:bodyPr>
          <a:lstStyle/>
          <a:p>
            <a:pPr algn="ctr"/>
            <a:r>
              <a:rPr sz="1200">
                <a:solidFill>
                  <a:srgbClr val="000000"/>
                </a:solidFill>
              </a:rPr>
              <a:t>30</a:t>
            </a:r>
          </a:p>
        </p:txBody>
      </p:sp>
      <p:cxnSp>
        <p:nvCxnSpPr>
          <p:cNvPr id="26" name="Connector 25"/>
          <p:cNvCxnSpPr/>
          <p:nvPr/>
        </p:nvCxnSpPr>
        <p:spPr>
          <a:xfrm>
            <a:off x="2103120" y="5029200"/>
            <a:ext cx="9143999" cy="0"/>
          </a:xfrm>
          <a:prstGeom prst="line">
            <a:avLst/>
          </a:prstGeom>
          <a:ln w="12700">
            <a:solidFill>
              <a:srgbClr val="333333"/>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11480" y="5486400"/>
            <a:ext cx="256032" cy="256032"/>
          </a:xfrm>
          <a:prstGeom prst="rect">
            <a:avLst/>
          </a:prstGeom>
          <a:solidFill>
            <a:srgbClr val="D1373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28" name="TextBox 27"/>
          <p:cNvSpPr txBox="1"/>
          <p:nvPr/>
        </p:nvSpPr>
        <p:spPr>
          <a:xfrm>
            <a:off x="777240" y="5477256"/>
            <a:ext cx="2286000" cy="274320"/>
          </a:xfrm>
          <a:prstGeom prst="rect">
            <a:avLst/>
          </a:prstGeom>
          <a:noFill/>
        </p:spPr>
        <p:txBody>
          <a:bodyPr wrap="square" lIns="0" tIns="0" rIns="0" bIns="0" anchor="ctr">
            <a:noAutofit/>
          </a:bodyPr>
          <a:lstStyle/>
          <a:p>
            <a:pPr algn="l"/>
            <a:r>
              <a:rPr sz="1300">
                <a:solidFill>
                  <a:srgbClr val="000000"/>
                </a:solidFill>
              </a:rPr>
              <a:t>P1 transferencia (24 ms)</a:t>
            </a:r>
          </a:p>
        </p:txBody>
      </p:sp>
      <p:sp>
        <p:nvSpPr>
          <p:cNvPr id="29" name="Rectangle 28"/>
          <p:cNvSpPr/>
          <p:nvPr/>
        </p:nvSpPr>
        <p:spPr>
          <a:xfrm>
            <a:off x="3246120" y="5486400"/>
            <a:ext cx="256032" cy="256032"/>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0" name="TextBox 29"/>
          <p:cNvSpPr txBox="1"/>
          <p:nvPr/>
        </p:nvSpPr>
        <p:spPr>
          <a:xfrm>
            <a:off x="3611880" y="5477256"/>
            <a:ext cx="2286000" cy="274320"/>
          </a:xfrm>
          <a:prstGeom prst="rect">
            <a:avLst/>
          </a:prstGeom>
          <a:noFill/>
        </p:spPr>
        <p:txBody>
          <a:bodyPr wrap="square" lIns="0" tIns="0" rIns="0" bIns="0" anchor="ctr">
            <a:noAutofit/>
          </a:bodyPr>
          <a:lstStyle/>
          <a:p>
            <a:pPr algn="l"/>
            <a:r>
              <a:rPr sz="1300">
                <a:solidFill>
                  <a:srgbClr val="000000"/>
                </a:solidFill>
              </a:rPr>
              <a:t>P2 saldo1 (3 ms)</a:t>
            </a:r>
          </a:p>
        </p:txBody>
      </p:sp>
      <p:sp>
        <p:nvSpPr>
          <p:cNvPr id="31" name="Rectangle 30"/>
          <p:cNvSpPr/>
          <p:nvPr/>
        </p:nvSpPr>
        <p:spPr>
          <a:xfrm>
            <a:off x="6080760" y="5486400"/>
            <a:ext cx="256032" cy="256032"/>
          </a:xfrm>
          <a:prstGeom prst="rect">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32" name="TextBox 31"/>
          <p:cNvSpPr txBox="1"/>
          <p:nvPr/>
        </p:nvSpPr>
        <p:spPr>
          <a:xfrm>
            <a:off x="6446520" y="5477256"/>
            <a:ext cx="2286000" cy="274320"/>
          </a:xfrm>
          <a:prstGeom prst="rect">
            <a:avLst/>
          </a:prstGeom>
          <a:noFill/>
        </p:spPr>
        <p:txBody>
          <a:bodyPr wrap="square" lIns="0" tIns="0" rIns="0" bIns="0" anchor="ctr">
            <a:noAutofit/>
          </a:bodyPr>
          <a:lstStyle/>
          <a:p>
            <a:pPr algn="l"/>
            <a:r>
              <a:rPr sz="1300">
                <a:solidFill>
                  <a:srgbClr val="000000"/>
                </a:solidFill>
              </a:rPr>
              <a:t>P3 saldo2 (3 ms)</a:t>
            </a:r>
          </a:p>
        </p:txBody>
      </p:sp>
      <p:sp>
        <p:nvSpPr>
          <p:cNvPr id="33" name="TextBox 32"/>
          <p:cNvSpPr txBox="1"/>
          <p:nvPr/>
        </p:nvSpPr>
        <p:spPr>
          <a:xfrm>
            <a:off x="320040" y="5852160"/>
            <a:ext cx="11521440" cy="457200"/>
          </a:xfrm>
          <a:prstGeom prst="rect">
            <a:avLst/>
          </a:prstGeom>
          <a:noFill/>
        </p:spPr>
        <p:txBody>
          <a:bodyPr wrap="square" lIns="45720" rIns="45720" anchor="t">
            <a:noAutofit/>
          </a:bodyPr>
          <a:lstStyle/>
          <a:p>
            <a:pPr algn="l"/>
            <a:r>
              <a:rPr sz="1500" b="1"/>
              <a:t>Con FCFS las consultas de saldo esperan 24 ms y 27 ms</a:t>
            </a:r>
            <a:r>
              <a:rPr sz="1500"/>
              <a:t> frente a una transferencia</a:t>
            </a:r>
          </a:p>
        </p:txBody>
      </p:sp>
      <p:sp>
        <p:nvSpPr>
          <p:cNvPr id="34" name="Eje X"/>
          <p:cNvSpPr txBox="1"/>
          <p:nvPr/>
        </p:nvSpPr>
        <p:spPr>
          <a:xfrm>
            <a:off x="8595360" y="5468112"/>
            <a:ext cx="3200400" cy="274320"/>
          </a:xfrm>
          <a:prstGeom prst="rect">
            <a:avLst/>
          </a:prstGeom>
          <a:noFill/>
        </p:spPr>
        <p:txBody>
          <a:bodyPr wrap="square" lIns="45720" tIns="18288" rIns="45720" bIns="18288" anchor="ctr">
            <a:noAutofit/>
          </a:bodyPr>
          <a:lstStyle/>
          <a:p>
            <a:pPr algn="r"/>
            <a:r>
              <a:rPr lang="es-PE" sz="1200" b="1" i="0">
                <a:solidFill>
                  <a:srgbClr val="333333"/>
                </a:solidFill>
              </a:rPr>
              <a:t>Eje X: tiempo (ms)</a:t>
            </a:r>
          </a:p>
        </p:txBody>
      </p:sp>
      <p:sp>
        <p:nvSpPr>
          <p:cNvPr id="35" name="Eje Y"/>
          <p:cNvSpPr txBox="1"/>
          <p:nvPr/>
        </p:nvSpPr>
        <p:spPr>
          <a:xfrm>
            <a:off x="365760" y="1261872"/>
            <a:ext cx="2743200" cy="274320"/>
          </a:xfrm>
          <a:prstGeom prst="rect">
            <a:avLst/>
          </a:prstGeom>
          <a:noFill/>
        </p:spPr>
        <p:txBody>
          <a:bodyPr wrap="square" lIns="45720" tIns="18288" rIns="45720" bIns="18288" anchor="ctr">
            <a:noAutofit/>
          </a:bodyPr>
          <a:lstStyle/>
          <a:p>
            <a:pPr algn="l"/>
            <a:r>
              <a:rPr lang="es-PE" sz="1200" b="1" i="0">
                <a:solidFill>
                  <a:srgbClr val="333333"/>
                </a:solidFill>
              </a:rPr>
              <a:t>Eje Y: algoritmo</a:t>
            </a:r>
          </a:p>
        </p:txBody>
      </p:sp>
      <p:sp>
        <p:nvSpPr>
          <p:cNvPr id="36"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¿Cuánto mejora cada algoritmo? Comparemos los números.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Resultados comparativos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12</a:t>
            </a:fld>
            <a:endParaRPr lang="es-PE"/>
          </a:p>
        </p:txBody>
      </p:sp>
      <p:graphicFrame>
        <p:nvGraphicFramePr>
          <p:cNvPr id="6" name="Table 5"/>
          <p:cNvGraphicFramePr>
            <a:graphicFrameLocks noGrp="1"/>
          </p:cNvGraphicFramePr>
          <p:nvPr/>
        </p:nvGraphicFramePr>
        <p:xfrm>
          <a:off x="320040" y="1508760"/>
          <a:ext cx="5852160" cy="28346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66928">
                <a:tc>
                  <a:txBody>
                    <a:bodyPr/>
                    <a:lstStyle/>
                    <a:p>
                      <a:pPr algn="ctr"/>
                      <a:r>
                        <a:rPr sz="1400" b="1"/>
                        <a:t>Algoritmo</a:t>
                      </a:r>
                    </a:p>
                  </a:txBody>
                  <a:tcPr marL="73152" marR="73152" marT="27432" marB="27432" anchor="ctr"/>
                </a:tc>
                <a:tc>
                  <a:txBody>
                    <a:bodyPr/>
                    <a:lstStyle/>
                    <a:p>
                      <a:pPr algn="ctr"/>
                      <a:r>
                        <a:rPr sz="1400" b="1"/>
                        <a:t>Espera (ms)</a:t>
                      </a:r>
                    </a:p>
                  </a:txBody>
                  <a:tcPr marL="73152" marR="73152" marT="27432" marB="27432" anchor="ctr"/>
                </a:tc>
                <a:tc>
                  <a:txBody>
                    <a:bodyPr/>
                    <a:lstStyle/>
                    <a:p>
                      <a:pPr algn="ctr"/>
                      <a:r>
                        <a:rPr sz="1400" b="1"/>
                        <a:t>Respuesta (ms)</a:t>
                      </a:r>
                    </a:p>
                  </a:txBody>
                  <a:tcPr marL="73152" marR="73152" marT="27432" marB="27432" anchor="ctr"/>
                </a:tc>
                <a:tc>
                  <a:txBody>
                    <a:bodyPr/>
                    <a:lstStyle/>
                    <a:p>
                      <a:pPr algn="ctr"/>
                      <a:r>
                        <a:rPr sz="1400" b="1"/>
                        <a:t>Retorno (ms)</a:t>
                      </a:r>
                    </a:p>
                  </a:txBody>
                  <a:tcPr marL="73152" marR="73152" marT="27432" marB="27432" anchor="ctr"/>
                </a:tc>
                <a:extLst>
                  <a:ext uri="{0D108BD9-81ED-4DB2-BD59-A6C34878D82A}">
                    <a16:rowId xmlns:a16="http://schemas.microsoft.com/office/drawing/2014/main" val="10000"/>
                  </a:ext>
                </a:extLst>
              </a:tr>
              <a:tr h="566928">
                <a:tc>
                  <a:txBody>
                    <a:bodyPr/>
                    <a:lstStyle/>
                    <a:p>
                      <a:pPr algn="l"/>
                      <a:r>
                        <a:rPr sz="1400" b="1"/>
                        <a:t>FCFS</a:t>
                      </a:r>
                    </a:p>
                  </a:txBody>
                  <a:tcPr marL="73152" marR="73152" marT="27432" marB="27432" anchor="ctr"/>
                </a:tc>
                <a:tc>
                  <a:txBody>
                    <a:bodyPr/>
                    <a:lstStyle/>
                    <a:p>
                      <a:pPr algn="ctr"/>
                      <a:r>
                        <a:rPr sz="1400"/>
                        <a:t>17.00</a:t>
                      </a:r>
                    </a:p>
                  </a:txBody>
                  <a:tcPr marL="73152" marR="73152" marT="27432" marB="27432" anchor="ctr"/>
                </a:tc>
                <a:tc>
                  <a:txBody>
                    <a:bodyPr/>
                    <a:lstStyle/>
                    <a:p>
                      <a:pPr algn="ctr"/>
                      <a:r>
                        <a:rPr sz="1400"/>
                        <a:t>17.00</a:t>
                      </a:r>
                    </a:p>
                  </a:txBody>
                  <a:tcPr marL="73152" marR="73152" marT="27432" marB="27432" anchor="ctr"/>
                </a:tc>
                <a:tc>
                  <a:txBody>
                    <a:bodyPr/>
                    <a:lstStyle/>
                    <a:p>
                      <a:pPr algn="ctr"/>
                      <a:r>
                        <a:rPr sz="1400"/>
                        <a:t>27.00</a:t>
                      </a:r>
                    </a:p>
                  </a:txBody>
                  <a:tcPr marL="73152" marR="73152" marT="27432" marB="27432" anchor="ctr"/>
                </a:tc>
                <a:extLst>
                  <a:ext uri="{0D108BD9-81ED-4DB2-BD59-A6C34878D82A}">
                    <a16:rowId xmlns:a16="http://schemas.microsoft.com/office/drawing/2014/main" val="10001"/>
                  </a:ext>
                </a:extLst>
              </a:tr>
              <a:tr h="566928">
                <a:tc>
                  <a:txBody>
                    <a:bodyPr/>
                    <a:lstStyle/>
                    <a:p>
                      <a:pPr algn="l"/>
                      <a:r>
                        <a:rPr sz="1400" b="1"/>
                        <a:t>SJF</a:t>
                      </a:r>
                    </a:p>
                  </a:txBody>
                  <a:tcPr marL="73152" marR="73152" marT="27432" marB="27432" anchor="ctr"/>
                </a:tc>
                <a:tc>
                  <a:txBody>
                    <a:bodyPr/>
                    <a:lstStyle/>
                    <a:p>
                      <a:pPr algn="ctr"/>
                      <a:r>
                        <a:rPr sz="1400"/>
                        <a:t>3.00</a:t>
                      </a:r>
                    </a:p>
                  </a:txBody>
                  <a:tcPr marL="73152" marR="73152" marT="27432" marB="27432" anchor="ctr"/>
                </a:tc>
                <a:tc>
                  <a:txBody>
                    <a:bodyPr/>
                    <a:lstStyle/>
                    <a:p>
                      <a:pPr algn="ctr"/>
                      <a:r>
                        <a:rPr sz="1400"/>
                        <a:t>3.00</a:t>
                      </a:r>
                    </a:p>
                  </a:txBody>
                  <a:tcPr marL="73152" marR="73152" marT="27432" marB="27432" anchor="ctr"/>
                </a:tc>
                <a:tc>
                  <a:txBody>
                    <a:bodyPr/>
                    <a:lstStyle/>
                    <a:p>
                      <a:pPr algn="ctr"/>
                      <a:r>
                        <a:rPr sz="1400"/>
                        <a:t>13.00</a:t>
                      </a:r>
                    </a:p>
                  </a:txBody>
                  <a:tcPr marL="73152" marR="73152" marT="27432" marB="27432" anchor="ctr"/>
                </a:tc>
                <a:extLst>
                  <a:ext uri="{0D108BD9-81ED-4DB2-BD59-A6C34878D82A}">
                    <a16:rowId xmlns:a16="http://schemas.microsoft.com/office/drawing/2014/main" val="10002"/>
                  </a:ext>
                </a:extLst>
              </a:tr>
              <a:tr h="566928">
                <a:tc>
                  <a:txBody>
                    <a:bodyPr/>
                    <a:lstStyle/>
                    <a:p>
                      <a:pPr algn="l"/>
                      <a:r>
                        <a:rPr sz="1400" b="1"/>
                        <a:t>Round Robin (q=4)</a:t>
                      </a:r>
                    </a:p>
                  </a:txBody>
                  <a:tcPr marL="73152" marR="73152" marT="27432" marB="27432" anchor="ctr"/>
                </a:tc>
                <a:tc>
                  <a:txBody>
                    <a:bodyPr/>
                    <a:lstStyle/>
                    <a:p>
                      <a:pPr algn="ctr"/>
                      <a:r>
                        <a:rPr sz="1400"/>
                        <a:t>5.67</a:t>
                      </a:r>
                    </a:p>
                  </a:txBody>
                  <a:tcPr marL="73152" marR="73152" marT="27432" marB="27432" anchor="ctr"/>
                </a:tc>
                <a:tc>
                  <a:txBody>
                    <a:bodyPr/>
                    <a:lstStyle/>
                    <a:p>
                      <a:pPr algn="ctr"/>
                      <a:r>
                        <a:rPr sz="1400"/>
                        <a:t>3.67</a:t>
                      </a:r>
                    </a:p>
                  </a:txBody>
                  <a:tcPr marL="73152" marR="73152" marT="27432" marB="27432" anchor="ctr"/>
                </a:tc>
                <a:tc>
                  <a:txBody>
                    <a:bodyPr/>
                    <a:lstStyle/>
                    <a:p>
                      <a:pPr algn="ctr"/>
                      <a:r>
                        <a:rPr sz="1400"/>
                        <a:t>15.67</a:t>
                      </a:r>
                    </a:p>
                  </a:txBody>
                  <a:tcPr marL="73152" marR="73152" marT="27432" marB="27432" anchor="ctr"/>
                </a:tc>
                <a:extLst>
                  <a:ext uri="{0D108BD9-81ED-4DB2-BD59-A6C34878D82A}">
                    <a16:rowId xmlns:a16="http://schemas.microsoft.com/office/drawing/2014/main" val="10003"/>
                  </a:ext>
                </a:extLst>
              </a:tr>
              <a:tr h="566928">
                <a:tc>
                  <a:txBody>
                    <a:bodyPr/>
                    <a:lstStyle/>
                    <a:p>
                      <a:pPr algn="l"/>
                      <a:r>
                        <a:rPr sz="1400" b="1"/>
                        <a:t>Prioridad</a:t>
                      </a:r>
                    </a:p>
                  </a:txBody>
                  <a:tcPr marL="73152" marR="73152" marT="27432" marB="27432" anchor="ctr"/>
                </a:tc>
                <a:tc>
                  <a:txBody>
                    <a:bodyPr/>
                    <a:lstStyle/>
                    <a:p>
                      <a:pPr algn="ctr"/>
                      <a:r>
                        <a:rPr sz="1400"/>
                        <a:t>17.00</a:t>
                      </a:r>
                    </a:p>
                  </a:txBody>
                  <a:tcPr marL="73152" marR="73152" marT="27432" marB="27432" anchor="ctr"/>
                </a:tc>
                <a:tc>
                  <a:txBody>
                    <a:bodyPr/>
                    <a:lstStyle/>
                    <a:p>
                      <a:pPr algn="ctr"/>
                      <a:r>
                        <a:rPr sz="1400"/>
                        <a:t>17.00</a:t>
                      </a:r>
                    </a:p>
                  </a:txBody>
                  <a:tcPr marL="73152" marR="73152" marT="27432" marB="27432" anchor="ctr"/>
                </a:tc>
                <a:tc>
                  <a:txBody>
                    <a:bodyPr/>
                    <a:lstStyle/>
                    <a:p>
                      <a:pPr algn="ctr"/>
                      <a:r>
                        <a:rPr sz="1400"/>
                        <a:t>27.00</a:t>
                      </a:r>
                    </a:p>
                  </a:txBody>
                  <a:tcPr marL="73152" marR="73152" marT="27432" marB="27432" anchor="ctr"/>
                </a:tc>
                <a:extLst>
                  <a:ext uri="{0D108BD9-81ED-4DB2-BD59-A6C34878D82A}">
                    <a16:rowId xmlns:a16="http://schemas.microsoft.com/office/drawing/2014/main" val="10004"/>
                  </a:ext>
                </a:extLst>
              </a:tr>
            </a:tbl>
          </a:graphicData>
        </a:graphic>
      </p:graphicFrame>
      <p:graphicFrame>
        <p:nvGraphicFramePr>
          <p:cNvPr id="7" name="Chart 6"/>
          <p:cNvGraphicFramePr>
            <a:graphicFrameLocks noGrp="1"/>
          </p:cNvGraphicFramePr>
          <p:nvPr/>
        </p:nvGraphicFramePr>
        <p:xfrm>
          <a:off x="6400800" y="1371600"/>
          <a:ext cx="5486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320040" y="4572000"/>
            <a:ext cx="5852160" cy="1554480"/>
          </a:xfrm>
          <a:prstGeom prst="rect">
            <a:avLst/>
          </a:prstGeom>
          <a:noFill/>
        </p:spPr>
        <p:txBody>
          <a:bodyPr wrap="square" lIns="45720" rIns="45720" anchor="t">
            <a:noAutofit/>
          </a:bodyPr>
          <a:lstStyle/>
          <a:p>
            <a:pPr algn="l"/>
            <a:r>
              <a:rPr sz="1500" b="1"/>
              <a:t>SJF</a:t>
            </a:r>
            <a:r>
              <a:rPr sz="1500"/>
              <a:t> minimiza la espera promedio: 3.00 ms frente a 17.00 ms de FCFS</a:t>
            </a:r>
          </a:p>
          <a:p>
            <a:pPr algn="l">
              <a:spcBef>
                <a:spcPts val="800"/>
              </a:spcBef>
            </a:pPr>
            <a:r>
              <a:rPr sz="1500" b="1"/>
              <a:t>Round Robin</a:t>
            </a:r>
            <a:r>
              <a:rPr sz="1500"/>
              <a:t> da la respuesta más pareja entre las consultas</a:t>
            </a:r>
          </a:p>
        </p:txBody>
      </p:sp>
      <p:sp>
        <p:nvSpPr>
          <p:cNvPr id="9" name="Rounded Rectangle 8"/>
          <p:cNvSpPr/>
          <p:nvPr/>
        </p:nvSpPr>
        <p:spPr>
          <a:xfrm>
            <a:off x="6400800" y="4937760"/>
            <a:ext cx="5486400" cy="1188720"/>
          </a:xfrm>
          <a:prstGeom prst="roundRect">
            <a:avLst>
              <a:gd name="adj" fmla="val 7692"/>
            </a:avLst>
          </a:prstGeom>
          <a:solidFill>
            <a:srgbClr val="FFF3C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0" name="TextBox 9"/>
          <p:cNvSpPr txBox="1"/>
          <p:nvPr/>
        </p:nvSpPr>
        <p:spPr>
          <a:xfrm>
            <a:off x="6492240" y="4937760"/>
            <a:ext cx="5303520" cy="1188720"/>
          </a:xfrm>
          <a:prstGeom prst="rect">
            <a:avLst/>
          </a:prstGeom>
          <a:noFill/>
        </p:spPr>
        <p:txBody>
          <a:bodyPr wrap="square" lIns="45720" rIns="45720" anchor="ctr">
            <a:noAutofit/>
          </a:bodyPr>
          <a:lstStyle/>
          <a:p>
            <a:pPr algn="l"/>
            <a:r>
              <a:rPr sz="1500" b="1"/>
              <a:t>Lectura para NexusBank:</a:t>
            </a:r>
            <a:r>
              <a:rPr sz="1500"/>
              <a:t> las consultas de saldo no deben esperar a las transacciones pesadas</a:t>
            </a:r>
          </a:p>
        </p:txBody>
      </p:sp>
      <p:sp>
        <p:nvSpPr>
          <p:cNvPr id="11" name="Leyenda abreviaturas"/>
          <p:cNvSpPr txBox="1"/>
          <p:nvPr/>
        </p:nvSpPr>
        <p:spPr>
          <a:xfrm>
            <a:off x="365760" y="5669280"/>
            <a:ext cx="5760720" cy="548640"/>
          </a:xfrm>
          <a:prstGeom prst="rect">
            <a:avLst/>
          </a:prstGeom>
          <a:noFill/>
        </p:spPr>
        <p:txBody>
          <a:bodyPr wrap="square" lIns="45720" tIns="18288" rIns="45720" bIns="18288" anchor="ctr">
            <a:noAutofit/>
          </a:bodyPr>
          <a:lstStyle/>
          <a:p>
            <a:pPr algn="l"/>
            <a:r>
              <a:rPr lang="es-PE" sz="1100" b="0" i="1">
                <a:solidFill>
                  <a:srgbClr val="404040"/>
                </a:solidFill>
              </a:rPr>
              <a:t>Leyenda: FCFS = First Come, First Served; SJF = Shortest Job First; RR = Round Robin con quantum q = 4 ms; ms = milisegundos.</a:t>
            </a:r>
          </a:p>
        </p:txBody>
      </p:sp>
      <p:sp>
        <p:nvSpPr>
          <p:cNvPr id="12"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Pero atender rápido no basta: dos procesos no deben tocar la misma cuenta a la vez.</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Sincronización: productor-consumidor</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13</a:t>
            </a:fld>
            <a:endParaRPr lang="es-PE"/>
          </a:p>
        </p:txBody>
      </p:sp>
      <p:sp>
        <p:nvSpPr>
          <p:cNvPr id="6" name="Rectangle 5"/>
          <p:cNvSpPr/>
          <p:nvPr/>
        </p:nvSpPr>
        <p:spPr>
          <a:xfrm>
            <a:off x="320040" y="1508760"/>
            <a:ext cx="1371600" cy="777240"/>
          </a:xfrm>
          <a:prstGeom prst="rect">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Productor</a:t>
            </a:r>
          </a:p>
        </p:txBody>
      </p:sp>
      <p:sp>
        <p:nvSpPr>
          <p:cNvPr id="7" name="Rounded Rectangle 6"/>
          <p:cNvSpPr/>
          <p:nvPr/>
        </p:nvSpPr>
        <p:spPr>
          <a:xfrm>
            <a:off x="1920240" y="150876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wait(vacios)</a:t>
            </a:r>
          </a:p>
        </p:txBody>
      </p:sp>
      <p:sp>
        <p:nvSpPr>
          <p:cNvPr id="8" name="Rounded Rectangle 7"/>
          <p:cNvSpPr/>
          <p:nvPr/>
        </p:nvSpPr>
        <p:spPr>
          <a:xfrm>
            <a:off x="3931920" y="150876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wait(mutex)</a:t>
            </a:r>
          </a:p>
        </p:txBody>
      </p:sp>
      <p:cxnSp>
        <p:nvCxnSpPr>
          <p:cNvPr id="9" name="Connector 8"/>
          <p:cNvCxnSpPr/>
          <p:nvPr/>
        </p:nvCxnSpPr>
        <p:spPr>
          <a:xfrm>
            <a:off x="3703320" y="1892807"/>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43600" y="1508760"/>
            <a:ext cx="1783080" cy="777240"/>
          </a:xfrm>
          <a:prstGeom prst="roundRect">
            <a:avLst>
              <a:gd name="adj" fmla="val 11764"/>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insertar ítem</a:t>
            </a:r>
          </a:p>
        </p:txBody>
      </p:sp>
      <p:cxnSp>
        <p:nvCxnSpPr>
          <p:cNvPr id="11" name="Connector 10"/>
          <p:cNvCxnSpPr/>
          <p:nvPr/>
        </p:nvCxnSpPr>
        <p:spPr>
          <a:xfrm>
            <a:off x="5715000" y="1892807"/>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55280" y="150876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signal(mutex)</a:t>
            </a:r>
          </a:p>
        </p:txBody>
      </p:sp>
      <p:cxnSp>
        <p:nvCxnSpPr>
          <p:cNvPr id="13" name="Connector 12"/>
          <p:cNvCxnSpPr/>
          <p:nvPr/>
        </p:nvCxnSpPr>
        <p:spPr>
          <a:xfrm>
            <a:off x="7726680" y="1892807"/>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966960" y="150876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signal(llenos)</a:t>
            </a:r>
          </a:p>
        </p:txBody>
      </p:sp>
      <p:cxnSp>
        <p:nvCxnSpPr>
          <p:cNvPr id="15" name="Connector 14"/>
          <p:cNvCxnSpPr/>
          <p:nvPr/>
        </p:nvCxnSpPr>
        <p:spPr>
          <a:xfrm>
            <a:off x="9738360" y="1892807"/>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91640" y="1892807"/>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20040" y="3703320"/>
            <a:ext cx="1371600" cy="777240"/>
          </a:xfrm>
          <a:prstGeom prst="rect">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Consumidor</a:t>
            </a:r>
          </a:p>
        </p:txBody>
      </p:sp>
      <p:sp>
        <p:nvSpPr>
          <p:cNvPr id="18" name="Rounded Rectangle 17"/>
          <p:cNvSpPr/>
          <p:nvPr/>
        </p:nvSpPr>
        <p:spPr>
          <a:xfrm>
            <a:off x="1920240" y="370332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wait(llenos)</a:t>
            </a:r>
          </a:p>
        </p:txBody>
      </p:sp>
      <p:sp>
        <p:nvSpPr>
          <p:cNvPr id="19" name="Rounded Rectangle 18"/>
          <p:cNvSpPr/>
          <p:nvPr/>
        </p:nvSpPr>
        <p:spPr>
          <a:xfrm>
            <a:off x="3931920" y="370332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wait(mutex)</a:t>
            </a:r>
          </a:p>
        </p:txBody>
      </p:sp>
      <p:cxnSp>
        <p:nvCxnSpPr>
          <p:cNvPr id="20" name="Connector 19"/>
          <p:cNvCxnSpPr/>
          <p:nvPr/>
        </p:nvCxnSpPr>
        <p:spPr>
          <a:xfrm>
            <a:off x="3703320" y="4087368"/>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943600" y="3703320"/>
            <a:ext cx="1783080" cy="777240"/>
          </a:xfrm>
          <a:prstGeom prst="roundRect">
            <a:avLst>
              <a:gd name="adj" fmla="val 11764"/>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extraer ítem</a:t>
            </a:r>
          </a:p>
        </p:txBody>
      </p:sp>
      <p:cxnSp>
        <p:nvCxnSpPr>
          <p:cNvPr id="22" name="Connector 21"/>
          <p:cNvCxnSpPr/>
          <p:nvPr/>
        </p:nvCxnSpPr>
        <p:spPr>
          <a:xfrm>
            <a:off x="5715000" y="4087368"/>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955280" y="370332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signal(mutex)</a:t>
            </a:r>
          </a:p>
        </p:txBody>
      </p:sp>
      <p:cxnSp>
        <p:nvCxnSpPr>
          <p:cNvPr id="24" name="Connector 23"/>
          <p:cNvCxnSpPr/>
          <p:nvPr/>
        </p:nvCxnSpPr>
        <p:spPr>
          <a:xfrm>
            <a:off x="7726680" y="4087368"/>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966960" y="3703320"/>
            <a:ext cx="1783080" cy="777240"/>
          </a:xfrm>
          <a:prstGeom prst="roundRect">
            <a:avLst>
              <a:gd name="adj" fmla="val 11764"/>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a:solidFill>
                  <a:srgbClr val="000000"/>
                </a:solidFill>
              </a:rPr>
              <a:t>signal(vacios)</a:t>
            </a:r>
          </a:p>
        </p:txBody>
      </p:sp>
      <p:cxnSp>
        <p:nvCxnSpPr>
          <p:cNvPr id="26" name="Connector 25"/>
          <p:cNvCxnSpPr/>
          <p:nvPr/>
        </p:nvCxnSpPr>
        <p:spPr>
          <a:xfrm>
            <a:off x="9738360" y="4087368"/>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691640" y="4087368"/>
            <a:ext cx="22860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920240" y="2697480"/>
            <a:ext cx="7680960" cy="685800"/>
          </a:xfrm>
          <a:prstGeom prst="roundRect">
            <a:avLst>
              <a:gd name="adj" fmla="val 13333"/>
            </a:avLst>
          </a:prstGeom>
          <a:solidFill>
            <a:srgbClr val="FFF3CD"/>
          </a:solidFill>
          <a:ln w="19050">
            <a:solidFill>
              <a:srgbClr val="B589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Búfer acotado (deque) de capacidad N ítems</a:t>
            </a:r>
          </a:p>
          <a:p>
            <a:pPr algn="ctr"/>
            <a:r>
              <a:rPr sz="1200">
                <a:solidFill>
                  <a:srgbClr val="000000"/>
                </a:solidFill>
              </a:rPr>
              <a:t>vacios = N · llenos = 0 · mutex = 1</a:t>
            </a:r>
          </a:p>
        </p:txBody>
      </p:sp>
      <p:cxnSp>
        <p:nvCxnSpPr>
          <p:cNvPr id="29" name="Connector 28"/>
          <p:cNvCxnSpPr/>
          <p:nvPr/>
        </p:nvCxnSpPr>
        <p:spPr>
          <a:xfrm>
            <a:off x="5943600" y="2286000"/>
            <a:ext cx="0" cy="41148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943600" y="3383280"/>
            <a:ext cx="0" cy="32004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20040" y="4846320"/>
            <a:ext cx="11521440" cy="1371600"/>
          </a:xfrm>
          <a:prstGeom prst="rect">
            <a:avLst/>
          </a:prstGeom>
          <a:noFill/>
        </p:spPr>
        <p:txBody>
          <a:bodyPr wrap="square" lIns="45720" rIns="45720" anchor="t">
            <a:noAutofit/>
          </a:bodyPr>
          <a:lstStyle/>
          <a:p>
            <a:pPr algn="l"/>
            <a:r>
              <a:rPr sz="1800" b="1"/>
              <a:t>Orden clave:</a:t>
            </a:r>
            <a:r>
              <a:rPr sz="1800"/>
              <a:t> vacios o llenos antes que mutex; el orden inverso causa interbloqueo</a:t>
            </a:r>
          </a:p>
          <a:p>
            <a:pPr algn="l">
              <a:spcBef>
                <a:spcPts val="1000"/>
              </a:spcBef>
            </a:pPr>
            <a:r>
              <a:rPr sz="1800" b="1"/>
              <a:t>Verificación:</a:t>
            </a:r>
            <a:r>
              <a:rPr sz="1800"/>
              <a:t> lo consumido es igual a lo producido y la ocupación nunca supera la capacidad (10 de 10 ítems consumidos; ocupación máxima de 2 de 3 ítems: CORRECTO)</a:t>
            </a:r>
          </a:p>
        </p:txBody>
      </p:sp>
      <p:sp>
        <p:nvSpPr>
          <p:cNvPr id="32"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Y cuando varios procesos compiten por los mismos recursos, puede aparecer el interbloqueo.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Filósofos: interbloqueo y su solución</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14</a:t>
            </a:fld>
            <a:endParaRPr lang="es-PE"/>
          </a:p>
        </p:txBody>
      </p:sp>
      <p:sp>
        <p:nvSpPr>
          <p:cNvPr id="6" name="Rounded Rectangle 5"/>
          <p:cNvSpPr/>
          <p:nvPr/>
        </p:nvSpPr>
        <p:spPr>
          <a:xfrm>
            <a:off x="320040" y="1371600"/>
            <a:ext cx="5669280" cy="4343400"/>
          </a:xfrm>
          <a:prstGeom prst="roundRect">
            <a:avLst>
              <a:gd name="adj" fmla="val 21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7" name="Rounded Rectangle 6"/>
          <p:cNvSpPr/>
          <p:nvPr/>
        </p:nvSpPr>
        <p:spPr>
          <a:xfrm>
            <a:off x="6263640" y="1371600"/>
            <a:ext cx="5577840" cy="4343400"/>
          </a:xfrm>
          <a:prstGeom prst="roundRect">
            <a:avLst>
              <a:gd name="adj" fmla="val 21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8" name="TextBox 7"/>
          <p:cNvSpPr txBox="1"/>
          <p:nvPr/>
        </p:nvSpPr>
        <p:spPr>
          <a:xfrm>
            <a:off x="548640" y="1463040"/>
            <a:ext cx="5303520" cy="365760"/>
          </a:xfrm>
          <a:prstGeom prst="rect">
            <a:avLst/>
          </a:prstGeom>
          <a:noFill/>
        </p:spPr>
        <p:txBody>
          <a:bodyPr wrap="square" lIns="45720" rIns="45720" anchor="t">
            <a:noAutofit/>
          </a:bodyPr>
          <a:lstStyle/>
          <a:p>
            <a:pPr algn="l"/>
            <a:r>
              <a:rPr sz="1700" b="1">
                <a:solidFill>
                  <a:srgbClr val="B71C1C"/>
                </a:solidFill>
              </a:rPr>
              <a:t>Modo ingenuo: espera circular</a:t>
            </a:r>
          </a:p>
        </p:txBody>
      </p:sp>
      <p:sp>
        <p:nvSpPr>
          <p:cNvPr id="9" name="TextBox 8"/>
          <p:cNvSpPr txBox="1"/>
          <p:nvPr/>
        </p:nvSpPr>
        <p:spPr>
          <a:xfrm>
            <a:off x="6492240" y="1463040"/>
            <a:ext cx="5120640" cy="365760"/>
          </a:xfrm>
          <a:prstGeom prst="rect">
            <a:avLst/>
          </a:prstGeom>
          <a:noFill/>
        </p:spPr>
        <p:txBody>
          <a:bodyPr wrap="square" lIns="45720" rIns="45720" anchor="t">
            <a:noAutofit/>
          </a:bodyPr>
          <a:lstStyle/>
          <a:p>
            <a:pPr algn="l"/>
            <a:r>
              <a:rPr sz="1700" b="1">
                <a:solidFill>
                  <a:srgbClr val="2E7D32"/>
                </a:solidFill>
              </a:rPr>
              <a:t>Modo asimétrico: ciclo roto</a:t>
            </a:r>
          </a:p>
        </p:txBody>
      </p:sp>
      <p:sp>
        <p:nvSpPr>
          <p:cNvPr id="10" name="Oval 9"/>
          <p:cNvSpPr/>
          <p:nvPr/>
        </p:nvSpPr>
        <p:spPr>
          <a:xfrm>
            <a:off x="2697480" y="1824228"/>
            <a:ext cx="914400" cy="512064"/>
          </a:xfrm>
          <a:prstGeom prst="ellipse">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F0</a:t>
            </a:r>
          </a:p>
        </p:txBody>
      </p:sp>
      <p:sp>
        <p:nvSpPr>
          <p:cNvPr id="11" name="Oval 10"/>
          <p:cNvSpPr/>
          <p:nvPr/>
        </p:nvSpPr>
        <p:spPr>
          <a:xfrm>
            <a:off x="4001949" y="2629817"/>
            <a:ext cx="914400" cy="512064"/>
          </a:xfrm>
          <a:prstGeom prst="ellipse">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F1</a:t>
            </a:r>
          </a:p>
        </p:txBody>
      </p:sp>
      <p:sp>
        <p:nvSpPr>
          <p:cNvPr id="12" name="Oval 11"/>
          <p:cNvSpPr/>
          <p:nvPr/>
        </p:nvSpPr>
        <p:spPr>
          <a:xfrm>
            <a:off x="3503686" y="3933288"/>
            <a:ext cx="914400" cy="512064"/>
          </a:xfrm>
          <a:prstGeom prst="ellipse">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F2</a:t>
            </a:r>
          </a:p>
        </p:txBody>
      </p:sp>
      <p:sp>
        <p:nvSpPr>
          <p:cNvPr id="13" name="Oval 12"/>
          <p:cNvSpPr/>
          <p:nvPr/>
        </p:nvSpPr>
        <p:spPr>
          <a:xfrm>
            <a:off x="1891273" y="3933288"/>
            <a:ext cx="914400" cy="512064"/>
          </a:xfrm>
          <a:prstGeom prst="ellipse">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F3</a:t>
            </a:r>
          </a:p>
        </p:txBody>
      </p:sp>
      <p:sp>
        <p:nvSpPr>
          <p:cNvPr id="14" name="Oval 13"/>
          <p:cNvSpPr/>
          <p:nvPr/>
        </p:nvSpPr>
        <p:spPr>
          <a:xfrm>
            <a:off x="1393010" y="2629817"/>
            <a:ext cx="914400" cy="512064"/>
          </a:xfrm>
          <a:prstGeom prst="ellipse">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F4</a:t>
            </a:r>
          </a:p>
        </p:txBody>
      </p:sp>
      <p:cxnSp>
        <p:nvCxnSpPr>
          <p:cNvPr id="15" name="Connector 14"/>
          <p:cNvCxnSpPr/>
          <p:nvPr/>
        </p:nvCxnSpPr>
        <p:spPr>
          <a:xfrm>
            <a:off x="3582579" y="2248421"/>
            <a:ext cx="448670" cy="469266"/>
          </a:xfrm>
          <a:prstGeom prst="line">
            <a:avLst/>
          </a:prstGeom>
          <a:ln w="25400">
            <a:solidFill>
              <a:srgbClr val="B71C1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140459" y="3184792"/>
            <a:ext cx="139117" cy="705585"/>
          </a:xfrm>
          <a:prstGeom prst="line">
            <a:avLst/>
          </a:prstGeom>
          <a:ln w="25400">
            <a:solidFill>
              <a:srgbClr val="B71C1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851393" y="4189320"/>
            <a:ext cx="606573" cy="0"/>
          </a:xfrm>
          <a:prstGeom prst="line">
            <a:avLst/>
          </a:prstGeom>
          <a:ln w="25400">
            <a:solidFill>
              <a:srgbClr val="B71C1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2029783" y="3184792"/>
            <a:ext cx="139117" cy="705585"/>
          </a:xfrm>
          <a:prstGeom prst="line">
            <a:avLst/>
          </a:prstGeom>
          <a:ln w="25400">
            <a:solidFill>
              <a:srgbClr val="B71C1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78110" y="2248421"/>
            <a:ext cx="448670" cy="469266"/>
          </a:xfrm>
          <a:prstGeom prst="line">
            <a:avLst/>
          </a:prstGeom>
          <a:ln w="25400">
            <a:solidFill>
              <a:srgbClr val="B7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595360" y="1824228"/>
            <a:ext cx="914400" cy="512064"/>
          </a:xfrm>
          <a:prstGeom prst="ellipse">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F0</a:t>
            </a:r>
          </a:p>
        </p:txBody>
      </p:sp>
      <p:sp>
        <p:nvSpPr>
          <p:cNvPr id="21" name="Oval 20"/>
          <p:cNvSpPr/>
          <p:nvPr/>
        </p:nvSpPr>
        <p:spPr>
          <a:xfrm>
            <a:off x="9899829" y="2629817"/>
            <a:ext cx="914400" cy="512064"/>
          </a:xfrm>
          <a:prstGeom prst="ellipse">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F1</a:t>
            </a:r>
          </a:p>
        </p:txBody>
      </p:sp>
      <p:sp>
        <p:nvSpPr>
          <p:cNvPr id="22" name="Oval 21"/>
          <p:cNvSpPr/>
          <p:nvPr/>
        </p:nvSpPr>
        <p:spPr>
          <a:xfrm>
            <a:off x="9401566" y="3933288"/>
            <a:ext cx="914400" cy="512064"/>
          </a:xfrm>
          <a:prstGeom prst="ellipse">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F2</a:t>
            </a:r>
          </a:p>
        </p:txBody>
      </p:sp>
      <p:sp>
        <p:nvSpPr>
          <p:cNvPr id="23" name="Oval 22"/>
          <p:cNvSpPr/>
          <p:nvPr/>
        </p:nvSpPr>
        <p:spPr>
          <a:xfrm>
            <a:off x="7789153" y="3933288"/>
            <a:ext cx="914400" cy="512064"/>
          </a:xfrm>
          <a:prstGeom prst="ellipse">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F3</a:t>
            </a:r>
          </a:p>
        </p:txBody>
      </p:sp>
      <p:sp>
        <p:nvSpPr>
          <p:cNvPr id="24" name="Oval 23"/>
          <p:cNvSpPr/>
          <p:nvPr/>
        </p:nvSpPr>
        <p:spPr>
          <a:xfrm>
            <a:off x="7290890" y="2629817"/>
            <a:ext cx="914400" cy="512064"/>
          </a:xfrm>
          <a:prstGeom prst="ellipse">
            <a:avLst/>
          </a:prstGeom>
          <a:solidFill>
            <a:srgbClr val="A8DBB3"/>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F4</a:t>
            </a:r>
          </a:p>
        </p:txBody>
      </p:sp>
      <p:cxnSp>
        <p:nvCxnSpPr>
          <p:cNvPr id="25" name="Connector 24"/>
          <p:cNvCxnSpPr/>
          <p:nvPr/>
        </p:nvCxnSpPr>
        <p:spPr>
          <a:xfrm>
            <a:off x="9480459" y="2248421"/>
            <a:ext cx="448670" cy="469266"/>
          </a:xfrm>
          <a:prstGeom prst="line">
            <a:avLst/>
          </a:prstGeom>
          <a:ln w="254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0038339" y="3184792"/>
            <a:ext cx="139117" cy="705585"/>
          </a:xfrm>
          <a:prstGeom prst="line">
            <a:avLst/>
          </a:prstGeom>
          <a:ln w="254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749273" y="4189320"/>
            <a:ext cx="606573" cy="0"/>
          </a:xfrm>
          <a:prstGeom prst="line">
            <a:avLst/>
          </a:prstGeom>
          <a:ln w="254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7927663" y="3184792"/>
            <a:ext cx="139117" cy="705585"/>
          </a:xfrm>
          <a:prstGeom prst="line">
            <a:avLst/>
          </a:prstGeom>
          <a:ln w="254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4937760"/>
            <a:ext cx="5212080" cy="1188720"/>
          </a:xfrm>
          <a:prstGeom prst="rect">
            <a:avLst/>
          </a:prstGeom>
          <a:noFill/>
        </p:spPr>
        <p:txBody>
          <a:bodyPr wrap="square" lIns="45720" rIns="45720" anchor="t">
            <a:noAutofit/>
          </a:bodyPr>
          <a:lstStyle/>
          <a:p>
            <a:pPr algn="l"/>
            <a:r>
              <a:rPr sz="1500" dirty="0" err="1"/>
              <a:t>Cada</a:t>
            </a:r>
            <a:r>
              <a:rPr sz="1500" dirty="0"/>
              <a:t> Fi </a:t>
            </a:r>
            <a:r>
              <a:rPr sz="1500" dirty="0" err="1"/>
              <a:t>tiene</a:t>
            </a:r>
            <a:r>
              <a:rPr sz="1500" dirty="0"/>
              <a:t> Ti y </a:t>
            </a:r>
            <a:r>
              <a:rPr sz="1500" dirty="0" err="1"/>
              <a:t>espera</a:t>
            </a:r>
            <a:r>
              <a:rPr sz="1500" dirty="0"/>
              <a:t> T(i+1)</a:t>
            </a:r>
            <a:r>
              <a:rPr lang="es-MX" sz="1500" dirty="0"/>
              <a:t> milisegundos</a:t>
            </a:r>
            <a:r>
              <a:rPr sz="1500" dirty="0"/>
              <a:t>: se </a:t>
            </a:r>
            <a:r>
              <a:rPr sz="1500" dirty="0" err="1"/>
              <a:t>cumplen</a:t>
            </a:r>
            <a:r>
              <a:rPr sz="1500" dirty="0"/>
              <a:t> las </a:t>
            </a:r>
            <a:r>
              <a:rPr sz="1500" b="1" dirty="0"/>
              <a:t>4 </a:t>
            </a:r>
            <a:r>
              <a:rPr sz="1500" b="1" dirty="0" err="1"/>
              <a:t>condiciones</a:t>
            </a:r>
            <a:r>
              <a:rPr sz="1500" b="1" dirty="0"/>
              <a:t> de Coffman</a:t>
            </a:r>
            <a:r>
              <a:rPr sz="1500" dirty="0"/>
              <a:t> y hay </a:t>
            </a:r>
            <a:r>
              <a:rPr sz="1500" dirty="0" err="1"/>
              <a:t>interbloqueo</a:t>
            </a:r>
            <a:endParaRPr sz="1500" dirty="0"/>
          </a:p>
        </p:txBody>
      </p:sp>
      <p:sp>
        <p:nvSpPr>
          <p:cNvPr id="30" name="TextBox 29"/>
          <p:cNvSpPr txBox="1"/>
          <p:nvPr/>
        </p:nvSpPr>
        <p:spPr>
          <a:xfrm>
            <a:off x="6492240" y="4937760"/>
            <a:ext cx="5212080" cy="1188720"/>
          </a:xfrm>
          <a:prstGeom prst="rect">
            <a:avLst/>
          </a:prstGeom>
          <a:noFill/>
        </p:spPr>
        <p:txBody>
          <a:bodyPr wrap="square" lIns="45720" rIns="45720" anchor="t">
            <a:noAutofit/>
          </a:bodyPr>
          <a:lstStyle/>
          <a:p>
            <a:pPr algn="l"/>
            <a:r>
              <a:rPr sz="1500" b="1"/>
              <a:t>F4 toma T0 y luego T4:</a:t>
            </a:r>
            <a:r>
              <a:rPr sz="1500"/>
              <a:t> no hay espera circular y todos completan sus 3 comidas</a:t>
            </a:r>
          </a:p>
        </p:txBody>
      </p:sp>
      <p:sp>
        <p:nvSpPr>
          <p:cNvPr id="31" name="Leyenda"/>
          <p:cNvSpPr txBox="1"/>
          <p:nvPr/>
        </p:nvSpPr>
        <p:spPr>
          <a:xfrm>
            <a:off x="320040" y="5806440"/>
            <a:ext cx="11521440" cy="274320"/>
          </a:xfrm>
          <a:prstGeom prst="rect">
            <a:avLst/>
          </a:prstGeom>
          <a:noFill/>
        </p:spPr>
        <p:txBody>
          <a:bodyPr wrap="square" lIns="45720" tIns="18288" rIns="45720" bIns="18288" anchor="ctr">
            <a:noAutofit/>
          </a:bodyPr>
          <a:lstStyle/>
          <a:p>
            <a:pPr algn="l"/>
            <a:r>
              <a:rPr lang="es-PE" sz="1100" b="0" i="1">
                <a:solidFill>
                  <a:srgbClr val="404040"/>
                </a:solidFill>
              </a:rPr>
              <a:t>Leyenda: Fi = filósofo i; Ti = tenedor i; la flecha Fi → F(i+1) indica que Fi espera el tenedor que sostiene F(i+1).</a:t>
            </a:r>
          </a:p>
        </p:txBody>
      </p:sp>
      <p:sp>
        <p:nvSpPr>
          <p:cNvPr id="32"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Con la CPU y la concurrencia bajo control, falta resolver dónde viven los datos: la memoria.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Memoria: contigua y paginada</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15</a:t>
            </a:fld>
            <a:endParaRPr lang="es-PE"/>
          </a:p>
        </p:txBody>
      </p:sp>
      <p:sp>
        <p:nvSpPr>
          <p:cNvPr id="6" name="Rounded Rectangle 5"/>
          <p:cNvSpPr/>
          <p:nvPr/>
        </p:nvSpPr>
        <p:spPr>
          <a:xfrm>
            <a:off x="320040" y="1371600"/>
            <a:ext cx="5669280" cy="4343400"/>
          </a:xfrm>
          <a:prstGeom prst="roundRect">
            <a:avLst>
              <a:gd name="adj" fmla="val 21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7" name="Rounded Rectangle 6"/>
          <p:cNvSpPr/>
          <p:nvPr/>
        </p:nvSpPr>
        <p:spPr>
          <a:xfrm>
            <a:off x="6263640" y="1371600"/>
            <a:ext cx="5577840" cy="4343400"/>
          </a:xfrm>
          <a:prstGeom prst="roundRect">
            <a:avLst>
              <a:gd name="adj" fmla="val 21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8" name="TextBox 7"/>
          <p:cNvSpPr txBox="1"/>
          <p:nvPr/>
        </p:nvSpPr>
        <p:spPr>
          <a:xfrm>
            <a:off x="548640" y="1508760"/>
            <a:ext cx="5303520" cy="365760"/>
          </a:xfrm>
          <a:prstGeom prst="rect">
            <a:avLst/>
          </a:prstGeom>
          <a:noFill/>
        </p:spPr>
        <p:txBody>
          <a:bodyPr wrap="square" lIns="45720" rIns="45720" anchor="t">
            <a:noAutofit/>
          </a:bodyPr>
          <a:lstStyle/>
          <a:p>
            <a:pPr algn="l"/>
            <a:r>
              <a:rPr sz="1600" b="1"/>
              <a:t>Asignación contigua (1000 B, first-fit)</a:t>
            </a:r>
          </a:p>
        </p:txBody>
      </p:sp>
      <p:sp>
        <p:nvSpPr>
          <p:cNvPr id="9" name="Rectangle 8"/>
          <p:cNvSpPr/>
          <p:nvPr/>
        </p:nvSpPr>
        <p:spPr>
          <a:xfrm>
            <a:off x="548640" y="2011680"/>
            <a:ext cx="3127248" cy="731520"/>
          </a:xfrm>
          <a:prstGeom prst="rect">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noAutofit/>
          </a:bodyPr>
          <a:lstStyle/>
          <a:p>
            <a:pPr algn="ctr"/>
            <a:r>
              <a:rPr sz="1200" b="1">
                <a:solidFill>
                  <a:srgbClr val="000000"/>
                </a:solidFill>
              </a:rPr>
              <a:t>PID 1</a:t>
            </a:r>
          </a:p>
          <a:p>
            <a:pPr algn="ctr"/>
            <a:r>
              <a:rPr sz="1100">
                <a:solidFill>
                  <a:srgbClr val="000000"/>
                </a:solidFill>
              </a:rPr>
              <a:t>600 B</a:t>
            </a:r>
          </a:p>
        </p:txBody>
      </p:sp>
      <p:sp>
        <p:nvSpPr>
          <p:cNvPr id="10" name="Rectangle 9"/>
          <p:cNvSpPr/>
          <p:nvPr/>
        </p:nvSpPr>
        <p:spPr>
          <a:xfrm>
            <a:off x="3675887" y="2011680"/>
            <a:ext cx="1563624" cy="731520"/>
          </a:xfrm>
          <a:prstGeom prst="rect">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noAutofit/>
          </a:bodyPr>
          <a:lstStyle/>
          <a:p>
            <a:pPr algn="ctr"/>
            <a:r>
              <a:rPr sz="1200" b="1">
                <a:solidFill>
                  <a:srgbClr val="000000"/>
                </a:solidFill>
              </a:rPr>
              <a:t>PID 2</a:t>
            </a:r>
          </a:p>
          <a:p>
            <a:pPr algn="ctr"/>
            <a:r>
              <a:rPr sz="1100">
                <a:solidFill>
                  <a:srgbClr val="000000"/>
                </a:solidFill>
              </a:rPr>
              <a:t>300 B</a:t>
            </a:r>
          </a:p>
        </p:txBody>
      </p:sp>
      <p:sp>
        <p:nvSpPr>
          <p:cNvPr id="11" name="Rectangle 10"/>
          <p:cNvSpPr/>
          <p:nvPr/>
        </p:nvSpPr>
        <p:spPr>
          <a:xfrm>
            <a:off x="5239512" y="2011680"/>
            <a:ext cx="521207" cy="731520"/>
          </a:xfrm>
          <a:prstGeom prst="rect">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noAutofit/>
          </a:bodyPr>
          <a:lstStyle/>
          <a:p>
            <a:pPr algn="ctr"/>
            <a:r>
              <a:rPr sz="1200" b="1">
                <a:solidFill>
                  <a:srgbClr val="000000"/>
                </a:solidFill>
              </a:rPr>
              <a:t>Libre</a:t>
            </a:r>
          </a:p>
          <a:p>
            <a:pPr algn="ctr"/>
            <a:r>
              <a:rPr sz="1100">
                <a:solidFill>
                  <a:srgbClr val="000000"/>
                </a:solidFill>
              </a:rPr>
              <a:t>100 B</a:t>
            </a:r>
          </a:p>
        </p:txBody>
      </p:sp>
      <p:sp>
        <p:nvSpPr>
          <p:cNvPr id="12" name="TextBox 11"/>
          <p:cNvSpPr txBox="1"/>
          <p:nvPr/>
        </p:nvSpPr>
        <p:spPr>
          <a:xfrm>
            <a:off x="548640" y="3108960"/>
            <a:ext cx="5212080" cy="3017520"/>
          </a:xfrm>
          <a:prstGeom prst="rect">
            <a:avLst/>
          </a:prstGeom>
          <a:noFill/>
        </p:spPr>
        <p:txBody>
          <a:bodyPr wrap="square" lIns="45720" rIns="45720" anchor="t">
            <a:noAutofit/>
          </a:bodyPr>
          <a:lstStyle/>
          <a:p>
            <a:pPr algn="l"/>
            <a:r>
              <a:rPr sz="1600" b="1"/>
              <a:t>Estrategias:</a:t>
            </a:r>
            <a:r>
              <a:rPr sz="1600"/>
              <a:t> first, best y worst fit</a:t>
            </a:r>
          </a:p>
          <a:p>
            <a:pPr algn="l">
              <a:spcBef>
                <a:spcPts val="1000"/>
              </a:spcBef>
            </a:pPr>
            <a:r>
              <a:rPr sz="1600" b="1"/>
              <a:t>Fragmentación externa:</a:t>
            </a:r>
            <a:r>
              <a:rPr sz="1600"/>
              <a:t> libre total menos el hueco mayor; el error distingue memoria insuficiente de falta de espacio contiguo</a:t>
            </a:r>
          </a:p>
          <a:p>
            <a:pPr algn="l">
              <a:spcBef>
                <a:spcPts val="1000"/>
              </a:spcBef>
            </a:pPr>
            <a:r>
              <a:rPr sz="1600" b="1"/>
              <a:t>Fusión de huecos</a:t>
            </a:r>
            <a:r>
              <a:rPr sz="1600"/>
              <a:t> adyacentes al liberar</a:t>
            </a:r>
          </a:p>
        </p:txBody>
      </p:sp>
      <p:sp>
        <p:nvSpPr>
          <p:cNvPr id="13" name="TextBox 12"/>
          <p:cNvSpPr txBox="1"/>
          <p:nvPr/>
        </p:nvSpPr>
        <p:spPr>
          <a:xfrm>
            <a:off x="6492240" y="1508760"/>
            <a:ext cx="5120640" cy="365760"/>
          </a:xfrm>
          <a:prstGeom prst="rect">
            <a:avLst/>
          </a:prstGeom>
          <a:noFill/>
        </p:spPr>
        <p:txBody>
          <a:bodyPr wrap="square" lIns="45720" rIns="45720" anchor="t">
            <a:noAutofit/>
          </a:bodyPr>
          <a:lstStyle/>
          <a:p>
            <a:pPr algn="l"/>
            <a:r>
              <a:rPr sz="1600" b="1"/>
              <a:t>Paginación (16 marcos × 256 B)</a:t>
            </a:r>
          </a:p>
        </p:txBody>
      </p:sp>
      <p:sp>
        <p:nvSpPr>
          <p:cNvPr id="14" name="Rectangle 13"/>
          <p:cNvSpPr/>
          <p:nvPr/>
        </p:nvSpPr>
        <p:spPr>
          <a:xfrm>
            <a:off x="6537960" y="2011680"/>
            <a:ext cx="603504" cy="640080"/>
          </a:xfrm>
          <a:prstGeom prst="rect">
            <a:avLst/>
          </a:prstGeom>
          <a:solidFill>
            <a:srgbClr val="D4EDDA"/>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0</a:t>
            </a:r>
          </a:p>
          <a:p>
            <a:pPr algn="ctr"/>
            <a:r>
              <a:rPr sz="1000">
                <a:solidFill>
                  <a:srgbClr val="000000"/>
                </a:solidFill>
              </a:rPr>
              <a:t>P3·p0</a:t>
            </a:r>
          </a:p>
        </p:txBody>
      </p:sp>
      <p:sp>
        <p:nvSpPr>
          <p:cNvPr id="15" name="Rectangle 14"/>
          <p:cNvSpPr/>
          <p:nvPr/>
        </p:nvSpPr>
        <p:spPr>
          <a:xfrm>
            <a:off x="717804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a:t>
            </a:r>
          </a:p>
        </p:txBody>
      </p:sp>
      <p:sp>
        <p:nvSpPr>
          <p:cNvPr id="16" name="Rectangle 15"/>
          <p:cNvSpPr/>
          <p:nvPr/>
        </p:nvSpPr>
        <p:spPr>
          <a:xfrm>
            <a:off x="781812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2</a:t>
            </a:r>
          </a:p>
        </p:txBody>
      </p:sp>
      <p:sp>
        <p:nvSpPr>
          <p:cNvPr id="17" name="Rectangle 16"/>
          <p:cNvSpPr/>
          <p:nvPr/>
        </p:nvSpPr>
        <p:spPr>
          <a:xfrm>
            <a:off x="845820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3</a:t>
            </a:r>
          </a:p>
        </p:txBody>
      </p:sp>
      <p:sp>
        <p:nvSpPr>
          <p:cNvPr id="18" name="Rectangle 17"/>
          <p:cNvSpPr/>
          <p:nvPr/>
        </p:nvSpPr>
        <p:spPr>
          <a:xfrm>
            <a:off x="909828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4</a:t>
            </a:r>
          </a:p>
        </p:txBody>
      </p:sp>
      <p:sp>
        <p:nvSpPr>
          <p:cNvPr id="19" name="Rectangle 18"/>
          <p:cNvSpPr/>
          <p:nvPr/>
        </p:nvSpPr>
        <p:spPr>
          <a:xfrm>
            <a:off x="973836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5</a:t>
            </a:r>
          </a:p>
        </p:txBody>
      </p:sp>
      <p:sp>
        <p:nvSpPr>
          <p:cNvPr id="20" name="Rectangle 19"/>
          <p:cNvSpPr/>
          <p:nvPr/>
        </p:nvSpPr>
        <p:spPr>
          <a:xfrm>
            <a:off x="1037844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6</a:t>
            </a:r>
          </a:p>
        </p:txBody>
      </p:sp>
      <p:sp>
        <p:nvSpPr>
          <p:cNvPr id="21" name="Rectangle 20"/>
          <p:cNvSpPr/>
          <p:nvPr/>
        </p:nvSpPr>
        <p:spPr>
          <a:xfrm>
            <a:off x="11018520" y="201168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7</a:t>
            </a:r>
          </a:p>
        </p:txBody>
      </p:sp>
      <p:sp>
        <p:nvSpPr>
          <p:cNvPr id="22" name="Rectangle 21"/>
          <p:cNvSpPr/>
          <p:nvPr/>
        </p:nvSpPr>
        <p:spPr>
          <a:xfrm>
            <a:off x="653796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8</a:t>
            </a:r>
          </a:p>
        </p:txBody>
      </p:sp>
      <p:sp>
        <p:nvSpPr>
          <p:cNvPr id="23" name="Rectangle 22"/>
          <p:cNvSpPr/>
          <p:nvPr/>
        </p:nvSpPr>
        <p:spPr>
          <a:xfrm>
            <a:off x="717804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9</a:t>
            </a:r>
          </a:p>
        </p:txBody>
      </p:sp>
      <p:sp>
        <p:nvSpPr>
          <p:cNvPr id="24" name="Rectangle 23"/>
          <p:cNvSpPr/>
          <p:nvPr/>
        </p:nvSpPr>
        <p:spPr>
          <a:xfrm>
            <a:off x="781812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10</a:t>
            </a:r>
          </a:p>
        </p:txBody>
      </p:sp>
      <p:sp>
        <p:nvSpPr>
          <p:cNvPr id="25" name="Rectangle 24"/>
          <p:cNvSpPr/>
          <p:nvPr/>
        </p:nvSpPr>
        <p:spPr>
          <a:xfrm>
            <a:off x="845820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11</a:t>
            </a:r>
          </a:p>
        </p:txBody>
      </p:sp>
      <p:sp>
        <p:nvSpPr>
          <p:cNvPr id="26" name="Rectangle 25"/>
          <p:cNvSpPr/>
          <p:nvPr/>
        </p:nvSpPr>
        <p:spPr>
          <a:xfrm>
            <a:off x="909828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12</a:t>
            </a:r>
          </a:p>
        </p:txBody>
      </p:sp>
      <p:sp>
        <p:nvSpPr>
          <p:cNvPr id="27" name="Rectangle 26"/>
          <p:cNvSpPr/>
          <p:nvPr/>
        </p:nvSpPr>
        <p:spPr>
          <a:xfrm>
            <a:off x="973836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13</a:t>
            </a:r>
          </a:p>
        </p:txBody>
      </p:sp>
      <p:sp>
        <p:nvSpPr>
          <p:cNvPr id="28" name="Rectangle 27"/>
          <p:cNvSpPr/>
          <p:nvPr/>
        </p:nvSpPr>
        <p:spPr>
          <a:xfrm>
            <a:off x="1037844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14</a:t>
            </a:r>
          </a:p>
        </p:txBody>
      </p:sp>
      <p:sp>
        <p:nvSpPr>
          <p:cNvPr id="29" name="Rectangle 28"/>
          <p:cNvSpPr/>
          <p:nvPr/>
        </p:nvSpPr>
        <p:spPr>
          <a:xfrm>
            <a:off x="11018520" y="2788920"/>
            <a:ext cx="603504" cy="640080"/>
          </a:xfrm>
          <a:prstGeom prst="rect">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100" b="1">
                <a:solidFill>
                  <a:srgbClr val="000000"/>
                </a:solidFill>
              </a:rPr>
              <a:t>15</a:t>
            </a:r>
          </a:p>
        </p:txBody>
      </p:sp>
      <p:sp>
        <p:nvSpPr>
          <p:cNvPr id="30" name="TextBox 29"/>
          <p:cNvSpPr txBox="1"/>
          <p:nvPr/>
        </p:nvSpPr>
        <p:spPr>
          <a:xfrm>
            <a:off x="6492240" y="3611880"/>
            <a:ext cx="5120640" cy="2468880"/>
          </a:xfrm>
          <a:prstGeom prst="rect">
            <a:avLst/>
          </a:prstGeom>
          <a:noFill/>
        </p:spPr>
        <p:txBody>
          <a:bodyPr wrap="square" lIns="45720" rIns="45720" anchor="t">
            <a:noAutofit/>
          </a:bodyPr>
          <a:lstStyle/>
          <a:p>
            <a:pPr algn="l"/>
            <a:r>
              <a:rPr sz="1600" b="1"/>
              <a:t>Marcos no contiguos</a:t>
            </a:r>
            <a:r>
              <a:rPr sz="1600"/>
              <a:t> con una tabla de páginas por proceso</a:t>
            </a:r>
          </a:p>
          <a:p>
            <a:pPr algn="l">
              <a:spcBef>
                <a:spcPts val="1000"/>
              </a:spcBef>
            </a:pPr>
            <a:r>
              <a:rPr sz="1600" b="1"/>
              <a:t>Asignación atómica:</a:t>
            </a:r>
            <a:r>
              <a:rPr sz="1600"/>
              <a:t> si no alcanzan los marcos, no se reserva ninguno</a:t>
            </a:r>
          </a:p>
          <a:p>
            <a:pPr algn="l">
              <a:spcBef>
                <a:spcPts val="1000"/>
              </a:spcBef>
            </a:pPr>
            <a:r>
              <a:rPr sz="1600" b="1"/>
              <a:t>Fragmentación interna:</a:t>
            </a:r>
            <a:r>
              <a:rPr sz="1600"/>
              <a:t> 200 B en un marco de 256 B desperdician 56 B</a:t>
            </a:r>
          </a:p>
        </p:txBody>
      </p:sp>
      <p:sp>
        <p:nvSpPr>
          <p:cNvPr id="31" name="Leyenda contigua"/>
          <p:cNvSpPr txBox="1"/>
          <p:nvPr/>
        </p:nvSpPr>
        <p:spPr>
          <a:xfrm>
            <a:off x="640080" y="5376672"/>
            <a:ext cx="4937760" cy="274320"/>
          </a:xfrm>
          <a:prstGeom prst="rect">
            <a:avLst/>
          </a:prstGeom>
          <a:noFill/>
        </p:spPr>
        <p:txBody>
          <a:bodyPr wrap="square" lIns="45720" tIns="18288" rIns="45720" bIns="18288" anchor="ctr">
            <a:noAutofit/>
          </a:bodyPr>
          <a:lstStyle/>
          <a:p>
            <a:pPr algn="l"/>
            <a:r>
              <a:rPr lang="es-PE" sz="1100" b="0" i="1">
                <a:solidFill>
                  <a:srgbClr val="404040"/>
                </a:solidFill>
              </a:rPr>
              <a:t>Leyenda: B = bytes; PID n = proceso n; Libre = hueco disponible.</a:t>
            </a:r>
          </a:p>
        </p:txBody>
      </p:sp>
      <p:sp>
        <p:nvSpPr>
          <p:cNvPr id="32" name="Leyenda paginada"/>
          <p:cNvSpPr txBox="1"/>
          <p:nvPr/>
        </p:nvSpPr>
        <p:spPr>
          <a:xfrm>
            <a:off x="6583680" y="5376672"/>
            <a:ext cx="5120640" cy="274320"/>
          </a:xfrm>
          <a:prstGeom prst="rect">
            <a:avLst/>
          </a:prstGeom>
          <a:noFill/>
        </p:spPr>
        <p:txBody>
          <a:bodyPr wrap="square" lIns="45720" tIns="18288" rIns="45720" bIns="18288" anchor="ctr">
            <a:noAutofit/>
          </a:bodyPr>
          <a:lstStyle/>
          <a:p>
            <a:pPr algn="l"/>
            <a:r>
              <a:rPr lang="es-PE" sz="1100" b="0" i="1">
                <a:solidFill>
                  <a:srgbClr val="404040"/>
                </a:solidFill>
              </a:rPr>
              <a:t>Leyenda: recuadro = marco de 256 B; P3·p0 = página 0 del PID 3.</a:t>
            </a:r>
          </a:p>
        </p:txBody>
      </p:sp>
      <p:sp>
        <p:nvSpPr>
          <p:cNvPr id="33"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Y cada proceso debe ver solo su propia memoria: así se protege el saldo de cada cliente.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Traducción de direcciones virtuales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16</a:t>
            </a:fld>
            <a:endParaRPr lang="es-PE"/>
          </a:p>
        </p:txBody>
      </p:sp>
      <p:sp>
        <p:nvSpPr>
          <p:cNvPr id="6" name="Rounded Rectangle 5"/>
          <p:cNvSpPr/>
          <p:nvPr/>
        </p:nvSpPr>
        <p:spPr>
          <a:xfrm>
            <a:off x="320040" y="1554480"/>
            <a:ext cx="2103120" cy="914400"/>
          </a:xfrm>
          <a:prstGeom prst="roundRect">
            <a:avLst>
              <a:gd name="adj" fmla="val 100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Dirección virtual dv</a:t>
            </a:r>
          </a:p>
        </p:txBody>
      </p:sp>
      <p:sp>
        <p:nvSpPr>
          <p:cNvPr id="7" name="Rounded Rectangle 6"/>
          <p:cNvSpPr/>
          <p:nvPr/>
        </p:nvSpPr>
        <p:spPr>
          <a:xfrm>
            <a:off x="2834640" y="1554480"/>
            <a:ext cx="2743200" cy="914400"/>
          </a:xfrm>
          <a:prstGeom prst="roundRect">
            <a:avLst>
              <a:gd name="adj" fmla="val 10000"/>
            </a:avLst>
          </a:prstGeom>
          <a:solidFill>
            <a:srgbClr val="FFFFFF"/>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página</a:t>
            </a:r>
            <a:r>
              <a:rPr sz="1300">
                <a:solidFill>
                  <a:srgbClr val="000000"/>
                </a:solidFill>
              </a:rPr>
              <a:t> = dv // tamaño</a:t>
            </a:r>
          </a:p>
          <a:p>
            <a:pPr algn="ctr"/>
            <a:r>
              <a:rPr sz="1300" b="1">
                <a:solidFill>
                  <a:srgbClr val="000000"/>
                </a:solidFill>
              </a:rPr>
              <a:t>desplaz.</a:t>
            </a:r>
            <a:r>
              <a:rPr sz="1300">
                <a:solidFill>
                  <a:srgbClr val="000000"/>
                </a:solidFill>
              </a:rPr>
              <a:t> = dv % tamaño</a:t>
            </a:r>
          </a:p>
        </p:txBody>
      </p:sp>
      <p:sp>
        <p:nvSpPr>
          <p:cNvPr id="8" name="Diamond 7"/>
          <p:cNvSpPr/>
          <p:nvPr/>
        </p:nvSpPr>
        <p:spPr>
          <a:xfrm>
            <a:off x="5989320" y="1417320"/>
            <a:ext cx="1920240" cy="1188720"/>
          </a:xfrm>
          <a:prstGeom prst="diamond">
            <a:avLst/>
          </a:prstGeom>
          <a:solidFill>
            <a:srgbClr val="FFF3CD"/>
          </a:solidFill>
          <a:ln w="19050">
            <a:solidFill>
              <a:srgbClr val="B58900"/>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a:r>
              <a:rPr sz="1200">
                <a:solidFill>
                  <a:srgbClr val="000000"/>
                </a:solidFill>
              </a:rPr>
              <a:t>¿dv dentro del rango?</a:t>
            </a:r>
          </a:p>
        </p:txBody>
      </p:sp>
      <p:sp>
        <p:nvSpPr>
          <p:cNvPr id="9" name="Rounded Rectangle 8"/>
          <p:cNvSpPr/>
          <p:nvPr/>
        </p:nvSpPr>
        <p:spPr>
          <a:xfrm>
            <a:off x="8321040" y="1554480"/>
            <a:ext cx="3474720" cy="914400"/>
          </a:xfrm>
          <a:prstGeom prst="roundRect">
            <a:avLst>
              <a:gd name="adj" fmla="val 10000"/>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física</a:t>
            </a:r>
            <a:r>
              <a:rPr sz="1300">
                <a:solidFill>
                  <a:srgbClr val="000000"/>
                </a:solidFill>
              </a:rPr>
              <a:t> = marco × tamaño + desplazamiento</a:t>
            </a:r>
          </a:p>
        </p:txBody>
      </p:sp>
      <p:sp>
        <p:nvSpPr>
          <p:cNvPr id="10" name="Rounded Rectangle 9"/>
          <p:cNvSpPr/>
          <p:nvPr/>
        </p:nvSpPr>
        <p:spPr>
          <a:xfrm>
            <a:off x="5486400" y="2971800"/>
            <a:ext cx="2926080" cy="731520"/>
          </a:xfrm>
          <a:prstGeom prst="roundRect">
            <a:avLst>
              <a:gd name="adj" fmla="val 12500"/>
            </a:avLst>
          </a:prstGeom>
          <a:solidFill>
            <a:srgbClr val="F8D7DA"/>
          </a:solidFill>
          <a:ln w="19050">
            <a:solidFill>
              <a:srgbClr val="B71C1C"/>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SegmentationFault</a:t>
            </a:r>
          </a:p>
        </p:txBody>
      </p:sp>
      <p:cxnSp>
        <p:nvCxnSpPr>
          <p:cNvPr id="11" name="Connector 10"/>
          <p:cNvCxnSpPr/>
          <p:nvPr/>
        </p:nvCxnSpPr>
        <p:spPr>
          <a:xfrm>
            <a:off x="2423160" y="2011680"/>
            <a:ext cx="4114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577840" y="2011680"/>
            <a:ext cx="4114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909560" y="2011680"/>
            <a:ext cx="4114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63840" y="1737360"/>
            <a:ext cx="457200" cy="228600"/>
          </a:xfrm>
          <a:prstGeom prst="rect">
            <a:avLst/>
          </a:prstGeom>
          <a:noFill/>
        </p:spPr>
        <p:txBody>
          <a:bodyPr wrap="square" lIns="0" tIns="0" rIns="0" bIns="0" anchor="ctr">
            <a:noAutofit/>
          </a:bodyPr>
          <a:lstStyle/>
          <a:p>
            <a:pPr algn="ctr"/>
            <a:r>
              <a:rPr sz="1100" b="1">
                <a:solidFill>
                  <a:srgbClr val="595959"/>
                </a:solidFill>
              </a:rPr>
              <a:t>Sí</a:t>
            </a:r>
          </a:p>
        </p:txBody>
      </p:sp>
      <p:cxnSp>
        <p:nvCxnSpPr>
          <p:cNvPr id="15" name="Connector 14"/>
          <p:cNvCxnSpPr/>
          <p:nvPr/>
        </p:nvCxnSpPr>
        <p:spPr>
          <a:xfrm>
            <a:off x="6949440" y="2606040"/>
            <a:ext cx="0" cy="36576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040880" y="2651760"/>
            <a:ext cx="457200" cy="228600"/>
          </a:xfrm>
          <a:prstGeom prst="rect">
            <a:avLst/>
          </a:prstGeom>
          <a:noFill/>
        </p:spPr>
        <p:txBody>
          <a:bodyPr wrap="square" lIns="0" tIns="0" rIns="0" bIns="0" anchor="ctr">
            <a:noAutofit/>
          </a:bodyPr>
          <a:lstStyle/>
          <a:p>
            <a:pPr algn="ctr"/>
            <a:r>
              <a:rPr sz="1100" b="1">
                <a:solidFill>
                  <a:srgbClr val="595959"/>
                </a:solidFill>
              </a:rPr>
              <a:t>No</a:t>
            </a:r>
          </a:p>
        </p:txBody>
      </p:sp>
      <p:graphicFrame>
        <p:nvGraphicFramePr>
          <p:cNvPr id="17" name="Table 16"/>
          <p:cNvGraphicFramePr>
            <a:graphicFrameLocks noGrp="1"/>
          </p:cNvGraphicFramePr>
          <p:nvPr/>
        </p:nvGraphicFramePr>
        <p:xfrm>
          <a:off x="320040" y="3977639"/>
          <a:ext cx="11521440" cy="150876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502920">
                <a:tc>
                  <a:txBody>
                    <a:bodyPr/>
                    <a:lstStyle/>
                    <a:p>
                      <a:pPr algn="ctr"/>
                      <a:r>
                        <a:rPr sz="1400" b="1"/>
                        <a:t>Caso real (PID 3, 200 B)</a:t>
                      </a:r>
                    </a:p>
                  </a:txBody>
                  <a:tcPr marL="73152" marR="73152" marT="27432" marB="27432" anchor="ctr"/>
                </a:tc>
                <a:tc>
                  <a:txBody>
                    <a:bodyPr/>
                    <a:lstStyle/>
                    <a:p>
                      <a:pPr algn="ctr"/>
                      <a:r>
                        <a:rPr sz="1400" b="1"/>
                        <a:t>Cálculo</a:t>
                      </a:r>
                    </a:p>
                  </a:txBody>
                  <a:tcPr marL="73152" marR="73152" marT="27432" marB="27432" anchor="ctr"/>
                </a:tc>
                <a:tc>
                  <a:txBody>
                    <a:bodyPr/>
                    <a:lstStyle/>
                    <a:p>
                      <a:pPr algn="ctr"/>
                      <a:r>
                        <a:rPr sz="1400" b="1"/>
                        <a:t>Resultado (B = bytes)</a:t>
                      </a:r>
                    </a:p>
                  </a:txBody>
                  <a:tcPr marL="73152" marR="73152" marT="27432" marB="27432" anchor="ctr"/>
                </a:tc>
                <a:extLst>
                  <a:ext uri="{0D108BD9-81ED-4DB2-BD59-A6C34878D82A}">
                    <a16:rowId xmlns:a16="http://schemas.microsoft.com/office/drawing/2014/main" val="10000"/>
                  </a:ext>
                </a:extLst>
              </a:tr>
              <a:tr h="502920">
                <a:tc>
                  <a:txBody>
                    <a:bodyPr/>
                    <a:lstStyle/>
                    <a:p>
                      <a:pPr algn="l"/>
                      <a:r>
                        <a:rPr sz="1400" b="1"/>
                        <a:t>traducir 3 100</a:t>
                      </a:r>
                    </a:p>
                  </a:txBody>
                  <a:tcPr marL="73152" marR="73152" marT="27432" marB="27432" anchor="ctr"/>
                </a:tc>
                <a:tc>
                  <a:txBody>
                    <a:bodyPr/>
                    <a:lstStyle/>
                    <a:p>
                      <a:pPr algn="l"/>
                      <a:r>
                        <a:rPr sz="1400"/>
                        <a:t>página 0, desplazamiento 100, marco 0</a:t>
                      </a:r>
                    </a:p>
                  </a:txBody>
                  <a:tcPr marL="73152" marR="73152" marT="27432" marB="27432" anchor="ctr"/>
                </a:tc>
                <a:tc>
                  <a:txBody>
                    <a:bodyPr/>
                    <a:lstStyle/>
                    <a:p>
                      <a:pPr algn="ctr"/>
                      <a:r>
                        <a:rPr sz="1400"/>
                        <a:t>física 100 B</a:t>
                      </a:r>
                    </a:p>
                  </a:txBody>
                  <a:tcPr marL="73152" marR="73152" marT="27432" marB="27432" anchor="ctr"/>
                </a:tc>
                <a:extLst>
                  <a:ext uri="{0D108BD9-81ED-4DB2-BD59-A6C34878D82A}">
                    <a16:rowId xmlns:a16="http://schemas.microsoft.com/office/drawing/2014/main" val="10001"/>
                  </a:ext>
                </a:extLst>
              </a:tr>
              <a:tr h="502920">
                <a:tc>
                  <a:txBody>
                    <a:bodyPr/>
                    <a:lstStyle/>
                    <a:p>
                      <a:pPr algn="l"/>
                      <a:r>
                        <a:rPr sz="1400" b="1"/>
                        <a:t>traducir 3 99999</a:t>
                      </a:r>
                    </a:p>
                  </a:txBody>
                  <a:tcPr marL="73152" marR="73152" marT="27432" marB="27432" anchor="ctr"/>
                </a:tc>
                <a:tc>
                  <a:txBody>
                    <a:bodyPr/>
                    <a:lstStyle/>
                    <a:p>
                      <a:pPr algn="l"/>
                      <a:r>
                        <a:rPr sz="1400"/>
                        <a:t>fuera del rango [0, 199] B</a:t>
                      </a:r>
                    </a:p>
                  </a:txBody>
                  <a:tcPr marL="73152" marR="73152" marT="27432" marB="27432" anchor="ctr"/>
                </a:tc>
                <a:tc>
                  <a:txBody>
                    <a:bodyPr/>
                    <a:lstStyle/>
                    <a:p>
                      <a:pPr algn="ctr"/>
                      <a:r>
                        <a:rPr sz="1400"/>
                        <a:t>SEGMENTATION FAULT</a:t>
                      </a:r>
                    </a:p>
                  </a:txBody>
                  <a:tcPr marL="73152" marR="73152" marT="27432" marB="27432" anchor="ctr"/>
                </a:tc>
                <a:extLst>
                  <a:ext uri="{0D108BD9-81ED-4DB2-BD59-A6C34878D82A}">
                    <a16:rowId xmlns:a16="http://schemas.microsoft.com/office/drawing/2014/main" val="10002"/>
                  </a:ext>
                </a:extLst>
              </a:tr>
            </a:tbl>
          </a:graphicData>
        </a:graphic>
      </p:graphicFrame>
      <p:sp>
        <p:nvSpPr>
          <p:cNvPr id="18" name="TextBox 17"/>
          <p:cNvSpPr txBox="1"/>
          <p:nvPr/>
        </p:nvSpPr>
        <p:spPr>
          <a:xfrm>
            <a:off x="320040" y="5623560"/>
            <a:ext cx="11521440" cy="548640"/>
          </a:xfrm>
          <a:prstGeom prst="rect">
            <a:avLst/>
          </a:prstGeom>
          <a:noFill/>
        </p:spPr>
        <p:txBody>
          <a:bodyPr wrap="square" lIns="45720" rIns="45720" anchor="t">
            <a:noAutofit/>
          </a:bodyPr>
          <a:lstStyle/>
          <a:p>
            <a:pPr algn="l"/>
            <a:r>
              <a:rPr sz="1500" b="1"/>
              <a:t>Por qué importa:</a:t>
            </a:r>
            <a:r>
              <a:rPr sz="1500"/>
              <a:t> un proceso no puede leer ni escribir fuera de su espacio (protección de memoria)</a:t>
            </a:r>
          </a:p>
        </p:txBody>
      </p:sp>
      <p:sp>
        <p:nvSpPr>
          <p:cNvPr id="19"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Veamos todo esto funcionando en vivo.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456" y="365760"/>
            <a:ext cx="4023360" cy="740664"/>
          </a:xfrm>
        </p:spPr>
        <p:txBody>
          <a:bodyPr/>
          <a:lstStyle/>
          <a:p>
            <a:r>
              <a:rPr sz="4000"/>
              <a:t>Demostración</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17</a:t>
            </a:fld>
            <a:endParaRPr lang="es-PE"/>
          </a:p>
        </p:txBody>
      </p:sp>
      <p:sp>
        <p:nvSpPr>
          <p:cNvPr id="6" name="Rectángulo 5">
            <a:extLst>
              <a:ext uri="{FF2B5EF4-FFF2-40B4-BE49-F238E27FC236}">
                <a16:creationId xmlns:a16="http://schemas.microsoft.com/office/drawing/2014/main" id="{358F8E9F-FB8E-4CC7-B400-25E048014DF2}"/>
              </a:ext>
            </a:extLst>
          </p:cNvPr>
          <p:cNvSpPr/>
          <p:nvPr/>
        </p:nvSpPr>
        <p:spPr>
          <a:xfrm>
            <a:off x="4443984" y="0"/>
            <a:ext cx="7744968" cy="6858000"/>
          </a:xfrm>
          <a:prstGeom prst="rect">
            <a:avLst/>
          </a:prstGeom>
          <a:solidFill>
            <a:schemeClr val="tx1">
              <a:lumMod val="75000"/>
              <a:lumOff val="25000"/>
            </a:schemeClr>
          </a:solidFill>
        </p:spPr>
        <p:txBody>
          <a:bodyPr wrap="square" lIns="320040" anchor="ctr">
            <a:noAutofit/>
          </a:bodyPr>
          <a:lstStyle/>
          <a:p>
            <a:r>
              <a:rPr lang="es-PE" sz="1500" dirty="0">
                <a:solidFill>
                  <a:schemeClr val="bg1"/>
                </a:solidFill>
                <a:latin typeface="Consolas" panose="020B0609020204030204" pitchFamily="49" charset="0"/>
              </a:rPr>
              <a:t>nexus@sim:/$ crear transferencia 24 0 0</a:t>
            </a:r>
          </a:p>
          <a:p>
            <a:r>
              <a:rPr lang="es-PE" sz="1500" dirty="0">
                <a:solidFill>
                  <a:schemeClr val="bg1"/>
                </a:solidFill>
                <a:latin typeface="Consolas" panose="020B0609020204030204" pitchFamily="49" charset="0"/>
              </a:rPr>
              <a:t>proceso creado: PID 1 (transferencia)</a:t>
            </a:r>
          </a:p>
          <a:p>
            <a:r>
              <a:rPr lang="es-PE" sz="1500" dirty="0">
                <a:solidFill>
                  <a:schemeClr val="bg1"/>
                </a:solidFill>
                <a:latin typeface="Consolas" panose="020B0609020204030204" pitchFamily="49" charset="0"/>
              </a:rPr>
              <a:t>nexus@sim:/$ crear saldo1 3 0 0</a:t>
            </a:r>
          </a:p>
          <a:p>
            <a:r>
              <a:rPr lang="es-PE" sz="1500" dirty="0">
                <a:solidFill>
                  <a:schemeClr val="bg1"/>
                </a:solidFill>
                <a:latin typeface="Consolas" panose="020B0609020204030204" pitchFamily="49" charset="0"/>
              </a:rPr>
              <a:t>nexus@sim:/$ crear saldo2 3 0 0</a:t>
            </a:r>
          </a:p>
          <a:p>
            <a:r>
              <a:rPr lang="es-PE" sz="1500" dirty="0">
                <a:solidFill>
                  <a:schemeClr val="bg1"/>
                </a:solidFill>
                <a:latin typeface="Consolas" panose="020B0609020204030204" pitchFamily="49" charset="0"/>
              </a:rPr>
              <a:t>nexus@sim:/$ planificar todos 4</a:t>
            </a:r>
          </a:p>
          <a:p>
            <a:r>
              <a:rPr lang="es-PE" sz="1500" dirty="0">
                <a:solidFill>
                  <a:schemeClr val="bg1"/>
                </a:solidFill>
                <a:latin typeface="Consolas" panose="020B0609020204030204" pitchFamily="49" charset="0"/>
              </a:rPr>
              <a:t>=== Comparativa (tiempos promedio en ms) ===</a:t>
            </a:r>
          </a:p>
          <a:p>
            <a:r>
              <a:rPr lang="es-PE" sz="1500" dirty="0">
                <a:solidFill>
                  <a:schemeClr val="bg1"/>
                </a:solidFill>
                <a:latin typeface="Consolas" panose="020B0609020204030204" pitchFamily="49" charset="0"/>
              </a:rPr>
              <a:t>ALGORITMO            ESPERA (ms) RESPUESTA (ms) RETORNO (ms)</a:t>
            </a:r>
          </a:p>
          <a:p>
            <a:r>
              <a:rPr lang="es-PE" sz="1500" dirty="0">
                <a:solidFill>
                  <a:schemeClr val="bg1"/>
                </a:solidFill>
                <a:latin typeface="Consolas" panose="020B0609020204030204" pitchFamily="49" charset="0"/>
              </a:rPr>
              <a:t>FCFS                       17.00          17.00        27.00</a:t>
            </a:r>
          </a:p>
          <a:p>
            <a:r>
              <a:rPr lang="es-PE" sz="1500" dirty="0">
                <a:solidFill>
                  <a:schemeClr val="bg1"/>
                </a:solidFill>
                <a:latin typeface="Consolas" panose="020B0609020204030204" pitchFamily="49" charset="0"/>
              </a:rPr>
              <a:t>SJF                         3.00           3.00        13.00</a:t>
            </a:r>
          </a:p>
          <a:p>
            <a:r>
              <a:rPr lang="es-PE" sz="1500" dirty="0">
                <a:solidFill>
                  <a:schemeClr val="bg1"/>
                </a:solidFill>
                <a:latin typeface="Consolas" panose="020B0609020204030204" pitchFamily="49" charset="0"/>
              </a:rPr>
              <a:t>Round Robin (q=4)           5.67           3.67        15.67</a:t>
            </a:r>
          </a:p>
          <a:p>
            <a:r>
              <a:rPr lang="es-PE" sz="1500" dirty="0">
                <a:solidFill>
                  <a:schemeClr val="bg1"/>
                </a:solidFill>
                <a:latin typeface="Consolas" panose="020B0609020204030204" pitchFamily="49" charset="0"/>
              </a:rPr>
              <a:t>Prioridad                  17.00          17.00        27.00</a:t>
            </a:r>
          </a:p>
          <a:p>
            <a:r>
              <a:rPr lang="es-PE" sz="1500" dirty="0">
                <a:solidFill>
                  <a:schemeClr val="bg1"/>
                </a:solidFill>
                <a:latin typeface="Consolas" panose="020B0609020204030204" pitchFamily="49" charset="0"/>
              </a:rPr>
              <a:t>Menor espera promedio: SJF (3.00 ms)</a:t>
            </a:r>
          </a:p>
          <a:p>
            <a:r>
              <a:rPr lang="es-PE" sz="1500" dirty="0">
                <a:solidFill>
                  <a:schemeClr val="bg1"/>
                </a:solidFill>
                <a:latin typeface="Consolas" panose="020B0609020204030204" pitchFamily="49" charset="0"/>
              </a:rPr>
              <a:t>nexus@sim:/$ asignar 3 200 paginada</a:t>
            </a:r>
          </a:p>
          <a:p>
            <a:r>
              <a:rPr lang="es-PE" sz="1500" dirty="0">
                <a:solidFill>
                  <a:schemeClr val="bg1"/>
                </a:solidFill>
                <a:latin typeface="Consolas" panose="020B0609020204030204" pitchFamily="49" charset="0"/>
              </a:rPr>
              <a:t>PID 3: 1 páginas en los marcos [0]</a:t>
            </a:r>
          </a:p>
          <a:p>
            <a:r>
              <a:rPr lang="es-PE" sz="1500" dirty="0">
                <a:solidFill>
                  <a:schemeClr val="bg1"/>
                </a:solidFill>
                <a:latin typeface="Consolas" panose="020B0609020204030204" pitchFamily="49" charset="0"/>
              </a:rPr>
              <a:t>nexus@sim:/$ traducir 3 100</a:t>
            </a:r>
          </a:p>
          <a:p>
            <a:r>
              <a:rPr lang="es-PE" sz="1500" dirty="0">
                <a:solidFill>
                  <a:schemeClr val="bg1"/>
                </a:solidFill>
                <a:latin typeface="Consolas" panose="020B0609020204030204" pitchFamily="49" charset="0"/>
              </a:rPr>
              <a:t>PID 3: virtual 100 B -&gt; física 100 B</a:t>
            </a:r>
          </a:p>
          <a:p>
            <a:r>
              <a:rPr lang="es-PE" sz="1500" dirty="0">
                <a:solidFill>
                  <a:schemeClr val="bg1"/>
                </a:solidFill>
                <a:latin typeface="Consolas" panose="020B0609020204030204" pitchFamily="49" charset="0"/>
              </a:rPr>
              <a:t>nexus@sim:/$ traducir 3 99999</a:t>
            </a:r>
          </a:p>
          <a:p>
            <a:r>
              <a:rPr lang="es-PE" sz="1500" dirty="0">
                <a:solidFill>
                  <a:schemeClr val="bg1"/>
                </a:solidFill>
                <a:latin typeface="Consolas" panose="020B0609020204030204" pitchFamily="49" charset="0"/>
              </a:rPr>
              <a:t>error: SEGMENTATION FAULT: dirección</a:t>
            </a:r>
          </a:p>
          <a:p>
            <a:r>
              <a:rPr lang="es-PE" sz="1500" dirty="0">
                <a:solidFill>
                  <a:schemeClr val="bg1"/>
                </a:solidFill>
                <a:latin typeface="Consolas" panose="020B0609020204030204" pitchFamily="49" charset="0"/>
              </a:rPr>
              <a:t>virtual 99999 fuera del rango [0, 199]</a:t>
            </a:r>
          </a:p>
        </p:txBody>
      </p:sp>
      <p:sp>
        <p:nvSpPr>
          <p:cNvPr id="7" name="TextBox 6"/>
          <p:cNvSpPr txBox="1"/>
          <p:nvPr/>
        </p:nvSpPr>
        <p:spPr>
          <a:xfrm>
            <a:off x="457200" y="1828800"/>
            <a:ext cx="3840480" cy="3383280"/>
          </a:xfrm>
          <a:prstGeom prst="rect">
            <a:avLst/>
          </a:prstGeom>
          <a:noFill/>
        </p:spPr>
        <p:txBody>
          <a:bodyPr wrap="square" lIns="45720" rIns="45720" anchor="t">
            <a:noAutofit/>
          </a:bodyPr>
          <a:lstStyle/>
          <a:p>
            <a:pPr algn="l"/>
            <a:r>
              <a:rPr sz="2000"/>
              <a:t>Ejecutamos NexusOS-Sim en vivo: planificación del caso del banco y traducción de direcciones con paginación.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Calidad, pruebas y control de versiones</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18</a:t>
            </a:fld>
            <a:endParaRPr lang="es-PE"/>
          </a:p>
        </p:txBody>
      </p:sp>
      <p:sp>
        <p:nvSpPr>
          <p:cNvPr id="6" name="Rounded Rectangle 5"/>
          <p:cNvSpPr/>
          <p:nvPr/>
        </p:nvSpPr>
        <p:spPr>
          <a:xfrm>
            <a:off x="320040" y="1508760"/>
            <a:ext cx="274320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7" name="TextBox 6"/>
          <p:cNvSpPr txBox="1"/>
          <p:nvPr/>
        </p:nvSpPr>
        <p:spPr>
          <a:xfrm>
            <a:off x="320040" y="1554480"/>
            <a:ext cx="2743200" cy="914400"/>
          </a:xfrm>
          <a:prstGeom prst="rect">
            <a:avLst/>
          </a:prstGeom>
          <a:noFill/>
        </p:spPr>
        <p:txBody>
          <a:bodyPr wrap="square" lIns="45720" rIns="45720" anchor="ctr">
            <a:noAutofit/>
          </a:bodyPr>
          <a:lstStyle/>
          <a:p>
            <a:pPr algn="ctr"/>
            <a:r>
              <a:rPr sz="4800" b="1">
                <a:solidFill>
                  <a:srgbClr val="D13737"/>
                </a:solidFill>
              </a:rPr>
              <a:t>40</a:t>
            </a:r>
          </a:p>
        </p:txBody>
      </p:sp>
      <p:sp>
        <p:nvSpPr>
          <p:cNvPr id="8" name="TextBox 7"/>
          <p:cNvSpPr txBox="1"/>
          <p:nvPr/>
        </p:nvSpPr>
        <p:spPr>
          <a:xfrm>
            <a:off x="411479" y="2468880"/>
            <a:ext cx="2560320" cy="822960"/>
          </a:xfrm>
          <a:prstGeom prst="rect">
            <a:avLst/>
          </a:prstGeom>
          <a:noFill/>
        </p:spPr>
        <p:txBody>
          <a:bodyPr wrap="square" lIns="45720" rIns="45720" anchor="t">
            <a:noAutofit/>
          </a:bodyPr>
          <a:lstStyle/>
          <a:p>
            <a:pPr algn="ctr"/>
            <a:r>
              <a:rPr sz="1400"/>
              <a:t>pruebas automatizadas aprobadas</a:t>
            </a:r>
          </a:p>
        </p:txBody>
      </p:sp>
      <p:sp>
        <p:nvSpPr>
          <p:cNvPr id="9" name="Rounded Rectangle 8"/>
          <p:cNvSpPr/>
          <p:nvPr/>
        </p:nvSpPr>
        <p:spPr>
          <a:xfrm>
            <a:off x="3227832" y="1508760"/>
            <a:ext cx="274320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0" name="TextBox 9"/>
          <p:cNvSpPr txBox="1"/>
          <p:nvPr/>
        </p:nvSpPr>
        <p:spPr>
          <a:xfrm>
            <a:off x="3227832" y="1554480"/>
            <a:ext cx="2743200" cy="914400"/>
          </a:xfrm>
          <a:prstGeom prst="rect">
            <a:avLst/>
          </a:prstGeom>
          <a:noFill/>
        </p:spPr>
        <p:txBody>
          <a:bodyPr wrap="square" lIns="45720" rIns="45720" anchor="ctr">
            <a:noAutofit/>
          </a:bodyPr>
          <a:lstStyle/>
          <a:p>
            <a:pPr algn="ctr"/>
            <a:r>
              <a:rPr sz="4800" b="1">
                <a:solidFill>
                  <a:srgbClr val="D13737"/>
                </a:solidFill>
              </a:rPr>
              <a:t>7</a:t>
            </a:r>
          </a:p>
        </p:txBody>
      </p:sp>
      <p:sp>
        <p:nvSpPr>
          <p:cNvPr id="11" name="TextBox 10"/>
          <p:cNvSpPr txBox="1"/>
          <p:nvPr/>
        </p:nvSpPr>
        <p:spPr>
          <a:xfrm>
            <a:off x="3319272" y="2468880"/>
            <a:ext cx="2560320" cy="822960"/>
          </a:xfrm>
          <a:prstGeom prst="rect">
            <a:avLst/>
          </a:prstGeom>
          <a:noFill/>
        </p:spPr>
        <p:txBody>
          <a:bodyPr wrap="square" lIns="45720" rIns="45720" anchor="t">
            <a:noAutofit/>
          </a:bodyPr>
          <a:lstStyle/>
          <a:p>
            <a:pPr algn="ctr"/>
            <a:r>
              <a:rPr sz="1400"/>
              <a:t>módulos Python con POO</a:t>
            </a:r>
          </a:p>
        </p:txBody>
      </p:sp>
      <p:sp>
        <p:nvSpPr>
          <p:cNvPr id="12" name="Rounded Rectangle 11"/>
          <p:cNvSpPr/>
          <p:nvPr/>
        </p:nvSpPr>
        <p:spPr>
          <a:xfrm>
            <a:off x="6135624" y="1508760"/>
            <a:ext cx="274320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3" name="TextBox 12"/>
          <p:cNvSpPr txBox="1"/>
          <p:nvPr/>
        </p:nvSpPr>
        <p:spPr>
          <a:xfrm>
            <a:off x="6135624" y="1554480"/>
            <a:ext cx="2743200" cy="914400"/>
          </a:xfrm>
          <a:prstGeom prst="rect">
            <a:avLst/>
          </a:prstGeom>
          <a:noFill/>
        </p:spPr>
        <p:txBody>
          <a:bodyPr wrap="square" lIns="45720" rIns="45720" anchor="ctr">
            <a:noAutofit/>
          </a:bodyPr>
          <a:lstStyle/>
          <a:p>
            <a:pPr algn="ctr"/>
            <a:r>
              <a:rPr sz="4800" b="1">
                <a:solidFill>
                  <a:srgbClr val="D13737"/>
                </a:solidFill>
              </a:rPr>
              <a:t>14</a:t>
            </a:r>
          </a:p>
        </p:txBody>
      </p:sp>
      <p:sp>
        <p:nvSpPr>
          <p:cNvPr id="14" name="TextBox 13"/>
          <p:cNvSpPr txBox="1"/>
          <p:nvPr/>
        </p:nvSpPr>
        <p:spPr>
          <a:xfrm>
            <a:off x="6227064" y="2468880"/>
            <a:ext cx="2560320" cy="822960"/>
          </a:xfrm>
          <a:prstGeom prst="rect">
            <a:avLst/>
          </a:prstGeom>
          <a:noFill/>
        </p:spPr>
        <p:txBody>
          <a:bodyPr wrap="square" lIns="45720" rIns="45720" anchor="t">
            <a:noAutofit/>
          </a:bodyPr>
          <a:lstStyle/>
          <a:p>
            <a:pPr algn="ctr"/>
            <a:r>
              <a:rPr sz="1400"/>
              <a:t>commits con mensajes convencionales</a:t>
            </a:r>
          </a:p>
        </p:txBody>
      </p:sp>
      <p:sp>
        <p:nvSpPr>
          <p:cNvPr id="15" name="Rounded Rectangle 14"/>
          <p:cNvSpPr/>
          <p:nvPr/>
        </p:nvSpPr>
        <p:spPr>
          <a:xfrm>
            <a:off x="9043416" y="1508760"/>
            <a:ext cx="274320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endParaRPr/>
          </a:p>
        </p:txBody>
      </p:sp>
      <p:sp>
        <p:nvSpPr>
          <p:cNvPr id="16" name="TextBox 15"/>
          <p:cNvSpPr txBox="1"/>
          <p:nvPr/>
        </p:nvSpPr>
        <p:spPr>
          <a:xfrm>
            <a:off x="9043416" y="1554480"/>
            <a:ext cx="2743200" cy="914400"/>
          </a:xfrm>
          <a:prstGeom prst="rect">
            <a:avLst/>
          </a:prstGeom>
          <a:noFill/>
        </p:spPr>
        <p:txBody>
          <a:bodyPr wrap="square" lIns="45720" rIns="45720" anchor="ctr">
            <a:noAutofit/>
          </a:bodyPr>
          <a:lstStyle/>
          <a:p>
            <a:pPr algn="ctr"/>
            <a:r>
              <a:rPr sz="4800" b="1">
                <a:solidFill>
                  <a:srgbClr val="D13737"/>
                </a:solidFill>
              </a:rPr>
              <a:t>21</a:t>
            </a:r>
          </a:p>
        </p:txBody>
      </p:sp>
      <p:sp>
        <p:nvSpPr>
          <p:cNvPr id="17" name="TextBox 16"/>
          <p:cNvSpPr txBox="1"/>
          <p:nvPr/>
        </p:nvSpPr>
        <p:spPr>
          <a:xfrm>
            <a:off x="9134856" y="2468880"/>
            <a:ext cx="2560320" cy="822960"/>
          </a:xfrm>
          <a:prstGeom prst="rect">
            <a:avLst/>
          </a:prstGeom>
          <a:noFill/>
        </p:spPr>
        <p:txBody>
          <a:bodyPr wrap="square" lIns="45720" rIns="45720" anchor="t">
            <a:noAutofit/>
          </a:bodyPr>
          <a:lstStyle/>
          <a:p>
            <a:pPr algn="ctr"/>
            <a:r>
              <a:rPr sz="1400"/>
              <a:t>flujogramas Mermaid documentados</a:t>
            </a:r>
          </a:p>
        </p:txBody>
      </p:sp>
      <p:sp>
        <p:nvSpPr>
          <p:cNvPr id="18" name="TextBox 17"/>
          <p:cNvSpPr txBox="1"/>
          <p:nvPr/>
        </p:nvSpPr>
        <p:spPr>
          <a:xfrm>
            <a:off x="320040" y="3657600"/>
            <a:ext cx="11521440" cy="2560320"/>
          </a:xfrm>
          <a:prstGeom prst="rect">
            <a:avLst/>
          </a:prstGeom>
          <a:noFill/>
        </p:spPr>
        <p:txBody>
          <a:bodyPr wrap="square" lIns="45720" rIns="45720" anchor="t">
            <a:noAutofit/>
          </a:bodyPr>
          <a:lstStyle/>
          <a:p>
            <a:pPr algn="l"/>
            <a:r>
              <a:rPr sz="1900" b="1"/>
              <a:t>Código:</a:t>
            </a:r>
            <a:r>
              <a:rPr sz="1900"/>
              <a:t> modular, con docstrings y manejo de errores; el shell captura cualquier excepción</a:t>
            </a:r>
          </a:p>
          <a:p>
            <a:pPr algn="l">
              <a:spcBef>
                <a:spcPts val="1400"/>
              </a:spcBef>
            </a:pPr>
            <a:r>
              <a:rPr sz="1900" b="1"/>
              <a:t>Pruebas:</a:t>
            </a:r>
            <a:r>
              <a:rPr sz="1900"/>
              <a:t> planificador, procesos, shell, sincronización y memoria; las de hilos se repitieron 6 veces sin fallos</a:t>
            </a:r>
          </a:p>
          <a:p>
            <a:pPr algn="l">
              <a:spcBef>
                <a:spcPts val="1400"/>
              </a:spcBef>
            </a:pPr>
            <a:r>
              <a:rPr sz="1900" b="1"/>
              <a:t>Documentación:</a:t>
            </a:r>
            <a:r>
              <a:rPr sz="1900"/>
              <a:t> README del caso, plan de implementación, resumen por fase y flujogramas</a:t>
            </a:r>
          </a:p>
        </p:txBody>
      </p:sp>
      <p:sp>
        <p:nvSpPr>
          <p:cNvPr id="19"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Entonces, ¿qué falta por construir? Esta es nuestra hoja de ruta.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Avance y hoja de ruta</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19</a:t>
            </a:fld>
            <a:endParaRPr lang="es-PE"/>
          </a:p>
        </p:txBody>
      </p:sp>
      <p:sp>
        <p:nvSpPr>
          <p:cNvPr id="6" name="Rounded Rectangle 5"/>
          <p:cNvSpPr/>
          <p:nvPr/>
        </p:nvSpPr>
        <p:spPr>
          <a:xfrm>
            <a:off x="320040" y="1463040"/>
            <a:ext cx="27432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Fase 1: Fundamentos</a:t>
            </a:r>
          </a:p>
        </p:txBody>
      </p:sp>
      <p:sp>
        <p:nvSpPr>
          <p:cNvPr id="7" name="Rounded Rectangle 6"/>
          <p:cNvSpPr/>
          <p:nvPr/>
        </p:nvSpPr>
        <p:spPr>
          <a:xfrm>
            <a:off x="320040" y="2286000"/>
            <a:ext cx="2743200" cy="868680"/>
          </a:xfrm>
          <a:prstGeom prst="roundRect">
            <a:avLst>
              <a:gd name="adj" fmla="val 10526"/>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1</a:t>
            </a:r>
          </a:p>
          <a:p>
            <a:pPr algn="ctr"/>
            <a:r>
              <a:rPr sz="1100">
                <a:solidFill>
                  <a:srgbClr val="000000"/>
                </a:solidFill>
              </a:rPr>
              <a:t>repositorio, estructura y módulos</a:t>
            </a:r>
          </a:p>
        </p:txBody>
      </p:sp>
      <p:sp>
        <p:nvSpPr>
          <p:cNvPr id="8" name="Rounded Rectangle 7"/>
          <p:cNvSpPr/>
          <p:nvPr/>
        </p:nvSpPr>
        <p:spPr>
          <a:xfrm>
            <a:off x="320040" y="3246120"/>
            <a:ext cx="2743200" cy="868680"/>
          </a:xfrm>
          <a:prstGeom prst="roundRect">
            <a:avLst>
              <a:gd name="adj" fmla="val 10526"/>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2</a:t>
            </a:r>
          </a:p>
          <a:p>
            <a:pPr algn="ctr"/>
            <a:r>
              <a:rPr sz="1100">
                <a:solidFill>
                  <a:srgbClr val="000000"/>
                </a:solidFill>
              </a:rPr>
              <a:t>shell.py y main.py</a:t>
            </a:r>
          </a:p>
        </p:txBody>
      </p:sp>
      <p:sp>
        <p:nvSpPr>
          <p:cNvPr id="9" name="Rounded Rectangle 8"/>
          <p:cNvSpPr/>
          <p:nvPr/>
        </p:nvSpPr>
        <p:spPr>
          <a:xfrm>
            <a:off x="3246120" y="1463040"/>
            <a:ext cx="27432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Fase 2: Procesador</a:t>
            </a:r>
          </a:p>
        </p:txBody>
      </p:sp>
      <p:sp>
        <p:nvSpPr>
          <p:cNvPr id="10" name="Rounded Rectangle 9"/>
          <p:cNvSpPr/>
          <p:nvPr/>
        </p:nvSpPr>
        <p:spPr>
          <a:xfrm>
            <a:off x="3246120" y="2286000"/>
            <a:ext cx="2743200" cy="868680"/>
          </a:xfrm>
          <a:prstGeom prst="roundRect">
            <a:avLst>
              <a:gd name="adj" fmla="val 10526"/>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3</a:t>
            </a:r>
          </a:p>
          <a:p>
            <a:pPr algn="ctr"/>
            <a:r>
              <a:rPr sz="1100">
                <a:solidFill>
                  <a:srgbClr val="000000"/>
                </a:solidFill>
              </a:rPr>
              <a:t>PCB, 5 estados, fork, exec e hilos</a:t>
            </a:r>
          </a:p>
        </p:txBody>
      </p:sp>
      <p:sp>
        <p:nvSpPr>
          <p:cNvPr id="11" name="Rounded Rectangle 10"/>
          <p:cNvSpPr/>
          <p:nvPr/>
        </p:nvSpPr>
        <p:spPr>
          <a:xfrm>
            <a:off x="3246120" y="3246120"/>
            <a:ext cx="2743200" cy="868680"/>
          </a:xfrm>
          <a:prstGeom prst="roundRect">
            <a:avLst>
              <a:gd name="adj" fmla="val 10526"/>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4</a:t>
            </a:r>
          </a:p>
          <a:p>
            <a:pPr algn="ctr"/>
            <a:r>
              <a:rPr sz="1100">
                <a:solidFill>
                  <a:srgbClr val="000000"/>
                </a:solidFill>
              </a:rPr>
              <a:t>planificador y métricas</a:t>
            </a:r>
          </a:p>
        </p:txBody>
      </p:sp>
      <p:cxnSp>
        <p:nvCxnSpPr>
          <p:cNvPr id="12" name="Connector 11"/>
          <p:cNvCxnSpPr/>
          <p:nvPr/>
        </p:nvCxnSpPr>
        <p:spPr>
          <a:xfrm>
            <a:off x="3063240" y="1783080"/>
            <a:ext cx="1828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72200" y="1463040"/>
            <a:ext cx="2743200" cy="640080"/>
          </a:xfrm>
          <a:prstGeom prst="roundRect">
            <a:avLst>
              <a:gd name="adj" fmla="val 14285"/>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Fase 3: Concurrencia y memoria</a:t>
            </a:r>
          </a:p>
        </p:txBody>
      </p:sp>
      <p:sp>
        <p:nvSpPr>
          <p:cNvPr id="14" name="Rounded Rectangle 13"/>
          <p:cNvSpPr/>
          <p:nvPr/>
        </p:nvSpPr>
        <p:spPr>
          <a:xfrm>
            <a:off x="6172200" y="2286000"/>
            <a:ext cx="2743200" cy="868680"/>
          </a:xfrm>
          <a:prstGeom prst="roundRect">
            <a:avLst>
              <a:gd name="adj" fmla="val 10526"/>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5</a:t>
            </a:r>
          </a:p>
          <a:p>
            <a:pPr algn="ctr"/>
            <a:r>
              <a:rPr sz="1100">
                <a:solidFill>
                  <a:srgbClr val="000000"/>
                </a:solidFill>
              </a:rPr>
              <a:t>productor-consumidor y filósofos</a:t>
            </a:r>
          </a:p>
        </p:txBody>
      </p:sp>
      <p:sp>
        <p:nvSpPr>
          <p:cNvPr id="15" name="Rounded Rectangle 14"/>
          <p:cNvSpPr/>
          <p:nvPr/>
        </p:nvSpPr>
        <p:spPr>
          <a:xfrm>
            <a:off x="6172200" y="3246120"/>
            <a:ext cx="2743200" cy="868680"/>
          </a:xfrm>
          <a:prstGeom prst="roundRect">
            <a:avLst>
              <a:gd name="adj" fmla="val 10526"/>
            </a:avLst>
          </a:prstGeom>
          <a:solidFill>
            <a:srgbClr val="D4EDD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6</a:t>
            </a:r>
          </a:p>
          <a:p>
            <a:pPr algn="ctr"/>
            <a:r>
              <a:rPr sz="1100">
                <a:solidFill>
                  <a:srgbClr val="000000"/>
                </a:solidFill>
              </a:rPr>
              <a:t>contigua, paginación y traducción</a:t>
            </a:r>
          </a:p>
        </p:txBody>
      </p:sp>
      <p:cxnSp>
        <p:nvCxnSpPr>
          <p:cNvPr id="16" name="Connector 15"/>
          <p:cNvCxnSpPr/>
          <p:nvPr/>
        </p:nvCxnSpPr>
        <p:spPr>
          <a:xfrm>
            <a:off x="5989320" y="1783080"/>
            <a:ext cx="1828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98280" y="1463040"/>
            <a:ext cx="2743200" cy="640080"/>
          </a:xfrm>
          <a:prstGeom prst="roundRect">
            <a:avLst>
              <a:gd name="adj" fmla="val 14285"/>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300" b="1">
                <a:solidFill>
                  <a:srgbClr val="000000"/>
                </a:solidFill>
              </a:rPr>
              <a:t>Pendiente</a:t>
            </a:r>
          </a:p>
        </p:txBody>
      </p:sp>
      <p:sp>
        <p:nvSpPr>
          <p:cNvPr id="18" name="Rounded Rectangle 17"/>
          <p:cNvSpPr/>
          <p:nvPr/>
        </p:nvSpPr>
        <p:spPr>
          <a:xfrm>
            <a:off x="9098280" y="2286000"/>
            <a:ext cx="2743200" cy="868680"/>
          </a:xfrm>
          <a:prstGeom prst="roundRect">
            <a:avLst>
              <a:gd name="adj" fmla="val 10526"/>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7</a:t>
            </a:r>
          </a:p>
          <a:p>
            <a:pPr algn="ctr"/>
            <a:r>
              <a:rPr sz="1100">
                <a:solidFill>
                  <a:srgbClr val="000000"/>
                </a:solidFill>
              </a:rPr>
              <a:t>reemplazo de páginas: FIFO, LRU, Óptimo</a:t>
            </a:r>
          </a:p>
        </p:txBody>
      </p:sp>
      <p:sp>
        <p:nvSpPr>
          <p:cNvPr id="19" name="Rounded Rectangle 18"/>
          <p:cNvSpPr/>
          <p:nvPr/>
        </p:nvSpPr>
        <p:spPr>
          <a:xfrm>
            <a:off x="9098280" y="3246120"/>
            <a:ext cx="2743200" cy="868680"/>
          </a:xfrm>
          <a:prstGeom prst="roundRect">
            <a:avLst>
              <a:gd name="adj" fmla="val 10526"/>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Semanas 9-10</a:t>
            </a:r>
          </a:p>
          <a:p>
            <a:pPr algn="ctr"/>
            <a:r>
              <a:rPr sz="1100">
                <a:solidFill>
                  <a:srgbClr val="000000"/>
                </a:solidFill>
              </a:rPr>
              <a:t>E/S y archivos con permisos</a:t>
            </a:r>
          </a:p>
        </p:txBody>
      </p:sp>
      <p:sp>
        <p:nvSpPr>
          <p:cNvPr id="20" name="Rounded Rectangle 19"/>
          <p:cNvSpPr/>
          <p:nvPr/>
        </p:nvSpPr>
        <p:spPr>
          <a:xfrm>
            <a:off x="9098280" y="4206240"/>
            <a:ext cx="2743200" cy="868680"/>
          </a:xfrm>
          <a:prstGeom prst="roundRect">
            <a:avLst>
              <a:gd name="adj" fmla="val 10526"/>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Semanas 11-13</a:t>
            </a:r>
          </a:p>
          <a:p>
            <a:pPr algn="ctr"/>
            <a:r>
              <a:rPr sz="1100">
                <a:solidFill>
                  <a:srgbClr val="000000"/>
                </a:solidFill>
              </a:rPr>
              <a:t>seguridad, virtualización y distribuidos</a:t>
            </a:r>
          </a:p>
        </p:txBody>
      </p:sp>
      <p:sp>
        <p:nvSpPr>
          <p:cNvPr id="21" name="Rounded Rectangle 20"/>
          <p:cNvSpPr/>
          <p:nvPr/>
        </p:nvSpPr>
        <p:spPr>
          <a:xfrm>
            <a:off x="9098280" y="5166360"/>
            <a:ext cx="2743200" cy="868680"/>
          </a:xfrm>
          <a:prstGeom prst="roundRect">
            <a:avLst>
              <a:gd name="adj" fmla="val 10526"/>
            </a:avLst>
          </a:prstGeom>
          <a:solidFill>
            <a:srgbClr val="FFF3CD"/>
          </a:solidFill>
          <a:ln w="19050">
            <a:solidFill>
              <a:srgbClr val="B5890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r>
              <a:rPr sz="1200" b="1">
                <a:solidFill>
                  <a:srgbClr val="000000"/>
                </a:solidFill>
              </a:rPr>
              <a:t>Semana 15</a:t>
            </a:r>
          </a:p>
          <a:p>
            <a:pPr algn="ctr"/>
            <a:r>
              <a:rPr sz="1100">
                <a:solidFill>
                  <a:srgbClr val="000000"/>
                </a:solidFill>
              </a:rPr>
              <a:t>entrega final y sustentación</a:t>
            </a:r>
          </a:p>
        </p:txBody>
      </p:sp>
      <p:cxnSp>
        <p:nvCxnSpPr>
          <p:cNvPr id="22" name="Connector 21"/>
          <p:cNvCxnSpPr/>
          <p:nvPr/>
        </p:nvCxnSpPr>
        <p:spPr>
          <a:xfrm>
            <a:off x="8915400" y="1783080"/>
            <a:ext cx="182880" cy="0"/>
          </a:xfrm>
          <a:prstGeom prst="line">
            <a:avLst/>
          </a:prstGeom>
          <a:ln w="22225">
            <a:solidFill>
              <a:srgbClr val="333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Con lo aprendido, esto es lo que le recomendamos a NexusBank.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Recomendaciones</a:t>
            </a:r>
          </a:p>
        </p:txBody>
      </p:sp>
      <p:sp>
        <p:nvSpPr>
          <p:cNvPr id="3" name="Content Placeholder 2"/>
          <p:cNvSpPr>
            <a:spLocks noGrp="1"/>
          </p:cNvSpPr>
          <p:nvPr>
            <p:ph idx="1"/>
          </p:nvPr>
        </p:nvSpPr>
        <p:spPr>
          <a:xfrm>
            <a:off x="219456" y="1527048"/>
            <a:ext cx="11740896" cy="4654296"/>
          </a:xfrm>
        </p:spPr>
        <p:txBody>
          <a:bodyPr wrap="square">
            <a:noAutofit/>
          </a:bodyPr>
          <a:lstStyle/>
          <a:p>
            <a:pPr marL="0" indent="0">
              <a:spcBef>
                <a:spcPts val="1800"/>
              </a:spcBef>
              <a:buNone/>
            </a:pPr>
            <a:r>
              <a:rPr sz="2400" b="1"/>
              <a:t>¿Si el objetivo es minimizar la espera promedio?</a:t>
            </a:r>
          </a:p>
          <a:p>
            <a:pPr>
              <a:spcBef>
                <a:spcPts val="1800"/>
              </a:spcBef>
            </a:pPr>
            <a:r>
              <a:rPr sz="2400"/>
              <a:t>Se recomienda </a:t>
            </a:r>
            <a:r>
              <a:rPr sz="2400" b="1"/>
              <a:t>SJF</a:t>
            </a:r>
            <a:r>
              <a:rPr sz="2400"/>
              <a:t>: 3.00 ms frente a 17.00 ms de FCFS</a:t>
            </a:r>
          </a:p>
          <a:p>
            <a:pPr marL="0" indent="0">
              <a:spcBef>
                <a:spcPts val="1800"/>
              </a:spcBef>
              <a:buNone/>
            </a:pPr>
            <a:r>
              <a:rPr sz="2400" b="1"/>
              <a:t>¿Y si ninguna consulta debe esperar mucho para ser atendida?</a:t>
            </a:r>
          </a:p>
          <a:p>
            <a:pPr>
              <a:spcBef>
                <a:spcPts val="1800"/>
              </a:spcBef>
            </a:pPr>
            <a:r>
              <a:rPr sz="2400"/>
              <a:t>Se recomienda </a:t>
            </a:r>
            <a:r>
              <a:rPr sz="2400" b="1"/>
              <a:t>Round Robin</a:t>
            </a:r>
            <a:r>
              <a:rPr sz="2400"/>
              <a:t>, con respuesta promedio de 3.67 ms</a:t>
            </a:r>
          </a:p>
          <a:p>
            <a:pPr marL="0" indent="0">
              <a:spcBef>
                <a:spcPts val="1800"/>
              </a:spcBef>
              <a:buNone/>
            </a:pPr>
            <a:r>
              <a:rPr sz="2400" b="1"/>
              <a:t>¿Y para proteger los saldos?</a:t>
            </a:r>
          </a:p>
          <a:p>
            <a:pPr>
              <a:spcBef>
                <a:spcPts val="1800"/>
              </a:spcBef>
            </a:pPr>
            <a:r>
              <a:rPr sz="2400"/>
              <a:t>Toda modificación de una cuenta debe usar </a:t>
            </a:r>
            <a:r>
              <a:rPr sz="2400" b="1"/>
              <a:t>exclusión mutua</a:t>
            </a:r>
            <a:r>
              <a:rPr sz="2400"/>
              <a:t> con semáforos o mutex</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20</a:t>
            </a:fld>
            <a:endParaRPr lang="es-PE"/>
          </a:p>
        </p:txBody>
      </p:sp>
      <p:sp>
        <p:nvSpPr>
          <p:cNvPr id="6"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En resumen, esto es lo que logramos.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Conclusiones</a:t>
            </a:r>
          </a:p>
        </p:txBody>
      </p:sp>
      <p:sp>
        <p:nvSpPr>
          <p:cNvPr id="3" name="Content Placeholder 2"/>
          <p:cNvSpPr>
            <a:spLocks noGrp="1"/>
          </p:cNvSpPr>
          <p:nvPr>
            <p:ph idx="1"/>
          </p:nvPr>
        </p:nvSpPr>
        <p:spPr>
          <a:xfrm>
            <a:off x="219456" y="1527048"/>
            <a:ext cx="11740896" cy="4654296"/>
          </a:xfrm>
        </p:spPr>
        <p:txBody>
          <a:bodyPr wrap="square">
            <a:noAutofit/>
          </a:bodyPr>
          <a:lstStyle/>
          <a:p>
            <a:pPr>
              <a:spcBef>
                <a:spcPts val="1600"/>
              </a:spcBef>
            </a:pPr>
            <a:r>
              <a:rPr sz="2400" b="1"/>
              <a:t>FCFS</a:t>
            </a:r>
            <a:r>
              <a:rPr sz="2400"/>
              <a:t> evidencia el efecto convoy: las consultas de saldo esperan 24 ms y 27 ms</a:t>
            </a:r>
          </a:p>
          <a:p>
            <a:pPr>
              <a:spcBef>
                <a:spcPts val="1600"/>
              </a:spcBef>
            </a:pPr>
            <a:r>
              <a:rPr sz="2400" b="1"/>
              <a:t>SJF</a:t>
            </a:r>
            <a:r>
              <a:rPr sz="2400"/>
              <a:t> minimiza la espera promedio (3.00 ms) y </a:t>
            </a:r>
            <a:r>
              <a:rPr sz="2400" b="1"/>
              <a:t>Round Robin</a:t>
            </a:r>
            <a:r>
              <a:rPr sz="2400"/>
              <a:t> equilibra la respuesta (3.67 ms)</a:t>
            </a:r>
          </a:p>
          <a:p>
            <a:pPr>
              <a:spcBef>
                <a:spcPts val="1600"/>
              </a:spcBef>
            </a:pPr>
            <a:r>
              <a:rPr sz="2400"/>
              <a:t>Los </a:t>
            </a:r>
            <a:r>
              <a:rPr sz="2400" b="1"/>
              <a:t>semáforos y el orden asimétrico</a:t>
            </a:r>
            <a:r>
              <a:rPr sz="2400"/>
              <a:t> eliminan el interbloqueo; la </a:t>
            </a:r>
            <a:r>
              <a:rPr sz="2400" b="1"/>
              <a:t>paginación</a:t>
            </a:r>
            <a:r>
              <a:rPr sz="2400"/>
              <a:t> permite asignar marcos no contiguos</a:t>
            </a:r>
          </a:p>
          <a:p>
            <a:pPr>
              <a:spcBef>
                <a:spcPts val="1600"/>
              </a:spcBef>
            </a:pPr>
            <a:r>
              <a:rPr sz="2400"/>
              <a:t>NexusOS-Sim completó las fases 1 a 3 con 40 pruebas aprobadas y deja lista la base para reemplazo de páginas, E/S y seguridad</a:t>
            </a:r>
          </a:p>
        </p:txBody>
      </p:sp>
      <p:sp>
        <p:nvSpPr>
          <p:cNvPr id="4" name="Marcador de pie de página 3"/>
          <p:cNvSpPr>
            <a:spLocks noGrp="1"/>
          </p:cNvSpPr>
          <p:nvPr>
            <p:ph type="ftr" sz="quarter" idx="11"/>
          </p:nvPr>
        </p:nvSpPr>
        <p:spPr/>
        <p:txBody>
          <a:bodyPr/>
          <a:lstStyle/>
          <a:p>
            <a:r>
              <a:rPr lang="es-MX"/>
              <a:t>UNIVERSIDAD NACIONAL DE INGENIERÍA - Facultad de Ingeniería Industrial y de Sistemas</a:t>
            </a:r>
            <a:endParaRPr lang="es-PE"/>
          </a:p>
        </p:txBody>
      </p:sp>
      <p:sp>
        <p:nvSpPr>
          <p:cNvPr id="5" name="Marcador de número de diapositiva 4"/>
          <p:cNvSpPr>
            <a:spLocks noGrp="1"/>
          </p:cNvSpPr>
          <p:nvPr>
            <p:ph type="sldNum" sz="quarter" idx="12"/>
          </p:nvPr>
        </p:nvSpPr>
        <p:spPr/>
        <p:txBody>
          <a:bodyPr/>
          <a:lstStyle/>
          <a:p>
            <a:fld id="{FD893A87-61E3-481B-93E6-F0B53A1E29F2}" type="slidenum">
              <a:rPr lang="es-PE" smtClean="0"/>
              <a:t>21</a:t>
            </a:fld>
            <a:endParaRPr lang="es-PE"/>
          </a:p>
        </p:txBody>
      </p:sp>
      <p:sp>
        <p:nvSpPr>
          <p:cNvPr id="6" name="Frase de enlace"/>
          <p:cNvSpPr txBox="1"/>
          <p:nvPr/>
        </p:nvSpPr>
        <p:spPr>
          <a:xfrm>
            <a:off x="4480560" y="6336792"/>
            <a:ext cx="7040880" cy="365760"/>
          </a:xfrm>
          <a:prstGeom prst="rect">
            <a:avLst/>
          </a:prstGeom>
          <a:noFill/>
        </p:spPr>
        <p:txBody>
          <a:bodyPr wrap="square" lIns="45720" tIns="18288" rIns="45720" bIns="18288" anchor="ctr">
            <a:noAutofit/>
          </a:bodyPr>
          <a:lstStyle/>
          <a:p>
            <a:pPr algn="r"/>
            <a:r>
              <a:rPr lang="es-PE" sz="1200" b="0" i="1">
                <a:solidFill>
                  <a:srgbClr val="555555"/>
                </a:solidFill>
              </a:rPr>
              <a:t>Gracias por acompañarnos en esta historia.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Prueba">
      <a:dk1>
        <a:sysClr val="windowText" lastClr="000000"/>
      </a:dk1>
      <a:lt1>
        <a:sysClr val="window" lastClr="FFFFFF"/>
      </a:lt1>
      <a:dk2>
        <a:srgbClr val="44546A"/>
      </a:dk2>
      <a:lt2>
        <a:srgbClr val="E7E6E6"/>
      </a:lt2>
      <a:accent1>
        <a:srgbClr val="D1373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alizado 5">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TotalTime>
  <Words>4007</Words>
  <Application>Microsoft Office PowerPoint</Application>
  <PresentationFormat>Panorámica</PresentationFormat>
  <Paragraphs>521</Paragraphs>
  <Slides>22</Slides>
  <Notes>21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Consolas</vt:lpstr>
      <vt:lpstr>Poppins</vt:lpstr>
      <vt:lpstr>Tema de Office</vt:lpstr>
      <vt:lpstr>Proyecto final: NexusOS-Sim, simulador de un sistema operativo</vt:lpstr>
      <vt:lpstr>Objetivos del proyecto</vt:lpstr>
      <vt:lpstr>Contexto del caso: NexusBank</vt:lpstr>
      <vt:lpstr>Alternativa de solución: NexusOS-Sim</vt:lpstr>
      <vt:lpstr>Características principales</vt:lpstr>
      <vt:lpstr>Flujograma principal: del caso a la solución</vt:lpstr>
      <vt:lpstr>Arquitectura modular del simulador</vt:lpstr>
      <vt:lpstr>Flujo del shell: bucle principal</vt:lpstr>
      <vt:lpstr>Definición del modelo de datos</vt:lpstr>
      <vt:lpstr>Algoritmos de planificación de CPU</vt:lpstr>
      <vt:lpstr>Efecto convoy: FCFS frente a SJF y RR</vt:lpstr>
      <vt:lpstr>Resultados comparativos</vt:lpstr>
      <vt:lpstr>Sincronización: productor-consumidor</vt:lpstr>
      <vt:lpstr>Filósofos: interbloqueo y su solución</vt:lpstr>
      <vt:lpstr>Memoria: contigua y paginada</vt:lpstr>
      <vt:lpstr>Traducción de direcciones virtuales</vt:lpstr>
      <vt:lpstr>Demostración</vt:lpstr>
      <vt:lpstr>Calidad, pruebas y control de versiones</vt:lpstr>
      <vt:lpstr>Avance y hoja de ruta</vt:lpstr>
      <vt:lpstr>Recomendaciones</vt:lpstr>
      <vt:lpstr>Conclusiones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Implementación de una sistema de gestión de calificaciones escolares para el Colegio ABC</dc:title>
  <dc:creator>Joaquín B</dc:creator>
  <cp:lastModifiedBy>Joaquín B</cp:lastModifiedBy>
  <cp:revision>11</cp:revision>
  <dcterms:created xsi:type="dcterms:W3CDTF">2026-06-05T17:31:00Z</dcterms:created>
  <dcterms:modified xsi:type="dcterms:W3CDTF">2026-10-13T22:26:43Z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3082-12.1.0.28485</vt:lpwstr>
  </property>
  <property fmtid="{D5CDD505-2E9C-101B-9397-08002B2CF9AE}" pid="3" name="ICV">
    <vt:lpwstr>571F560BBD0E4E459D143F16A7540546_12</vt:lpwstr>
  </property>
</Properties>
</file>